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xls" ContentType="application/vnd.ms-excel"/>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82" showSpecialPlsOnTitleSld="0" strictFirstAndLastChars="0" saveSubsetFonts="1">
  <p:sldMasterIdLst>
    <p:sldMasterId id="2147483651" r:id="rId1"/>
  </p:sldMasterIdLst>
  <p:notesMasterIdLst>
    <p:notesMasterId r:id="rId82"/>
  </p:notesMasterIdLst>
  <p:handoutMasterIdLst>
    <p:handoutMasterId r:id="rId83"/>
  </p:handoutMasterIdLst>
  <p:sldIdLst>
    <p:sldId id="1429" r:id="rId2"/>
    <p:sldId id="1404" r:id="rId3"/>
    <p:sldId id="1431" r:id="rId4"/>
    <p:sldId id="1405" r:id="rId5"/>
    <p:sldId id="1406" r:id="rId6"/>
    <p:sldId id="1428" r:id="rId7"/>
    <p:sldId id="1427" r:id="rId8"/>
    <p:sldId id="1432" r:id="rId9"/>
    <p:sldId id="1434" r:id="rId10"/>
    <p:sldId id="1435" r:id="rId11"/>
    <p:sldId id="1446" r:id="rId12"/>
    <p:sldId id="1436" r:id="rId13"/>
    <p:sldId id="1437" r:id="rId14"/>
    <p:sldId id="1438" r:id="rId15"/>
    <p:sldId id="1439" r:id="rId16"/>
    <p:sldId id="1440" r:id="rId17"/>
    <p:sldId id="1441" r:id="rId18"/>
    <p:sldId id="1442" r:id="rId19"/>
    <p:sldId id="1443" r:id="rId20"/>
    <p:sldId id="1444" r:id="rId21"/>
    <p:sldId id="1447" r:id="rId22"/>
    <p:sldId id="1445" r:id="rId23"/>
    <p:sldId id="1448" r:id="rId24"/>
    <p:sldId id="1449" r:id="rId25"/>
    <p:sldId id="1450" r:id="rId26"/>
    <p:sldId id="1451" r:id="rId27"/>
    <p:sldId id="1452" r:id="rId28"/>
    <p:sldId id="1453" r:id="rId29"/>
    <p:sldId id="1454" r:id="rId30"/>
    <p:sldId id="1455" r:id="rId31"/>
    <p:sldId id="1456" r:id="rId32"/>
    <p:sldId id="1457" r:id="rId33"/>
    <p:sldId id="1458" r:id="rId34"/>
    <p:sldId id="1459" r:id="rId35"/>
    <p:sldId id="1462" r:id="rId36"/>
    <p:sldId id="1463" r:id="rId37"/>
    <p:sldId id="1464" r:id="rId38"/>
    <p:sldId id="1511" r:id="rId39"/>
    <p:sldId id="1512" r:id="rId40"/>
    <p:sldId id="1513" r:id="rId41"/>
    <p:sldId id="1465" r:id="rId42"/>
    <p:sldId id="1466" r:id="rId43"/>
    <p:sldId id="1467" r:id="rId44"/>
    <p:sldId id="1468" r:id="rId45"/>
    <p:sldId id="1469" r:id="rId46"/>
    <p:sldId id="1470" r:id="rId47"/>
    <p:sldId id="1471" r:id="rId48"/>
    <p:sldId id="1473" r:id="rId49"/>
    <p:sldId id="1474" r:id="rId50"/>
    <p:sldId id="1475" r:id="rId51"/>
    <p:sldId id="1508" r:id="rId52"/>
    <p:sldId id="1509" r:id="rId53"/>
    <p:sldId id="1510" r:id="rId54"/>
    <p:sldId id="1476" r:id="rId55"/>
    <p:sldId id="1477" r:id="rId56"/>
    <p:sldId id="1478" r:id="rId57"/>
    <p:sldId id="1479" r:id="rId58"/>
    <p:sldId id="1480" r:id="rId59"/>
    <p:sldId id="1481" r:id="rId60"/>
    <p:sldId id="1482" r:id="rId61"/>
    <p:sldId id="1483" r:id="rId62"/>
    <p:sldId id="1484" r:id="rId63"/>
    <p:sldId id="1485" r:id="rId64"/>
    <p:sldId id="1486" r:id="rId65"/>
    <p:sldId id="1487" r:id="rId66"/>
    <p:sldId id="1488" r:id="rId67"/>
    <p:sldId id="1489" r:id="rId68"/>
    <p:sldId id="1490" r:id="rId69"/>
    <p:sldId id="1491" r:id="rId70"/>
    <p:sldId id="1492" r:id="rId71"/>
    <p:sldId id="1493" r:id="rId72"/>
    <p:sldId id="1494" r:id="rId73"/>
    <p:sldId id="1495" r:id="rId74"/>
    <p:sldId id="1496" r:id="rId75"/>
    <p:sldId id="1497" r:id="rId76"/>
    <p:sldId id="1504" r:id="rId77"/>
    <p:sldId id="1505" r:id="rId78"/>
    <p:sldId id="1506" r:id="rId79"/>
    <p:sldId id="1507" r:id="rId80"/>
    <p:sldId id="1514" r:id="rId81"/>
  </p:sldIdLst>
  <p:sldSz cx="9144000" cy="6858000" type="screen4x3"/>
  <p:notesSz cx="6950075" cy="9236075"/>
  <p:defaultTextStyle>
    <a:defPPr>
      <a:defRPr lang="es-ES_tradnl"/>
    </a:defPPr>
    <a:lvl1pPr algn="ctr" rtl="0" eaLnBrk="0" fontAlgn="base" hangingPunct="0">
      <a:spcBef>
        <a:spcPct val="0"/>
      </a:spcBef>
      <a:spcAft>
        <a:spcPct val="0"/>
      </a:spcAft>
      <a:defRPr kumimoji="1" sz="1200" kern="1200">
        <a:solidFill>
          <a:srgbClr val="333399"/>
        </a:solidFill>
        <a:latin typeface="Arial Narrow" pitchFamily="34" charset="0"/>
        <a:ea typeface="+mn-ea"/>
        <a:cs typeface="+mn-cs"/>
      </a:defRPr>
    </a:lvl1pPr>
    <a:lvl2pPr marL="457200" algn="ctr" rtl="0" eaLnBrk="0" fontAlgn="base" hangingPunct="0">
      <a:spcBef>
        <a:spcPct val="0"/>
      </a:spcBef>
      <a:spcAft>
        <a:spcPct val="0"/>
      </a:spcAft>
      <a:defRPr kumimoji="1" sz="1200" kern="1200">
        <a:solidFill>
          <a:srgbClr val="333399"/>
        </a:solidFill>
        <a:latin typeface="Arial Narrow" pitchFamily="34" charset="0"/>
        <a:ea typeface="+mn-ea"/>
        <a:cs typeface="+mn-cs"/>
      </a:defRPr>
    </a:lvl2pPr>
    <a:lvl3pPr marL="914400" algn="ctr" rtl="0" eaLnBrk="0" fontAlgn="base" hangingPunct="0">
      <a:spcBef>
        <a:spcPct val="0"/>
      </a:spcBef>
      <a:spcAft>
        <a:spcPct val="0"/>
      </a:spcAft>
      <a:defRPr kumimoji="1" sz="1200" kern="1200">
        <a:solidFill>
          <a:srgbClr val="333399"/>
        </a:solidFill>
        <a:latin typeface="Arial Narrow" pitchFamily="34" charset="0"/>
        <a:ea typeface="+mn-ea"/>
        <a:cs typeface="+mn-cs"/>
      </a:defRPr>
    </a:lvl3pPr>
    <a:lvl4pPr marL="1371600" algn="ctr" rtl="0" eaLnBrk="0" fontAlgn="base" hangingPunct="0">
      <a:spcBef>
        <a:spcPct val="0"/>
      </a:spcBef>
      <a:spcAft>
        <a:spcPct val="0"/>
      </a:spcAft>
      <a:defRPr kumimoji="1" sz="1200" kern="1200">
        <a:solidFill>
          <a:srgbClr val="333399"/>
        </a:solidFill>
        <a:latin typeface="Arial Narrow" pitchFamily="34" charset="0"/>
        <a:ea typeface="+mn-ea"/>
        <a:cs typeface="+mn-cs"/>
      </a:defRPr>
    </a:lvl4pPr>
    <a:lvl5pPr marL="1828800" algn="ctr" rtl="0" eaLnBrk="0" fontAlgn="base" hangingPunct="0">
      <a:spcBef>
        <a:spcPct val="0"/>
      </a:spcBef>
      <a:spcAft>
        <a:spcPct val="0"/>
      </a:spcAft>
      <a:defRPr kumimoji="1" sz="1200" kern="1200">
        <a:solidFill>
          <a:srgbClr val="333399"/>
        </a:solidFill>
        <a:latin typeface="Arial Narrow" pitchFamily="34" charset="0"/>
        <a:ea typeface="+mn-ea"/>
        <a:cs typeface="+mn-cs"/>
      </a:defRPr>
    </a:lvl5pPr>
    <a:lvl6pPr marL="2286000" algn="l" defTabSz="914400" rtl="0" eaLnBrk="1" latinLnBrk="0" hangingPunct="1">
      <a:defRPr kumimoji="1" sz="1200" kern="1200">
        <a:solidFill>
          <a:srgbClr val="333399"/>
        </a:solidFill>
        <a:latin typeface="Arial Narrow" pitchFamily="34" charset="0"/>
        <a:ea typeface="+mn-ea"/>
        <a:cs typeface="+mn-cs"/>
      </a:defRPr>
    </a:lvl6pPr>
    <a:lvl7pPr marL="2743200" algn="l" defTabSz="914400" rtl="0" eaLnBrk="1" latinLnBrk="0" hangingPunct="1">
      <a:defRPr kumimoji="1" sz="1200" kern="1200">
        <a:solidFill>
          <a:srgbClr val="333399"/>
        </a:solidFill>
        <a:latin typeface="Arial Narrow" pitchFamily="34" charset="0"/>
        <a:ea typeface="+mn-ea"/>
        <a:cs typeface="+mn-cs"/>
      </a:defRPr>
    </a:lvl7pPr>
    <a:lvl8pPr marL="3200400" algn="l" defTabSz="914400" rtl="0" eaLnBrk="1" latinLnBrk="0" hangingPunct="1">
      <a:defRPr kumimoji="1" sz="1200" kern="1200">
        <a:solidFill>
          <a:srgbClr val="333399"/>
        </a:solidFill>
        <a:latin typeface="Arial Narrow" pitchFamily="34" charset="0"/>
        <a:ea typeface="+mn-ea"/>
        <a:cs typeface="+mn-cs"/>
      </a:defRPr>
    </a:lvl8pPr>
    <a:lvl9pPr marL="3657600" algn="l" defTabSz="914400" rtl="0" eaLnBrk="1" latinLnBrk="0" hangingPunct="1">
      <a:defRPr kumimoji="1" sz="1200" kern="1200">
        <a:solidFill>
          <a:srgbClr val="333399"/>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ejandra Ojeda" initials="" lastIdx="2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C0C0C0"/>
    <a:srgbClr val="5F5F5F"/>
    <a:srgbClr val="0000FF"/>
    <a:srgbClr val="CCECFF"/>
    <a:srgbClr val="CCFFCC"/>
    <a:srgbClr val="CCFF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25" autoAdjust="0"/>
    <p:restoredTop sz="94660"/>
  </p:normalViewPr>
  <p:slideViewPr>
    <p:cSldViewPr>
      <p:cViewPr>
        <p:scale>
          <a:sx n="100" d="100"/>
          <a:sy n="100" d="100"/>
        </p:scale>
        <p:origin x="-534" y="-210"/>
      </p:cViewPr>
      <p:guideLst>
        <p:guide orient="horz" pos="2832"/>
        <p:guide pos="2880"/>
      </p:guideLst>
    </p:cSldViewPr>
  </p:slideViewPr>
  <p:outlineViewPr>
    <p:cViewPr>
      <p:scale>
        <a:sx n="20" d="100"/>
        <a:sy n="20"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Lst>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22.xml"/><Relationship Id="rId13" Type="http://schemas.openxmlformats.org/officeDocument/2006/relationships/slide" Target="slides/slide35.xml"/><Relationship Id="rId18" Type="http://schemas.openxmlformats.org/officeDocument/2006/relationships/slide" Target="slides/slide63.xml"/><Relationship Id="rId3" Type="http://schemas.openxmlformats.org/officeDocument/2006/relationships/slide" Target="slides/slide4.xml"/><Relationship Id="rId21" Type="http://schemas.openxmlformats.org/officeDocument/2006/relationships/slide" Target="slides/slide70.xml"/><Relationship Id="rId7" Type="http://schemas.openxmlformats.org/officeDocument/2006/relationships/slide" Target="slides/slide15.xml"/><Relationship Id="rId12" Type="http://schemas.openxmlformats.org/officeDocument/2006/relationships/slide" Target="slides/slide28.xml"/><Relationship Id="rId17" Type="http://schemas.openxmlformats.org/officeDocument/2006/relationships/slide" Target="slides/slide57.xml"/><Relationship Id="rId2" Type="http://schemas.openxmlformats.org/officeDocument/2006/relationships/slide" Target="slides/slide3.xml"/><Relationship Id="rId16" Type="http://schemas.openxmlformats.org/officeDocument/2006/relationships/slide" Target="slides/slide41.xml"/><Relationship Id="rId20" Type="http://schemas.openxmlformats.org/officeDocument/2006/relationships/slide" Target="slides/slide67.xml"/><Relationship Id="rId1" Type="http://schemas.openxmlformats.org/officeDocument/2006/relationships/slide" Target="slides/slide2.xml"/><Relationship Id="rId6" Type="http://schemas.openxmlformats.org/officeDocument/2006/relationships/slide" Target="slides/slide8.xml"/><Relationship Id="rId11" Type="http://schemas.openxmlformats.org/officeDocument/2006/relationships/slide" Target="slides/slide27.xml"/><Relationship Id="rId5" Type="http://schemas.openxmlformats.org/officeDocument/2006/relationships/slide" Target="slides/slide6.xml"/><Relationship Id="rId15" Type="http://schemas.openxmlformats.org/officeDocument/2006/relationships/slide" Target="slides/slide37.xml"/><Relationship Id="rId10" Type="http://schemas.openxmlformats.org/officeDocument/2006/relationships/slide" Target="slides/slide26.xml"/><Relationship Id="rId19" Type="http://schemas.openxmlformats.org/officeDocument/2006/relationships/slide" Target="slides/slide66.xml"/><Relationship Id="rId4" Type="http://schemas.openxmlformats.org/officeDocument/2006/relationships/slide" Target="slides/slide5.xml"/><Relationship Id="rId9" Type="http://schemas.openxmlformats.org/officeDocument/2006/relationships/slide" Target="slides/slide25.xml"/><Relationship Id="rId14"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7.emf"/><Relationship Id="rId7" Type="http://schemas.openxmlformats.org/officeDocument/2006/relationships/image" Target="../media/image21.emf"/><Relationship Id="rId2" Type="http://schemas.openxmlformats.org/officeDocument/2006/relationships/image" Target="../media/image16.emf"/><Relationship Id="rId1" Type="http://schemas.openxmlformats.org/officeDocument/2006/relationships/image" Target="../media/image15.emf"/><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image" Target="../media/image44.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image" Target="../media/image54.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image" Target="../media/image61.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image" Target="../media/image66.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image" Target="../media/image68.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image" Target="../media/image70.e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image" Target="../media/image72.e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image" Target="../media/image74.e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image" Target="../media/image76.e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image" Target="../media/image78.e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image" Target="../media/image80.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82.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83.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image" Target="../media/image84.e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image" Target="../media/image86.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89.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9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91.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92.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93.e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image" Target="../media/image94.e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97.emf"/><Relationship Id="rId1" Type="http://schemas.openxmlformats.org/officeDocument/2006/relationships/image" Target="../media/image96.e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image" Target="../media/image98.emf"/></Relationships>
</file>

<file path=ppt/drawings/_rels/vmlDrawing59.v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image" Target="../media/image100.e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103.emf"/><Relationship Id="rId1" Type="http://schemas.openxmlformats.org/officeDocument/2006/relationships/image" Target="../media/image102.e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image" Target="../media/image104.e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image" Target="../media/image106.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108.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09.emf"/></Relationships>
</file>

<file path=ppt/drawings/_rels/vmlDrawing65.v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image" Target="../media/image110.e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image" Target="../media/image11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114.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15.emf"/></Relationships>
</file>

<file path=ppt/drawings/_rels/vmlDrawing69.vml.rels><?xml version="1.0" encoding="UTF-8" standalone="yes"?>
<Relationships xmlns="http://schemas.openxmlformats.org/package/2006/relationships"><Relationship Id="rId2" Type="http://schemas.openxmlformats.org/officeDocument/2006/relationships/image" Target="../media/image117.emf"/><Relationship Id="rId1" Type="http://schemas.openxmlformats.org/officeDocument/2006/relationships/image" Target="../media/image116.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118.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119.emf"/></Relationships>
</file>

<file path=ppt/drawings/_rels/vmlDrawing72.vml.rels><?xml version="1.0" encoding="UTF-8" standalone="yes"?>
<Relationships xmlns="http://schemas.openxmlformats.org/package/2006/relationships"><Relationship Id="rId2" Type="http://schemas.openxmlformats.org/officeDocument/2006/relationships/image" Target="../media/image121.emf"/><Relationship Id="rId1" Type="http://schemas.openxmlformats.org/officeDocument/2006/relationships/image" Target="../media/image120.emf"/></Relationships>
</file>

<file path=ppt/drawings/_rels/vmlDrawing73.vml.rels><?xml version="1.0" encoding="UTF-8" standalone="yes"?>
<Relationships xmlns="http://schemas.openxmlformats.org/package/2006/relationships"><Relationship Id="rId2" Type="http://schemas.openxmlformats.org/officeDocument/2006/relationships/image" Target="../media/image123.emf"/><Relationship Id="rId1" Type="http://schemas.openxmlformats.org/officeDocument/2006/relationships/image" Target="../media/image122.emf"/></Relationships>
</file>

<file path=ppt/drawings/_rels/vmlDrawing74.vml.rels><?xml version="1.0" encoding="UTF-8" standalone="yes"?>
<Relationships xmlns="http://schemas.openxmlformats.org/package/2006/relationships"><Relationship Id="rId2" Type="http://schemas.openxmlformats.org/officeDocument/2006/relationships/image" Target="../media/image125.emf"/><Relationship Id="rId1" Type="http://schemas.openxmlformats.org/officeDocument/2006/relationships/image" Target="../media/image1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30114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t" anchorCtr="0" compatLnSpc="1">
            <a:prstTxWarp prst="textNoShape">
              <a:avLst/>
            </a:prstTxWarp>
          </a:bodyPr>
          <a:lstStyle>
            <a:lvl1pPr algn="l" defTabSz="927100">
              <a:defRPr kumimoji="0">
                <a:solidFill>
                  <a:schemeClr val="tx1"/>
                </a:solidFill>
                <a:latin typeface="Times New Roman" pitchFamily="18" charset="0"/>
              </a:defRPr>
            </a:lvl1pPr>
          </a:lstStyle>
          <a:p>
            <a:endParaRPr lang="es-ES" altLang="es-CL"/>
          </a:p>
        </p:txBody>
      </p:sp>
      <p:sp>
        <p:nvSpPr>
          <p:cNvPr id="107523" name="Rectangle 3"/>
          <p:cNvSpPr>
            <a:spLocks noGrp="1" noChangeArrowheads="1"/>
          </p:cNvSpPr>
          <p:nvPr>
            <p:ph type="dt" sz="quarter" idx="1"/>
          </p:nvPr>
        </p:nvSpPr>
        <p:spPr bwMode="auto">
          <a:xfrm>
            <a:off x="3938588" y="0"/>
            <a:ext cx="30114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t" anchorCtr="0" compatLnSpc="1">
            <a:prstTxWarp prst="textNoShape">
              <a:avLst/>
            </a:prstTxWarp>
          </a:bodyPr>
          <a:lstStyle>
            <a:lvl1pPr algn="r" defTabSz="927100">
              <a:defRPr kumimoji="0">
                <a:solidFill>
                  <a:schemeClr val="tx1"/>
                </a:solidFill>
                <a:latin typeface="Times New Roman" pitchFamily="18" charset="0"/>
              </a:defRPr>
            </a:lvl1pPr>
          </a:lstStyle>
          <a:p>
            <a:endParaRPr lang="es-ES" altLang="es-CL"/>
          </a:p>
        </p:txBody>
      </p:sp>
      <p:sp>
        <p:nvSpPr>
          <p:cNvPr id="107524" name="Rectangle 4"/>
          <p:cNvSpPr>
            <a:spLocks noGrp="1" noChangeArrowheads="1"/>
          </p:cNvSpPr>
          <p:nvPr>
            <p:ph type="ftr" sz="quarter" idx="2"/>
          </p:nvPr>
        </p:nvSpPr>
        <p:spPr bwMode="auto">
          <a:xfrm>
            <a:off x="0" y="8774113"/>
            <a:ext cx="301148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b" anchorCtr="0" compatLnSpc="1">
            <a:prstTxWarp prst="textNoShape">
              <a:avLst/>
            </a:prstTxWarp>
          </a:bodyPr>
          <a:lstStyle>
            <a:lvl1pPr algn="l" defTabSz="927100">
              <a:defRPr kumimoji="0">
                <a:solidFill>
                  <a:schemeClr val="tx1"/>
                </a:solidFill>
                <a:latin typeface="Times New Roman" pitchFamily="18" charset="0"/>
              </a:defRPr>
            </a:lvl1pPr>
          </a:lstStyle>
          <a:p>
            <a:endParaRPr lang="es-ES" altLang="es-CL"/>
          </a:p>
        </p:txBody>
      </p:sp>
      <p:sp>
        <p:nvSpPr>
          <p:cNvPr id="107525" name="Rectangle 5"/>
          <p:cNvSpPr>
            <a:spLocks noGrp="1" noChangeArrowheads="1"/>
          </p:cNvSpPr>
          <p:nvPr>
            <p:ph type="sldNum" sz="quarter" idx="3"/>
          </p:nvPr>
        </p:nvSpPr>
        <p:spPr bwMode="auto">
          <a:xfrm>
            <a:off x="3938588" y="8774113"/>
            <a:ext cx="30114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b" anchorCtr="0" compatLnSpc="1">
            <a:prstTxWarp prst="textNoShape">
              <a:avLst/>
            </a:prstTxWarp>
          </a:bodyPr>
          <a:lstStyle>
            <a:lvl1pPr algn="r" defTabSz="927100">
              <a:defRPr kumimoji="0">
                <a:solidFill>
                  <a:schemeClr val="tx1"/>
                </a:solidFill>
                <a:latin typeface="Times New Roman" pitchFamily="18" charset="0"/>
              </a:defRPr>
            </a:lvl1pPr>
          </a:lstStyle>
          <a:p>
            <a:fld id="{8B9143A0-5452-4890-B5EE-E915D77291F5}" type="slidenum">
              <a:rPr lang="es-ES" altLang="es-CL"/>
              <a:pPr/>
              <a:t>‹Nº›</a:t>
            </a:fld>
            <a:endParaRPr lang="es-ES" altLang="es-CL"/>
          </a:p>
        </p:txBody>
      </p:sp>
    </p:spTree>
    <p:extLst>
      <p:ext uri="{BB962C8B-B14F-4D97-AF65-F5344CB8AC3E}">
        <p14:creationId xmlns:p14="http://schemas.microsoft.com/office/powerpoint/2010/main" val="19403144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30114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t" anchorCtr="0" compatLnSpc="1">
            <a:prstTxWarp prst="textNoShape">
              <a:avLst/>
            </a:prstTxWarp>
          </a:bodyPr>
          <a:lstStyle>
            <a:lvl1pPr algn="l" defTabSz="927100">
              <a:defRPr kumimoji="0">
                <a:solidFill>
                  <a:schemeClr val="tx1"/>
                </a:solidFill>
                <a:latin typeface="Times New Roman" pitchFamily="18" charset="0"/>
              </a:defRPr>
            </a:lvl1pPr>
          </a:lstStyle>
          <a:p>
            <a:endParaRPr lang="es-ES" altLang="es-CL"/>
          </a:p>
        </p:txBody>
      </p:sp>
      <p:sp>
        <p:nvSpPr>
          <p:cNvPr id="39939" name="Rectangle 3"/>
          <p:cNvSpPr>
            <a:spLocks noGrp="1" noChangeArrowheads="1"/>
          </p:cNvSpPr>
          <p:nvPr>
            <p:ph type="dt" idx="1"/>
          </p:nvPr>
        </p:nvSpPr>
        <p:spPr bwMode="auto">
          <a:xfrm>
            <a:off x="3938588" y="0"/>
            <a:ext cx="30114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t" anchorCtr="0" compatLnSpc="1">
            <a:prstTxWarp prst="textNoShape">
              <a:avLst/>
            </a:prstTxWarp>
          </a:bodyPr>
          <a:lstStyle>
            <a:lvl1pPr algn="r" defTabSz="927100">
              <a:defRPr kumimoji="0">
                <a:solidFill>
                  <a:schemeClr val="tx1"/>
                </a:solidFill>
                <a:latin typeface="Times New Roman" pitchFamily="18" charset="0"/>
              </a:defRPr>
            </a:lvl1pPr>
          </a:lstStyle>
          <a:p>
            <a:endParaRPr lang="es-ES" altLang="es-CL"/>
          </a:p>
        </p:txBody>
      </p:sp>
      <p:sp>
        <p:nvSpPr>
          <p:cNvPr id="39940" name="Rectangle 4"/>
          <p:cNvSpPr>
            <a:spLocks noGrp="1" noRot="1" noChangeAspect="1" noChangeArrowheads="1" noTextEdit="1"/>
          </p:cNvSpPr>
          <p:nvPr>
            <p:ph type="sldImg" idx="2"/>
          </p:nvPr>
        </p:nvSpPr>
        <p:spPr bwMode="auto">
          <a:xfrm>
            <a:off x="1166813" y="693738"/>
            <a:ext cx="4616450" cy="346233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41" name="Rectangle 5"/>
          <p:cNvSpPr>
            <a:spLocks noGrp="1" noChangeArrowheads="1"/>
          </p:cNvSpPr>
          <p:nvPr>
            <p:ph type="body" sz="quarter" idx="3"/>
          </p:nvPr>
        </p:nvSpPr>
        <p:spPr bwMode="auto">
          <a:xfrm>
            <a:off x="927100" y="4387850"/>
            <a:ext cx="5095875" cy="415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t" anchorCtr="0" compatLnSpc="1">
            <a:prstTxWarp prst="textNoShape">
              <a:avLst/>
            </a:prstTxWarp>
          </a:bodyPr>
          <a:lstStyle/>
          <a:p>
            <a:pPr lvl="0"/>
            <a:r>
              <a:rPr lang="es-ES" altLang="es-CL" smtClean="0"/>
              <a:t>Haga clic para modificar el estilo de texto del patrón</a:t>
            </a:r>
          </a:p>
          <a:p>
            <a:pPr lvl="1"/>
            <a:r>
              <a:rPr lang="es-ES" altLang="es-CL" smtClean="0"/>
              <a:t>Segundo nivel</a:t>
            </a:r>
          </a:p>
          <a:p>
            <a:pPr lvl="2"/>
            <a:r>
              <a:rPr lang="es-ES" altLang="es-CL" smtClean="0"/>
              <a:t>Tercer nivel</a:t>
            </a:r>
          </a:p>
          <a:p>
            <a:pPr lvl="3"/>
            <a:r>
              <a:rPr lang="es-ES" altLang="es-CL" smtClean="0"/>
              <a:t>Cuarto nivel</a:t>
            </a:r>
          </a:p>
          <a:p>
            <a:pPr lvl="4"/>
            <a:r>
              <a:rPr lang="es-ES" altLang="es-CL" smtClean="0"/>
              <a:t>Quinto nivel</a:t>
            </a:r>
          </a:p>
        </p:txBody>
      </p:sp>
      <p:sp>
        <p:nvSpPr>
          <p:cNvPr id="39942" name="Rectangle 6"/>
          <p:cNvSpPr>
            <a:spLocks noGrp="1" noChangeArrowheads="1"/>
          </p:cNvSpPr>
          <p:nvPr>
            <p:ph type="ftr" sz="quarter" idx="4"/>
          </p:nvPr>
        </p:nvSpPr>
        <p:spPr bwMode="auto">
          <a:xfrm>
            <a:off x="0" y="8774113"/>
            <a:ext cx="301148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b" anchorCtr="0" compatLnSpc="1">
            <a:prstTxWarp prst="textNoShape">
              <a:avLst/>
            </a:prstTxWarp>
          </a:bodyPr>
          <a:lstStyle>
            <a:lvl1pPr algn="l" defTabSz="927100">
              <a:defRPr kumimoji="0">
                <a:solidFill>
                  <a:schemeClr val="tx1"/>
                </a:solidFill>
                <a:latin typeface="Times New Roman" pitchFamily="18" charset="0"/>
              </a:defRPr>
            </a:lvl1pPr>
          </a:lstStyle>
          <a:p>
            <a:endParaRPr lang="es-ES" altLang="es-CL"/>
          </a:p>
        </p:txBody>
      </p:sp>
      <p:sp>
        <p:nvSpPr>
          <p:cNvPr id="39943" name="Rectangle 7"/>
          <p:cNvSpPr>
            <a:spLocks noGrp="1" noChangeArrowheads="1"/>
          </p:cNvSpPr>
          <p:nvPr>
            <p:ph type="sldNum" sz="quarter" idx="5"/>
          </p:nvPr>
        </p:nvSpPr>
        <p:spPr bwMode="auto">
          <a:xfrm>
            <a:off x="3938588" y="8774113"/>
            <a:ext cx="30114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640" tIns="46320" rIns="92640" bIns="46320" numCol="1" anchor="b" anchorCtr="0" compatLnSpc="1">
            <a:prstTxWarp prst="textNoShape">
              <a:avLst/>
            </a:prstTxWarp>
          </a:bodyPr>
          <a:lstStyle>
            <a:lvl1pPr algn="r" defTabSz="927100">
              <a:defRPr kumimoji="0">
                <a:solidFill>
                  <a:schemeClr val="tx1"/>
                </a:solidFill>
                <a:latin typeface="Times New Roman" pitchFamily="18" charset="0"/>
              </a:defRPr>
            </a:lvl1pPr>
          </a:lstStyle>
          <a:p>
            <a:fld id="{3230B4D5-BB6A-4035-8B71-1FDBEE9C4E16}" type="slidenum">
              <a:rPr lang="es-ES" altLang="es-CL"/>
              <a:pPr/>
              <a:t>‹Nº›</a:t>
            </a:fld>
            <a:endParaRPr lang="es-ES" altLang="es-CL"/>
          </a:p>
        </p:txBody>
      </p:sp>
    </p:spTree>
    <p:extLst>
      <p:ext uri="{BB962C8B-B14F-4D97-AF65-F5344CB8AC3E}">
        <p14:creationId xmlns:p14="http://schemas.microsoft.com/office/powerpoint/2010/main" val="30896911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1B66B7-03D7-4641-B553-1232591E083F}" type="slidenum">
              <a:rPr lang="es-ES" altLang="es-CL"/>
              <a:pPr/>
              <a:t>82</a:t>
            </a:fld>
            <a:endParaRPr lang="es-ES" altLang="es-CL"/>
          </a:p>
        </p:txBody>
      </p:sp>
      <p:sp>
        <p:nvSpPr>
          <p:cNvPr id="2112514" name="Rectangle 2"/>
          <p:cNvSpPr>
            <a:spLocks noGrp="1" noRot="1" noChangeAspect="1" noChangeArrowheads="1" noTextEdit="1"/>
          </p:cNvSpPr>
          <p:nvPr>
            <p:ph type="sldImg"/>
          </p:nvPr>
        </p:nvSpPr>
        <p:spPr>
          <a:ln/>
        </p:spPr>
      </p:sp>
      <p:sp>
        <p:nvSpPr>
          <p:cNvPr id="2112515" name="Rectangle 3"/>
          <p:cNvSpPr>
            <a:spLocks noGrp="1" noChangeArrowheads="1"/>
          </p:cNvSpPr>
          <p:nvPr>
            <p:ph type="body" idx="1"/>
          </p:nvPr>
        </p:nvSpPr>
        <p:spPr/>
        <p:txBody>
          <a:bodyPr/>
          <a:lstStyle/>
          <a:p>
            <a:endParaRPr lang="es-ES" altLang="es-C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CL"/>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smtClean="0"/>
              <a:t>Haga clic para modificar el estilo de subtítulo del patrón</a:t>
            </a:r>
            <a:endParaRPr lang="es-CL"/>
          </a:p>
        </p:txBody>
      </p:sp>
    </p:spTree>
    <p:extLst>
      <p:ext uri="{BB962C8B-B14F-4D97-AF65-F5344CB8AC3E}">
        <p14:creationId xmlns:p14="http://schemas.microsoft.com/office/powerpoint/2010/main" val="15594189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Tree>
    <p:extLst>
      <p:ext uri="{BB962C8B-B14F-4D97-AF65-F5344CB8AC3E}">
        <p14:creationId xmlns:p14="http://schemas.microsoft.com/office/powerpoint/2010/main" val="150848667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Tree>
    <p:extLst>
      <p:ext uri="{BB962C8B-B14F-4D97-AF65-F5344CB8AC3E}">
        <p14:creationId xmlns:p14="http://schemas.microsoft.com/office/powerpoint/2010/main" val="398745144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914400" y="1371600"/>
            <a:ext cx="39243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991100" y="1371600"/>
            <a:ext cx="39243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Tree>
    <p:extLst>
      <p:ext uri="{BB962C8B-B14F-4D97-AF65-F5344CB8AC3E}">
        <p14:creationId xmlns:p14="http://schemas.microsoft.com/office/powerpoint/2010/main" val="29583365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Tree>
    <p:extLst>
      <p:ext uri="{BB962C8B-B14F-4D97-AF65-F5344CB8AC3E}">
        <p14:creationId xmlns:p14="http://schemas.microsoft.com/office/powerpoint/2010/main" val="44015030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Tree>
    <p:extLst>
      <p:ext uri="{BB962C8B-B14F-4D97-AF65-F5344CB8AC3E}">
        <p14:creationId xmlns:p14="http://schemas.microsoft.com/office/powerpoint/2010/main" val="283011667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19736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extLst>
      <p:ext uri="{BB962C8B-B14F-4D97-AF65-F5344CB8AC3E}">
        <p14:creationId xmlns:p14="http://schemas.microsoft.com/office/powerpoint/2010/main" val="143574458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extLst>
      <p:ext uri="{BB962C8B-B14F-4D97-AF65-F5344CB8AC3E}">
        <p14:creationId xmlns:p14="http://schemas.microsoft.com/office/powerpoint/2010/main" val="373585517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Tree>
    <p:extLst>
      <p:ext uri="{BB962C8B-B14F-4D97-AF65-F5344CB8AC3E}">
        <p14:creationId xmlns:p14="http://schemas.microsoft.com/office/powerpoint/2010/main" val="390914375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38950" y="609600"/>
            <a:ext cx="2076450" cy="5486400"/>
          </a:xfrm>
        </p:spPr>
        <p:txBody>
          <a:bodyPr vert="eaVert"/>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a:xfrm>
            <a:off x="609600" y="609600"/>
            <a:ext cx="6076950" cy="54864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Tree>
    <p:extLst>
      <p:ext uri="{BB962C8B-B14F-4D97-AF65-F5344CB8AC3E}">
        <p14:creationId xmlns:p14="http://schemas.microsoft.com/office/powerpoint/2010/main" val="76472841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609600" y="609600"/>
            <a:ext cx="8305800" cy="54864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Tree>
    <p:extLst>
      <p:ext uri="{BB962C8B-B14F-4D97-AF65-F5344CB8AC3E}">
        <p14:creationId xmlns:p14="http://schemas.microsoft.com/office/powerpoint/2010/main" val="340446055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609600" y="609600"/>
            <a:ext cx="5715000" cy="381000"/>
          </a:xfrm>
        </p:spPr>
        <p:txBody>
          <a:bodyPr/>
          <a:lstStyle/>
          <a:p>
            <a:r>
              <a:rPr lang="es-ES" smtClean="0"/>
              <a:t>Haga clic para modificar el estilo de título del patrón</a:t>
            </a:r>
            <a:endParaRPr lang="es-CL"/>
          </a:p>
        </p:txBody>
      </p:sp>
      <p:sp>
        <p:nvSpPr>
          <p:cNvPr id="3" name="2 Marcador de texto"/>
          <p:cNvSpPr>
            <a:spLocks noGrp="1"/>
          </p:cNvSpPr>
          <p:nvPr>
            <p:ph type="body" sz="half" idx="1"/>
          </p:nvPr>
        </p:nvSpPr>
        <p:spPr>
          <a:xfrm>
            <a:off x="914400" y="1371600"/>
            <a:ext cx="3924300" cy="47244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991100" y="1371600"/>
            <a:ext cx="3924300" cy="47244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Tree>
    <p:extLst>
      <p:ext uri="{BB962C8B-B14F-4D97-AF65-F5344CB8AC3E}">
        <p14:creationId xmlns:p14="http://schemas.microsoft.com/office/powerpoint/2010/main" val="41179547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1993730" name="Rectangle 2"/>
          <p:cNvSpPr>
            <a:spLocks noGrp="1" noChangeArrowheads="1"/>
          </p:cNvSpPr>
          <p:nvPr>
            <p:ph type="title"/>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es-CL" smtClean="0"/>
              <a:t>HAGA CLIC PARA CAMBIAR EL ESTILO DE TÍTULO	</a:t>
            </a:r>
          </a:p>
        </p:txBody>
      </p:sp>
      <p:sp>
        <p:nvSpPr>
          <p:cNvPr id="1993731" name="Text Box 3"/>
          <p:cNvSpPr txBox="1">
            <a:spLocks noChangeArrowheads="1"/>
          </p:cNvSpPr>
          <p:nvPr/>
        </p:nvSpPr>
        <p:spPr bwMode="auto">
          <a:xfrm>
            <a:off x="5688013" y="0"/>
            <a:ext cx="345598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s-ES" altLang="es-CL" sz="1000" b="1">
                <a:solidFill>
                  <a:schemeClr val="bg1"/>
                </a:solidFill>
                <a:latin typeface="Arial" charset="0"/>
              </a:rPr>
              <a:t>MBT</a:t>
            </a:r>
          </a:p>
        </p:txBody>
      </p:sp>
      <p:sp>
        <p:nvSpPr>
          <p:cNvPr id="1993733" name="Rectangle 5"/>
          <p:cNvSpPr>
            <a:spLocks noGrp="1" noChangeArrowheads="1"/>
          </p:cNvSpPr>
          <p:nvPr>
            <p:ph type="body" idx="1"/>
          </p:nvPr>
        </p:nvSpPr>
        <p:spPr bwMode="auto">
          <a:xfrm>
            <a:off x="914400" y="1371600"/>
            <a:ext cx="80010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es-CL" smtClean="0"/>
              <a:t>Haga clic para modificar el estilo de texto del patrón</a:t>
            </a:r>
          </a:p>
          <a:p>
            <a:pPr lvl="1"/>
            <a:r>
              <a:rPr lang="es-ES" altLang="es-CL" smtClean="0"/>
              <a:t>Segundo nivel</a:t>
            </a:r>
          </a:p>
          <a:p>
            <a:pPr lvl="2"/>
            <a:r>
              <a:rPr lang="es-ES" altLang="es-CL" smtClean="0"/>
              <a:t>Tercer nivel</a:t>
            </a:r>
          </a:p>
          <a:p>
            <a:pPr lvl="3"/>
            <a:r>
              <a:rPr lang="es-ES" altLang="es-CL" smtClean="0"/>
              <a:t>Cuarto nivel</a:t>
            </a:r>
          </a:p>
          <a:p>
            <a:pPr lvl="4"/>
            <a:r>
              <a:rPr lang="es-ES" altLang="es-CL" smtClean="0"/>
              <a:t>Quinto nivel</a:t>
            </a:r>
          </a:p>
        </p:txBody>
      </p:sp>
      <p:sp>
        <p:nvSpPr>
          <p:cNvPr id="1993734" name="Text Box 6"/>
          <p:cNvSpPr txBox="1">
            <a:spLocks noChangeArrowheads="1"/>
          </p:cNvSpPr>
          <p:nvPr/>
        </p:nvSpPr>
        <p:spPr bwMode="auto">
          <a:xfrm>
            <a:off x="8693150" y="6402388"/>
            <a:ext cx="450850"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r"/>
            <a:fld id="{665BF370-041B-4479-8E6A-D95286F56A77}" type="slidenum">
              <a:rPr lang="es-ES" altLang="es-CL">
                <a:solidFill>
                  <a:srgbClr val="4E4EC4"/>
                </a:solidFill>
                <a:latin typeface="Arial" charset="0"/>
              </a:rPr>
              <a:pPr algn="r"/>
              <a:t>‹Nº›</a:t>
            </a:fld>
            <a:endParaRPr lang="es-ES" altLang="es-CL">
              <a:solidFill>
                <a:srgbClr val="4E4EC4"/>
              </a:solidFill>
              <a:latin typeface="Arial" charset="0"/>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ransition/>
  <p:timing>
    <p:tnLst>
      <p:par>
        <p:cTn id="1" dur="indefinite" restart="never" nodeType="tmRoot"/>
      </p:par>
    </p:tnLst>
  </p:timing>
  <p:txStyles>
    <p:titleStyle>
      <a:lvl1pPr algn="l" rtl="0" fontAlgn="base">
        <a:spcBef>
          <a:spcPct val="0"/>
        </a:spcBef>
        <a:spcAft>
          <a:spcPct val="0"/>
        </a:spcAft>
        <a:defRPr kumimoji="1" sz="1600" b="1">
          <a:solidFill>
            <a:srgbClr val="FF9900"/>
          </a:solidFill>
          <a:latin typeface="+mj-lt"/>
          <a:ea typeface="+mj-ea"/>
          <a:cs typeface="+mj-cs"/>
        </a:defRPr>
      </a:lvl1pPr>
      <a:lvl2pPr algn="l" rtl="0" fontAlgn="base">
        <a:spcBef>
          <a:spcPct val="0"/>
        </a:spcBef>
        <a:spcAft>
          <a:spcPct val="0"/>
        </a:spcAft>
        <a:defRPr kumimoji="1" sz="1600" b="1">
          <a:solidFill>
            <a:srgbClr val="FF9900"/>
          </a:solidFill>
          <a:latin typeface="Arial Narrow" pitchFamily="34" charset="0"/>
        </a:defRPr>
      </a:lvl2pPr>
      <a:lvl3pPr algn="l" rtl="0" fontAlgn="base">
        <a:spcBef>
          <a:spcPct val="0"/>
        </a:spcBef>
        <a:spcAft>
          <a:spcPct val="0"/>
        </a:spcAft>
        <a:defRPr kumimoji="1" sz="1600" b="1">
          <a:solidFill>
            <a:srgbClr val="FF9900"/>
          </a:solidFill>
          <a:latin typeface="Arial Narrow" pitchFamily="34" charset="0"/>
        </a:defRPr>
      </a:lvl3pPr>
      <a:lvl4pPr algn="l" rtl="0" fontAlgn="base">
        <a:spcBef>
          <a:spcPct val="0"/>
        </a:spcBef>
        <a:spcAft>
          <a:spcPct val="0"/>
        </a:spcAft>
        <a:defRPr kumimoji="1" sz="1600" b="1">
          <a:solidFill>
            <a:srgbClr val="FF9900"/>
          </a:solidFill>
          <a:latin typeface="Arial Narrow" pitchFamily="34" charset="0"/>
        </a:defRPr>
      </a:lvl4pPr>
      <a:lvl5pPr algn="l" rtl="0" fontAlgn="base">
        <a:spcBef>
          <a:spcPct val="0"/>
        </a:spcBef>
        <a:spcAft>
          <a:spcPct val="0"/>
        </a:spcAft>
        <a:defRPr kumimoji="1" sz="1600" b="1">
          <a:solidFill>
            <a:srgbClr val="FF9900"/>
          </a:solidFill>
          <a:latin typeface="Arial Narrow" pitchFamily="34" charset="0"/>
        </a:defRPr>
      </a:lvl5pPr>
      <a:lvl6pPr marL="457200" algn="l" rtl="0" fontAlgn="base">
        <a:spcBef>
          <a:spcPct val="0"/>
        </a:spcBef>
        <a:spcAft>
          <a:spcPct val="0"/>
        </a:spcAft>
        <a:defRPr kumimoji="1" sz="1600" b="1">
          <a:solidFill>
            <a:srgbClr val="FF9900"/>
          </a:solidFill>
          <a:latin typeface="Arial Narrow" pitchFamily="34" charset="0"/>
        </a:defRPr>
      </a:lvl6pPr>
      <a:lvl7pPr marL="914400" algn="l" rtl="0" fontAlgn="base">
        <a:spcBef>
          <a:spcPct val="0"/>
        </a:spcBef>
        <a:spcAft>
          <a:spcPct val="0"/>
        </a:spcAft>
        <a:defRPr kumimoji="1" sz="1600" b="1">
          <a:solidFill>
            <a:srgbClr val="FF9900"/>
          </a:solidFill>
          <a:latin typeface="Arial Narrow" pitchFamily="34" charset="0"/>
        </a:defRPr>
      </a:lvl7pPr>
      <a:lvl8pPr marL="1371600" algn="l" rtl="0" fontAlgn="base">
        <a:spcBef>
          <a:spcPct val="0"/>
        </a:spcBef>
        <a:spcAft>
          <a:spcPct val="0"/>
        </a:spcAft>
        <a:defRPr kumimoji="1" sz="1600" b="1">
          <a:solidFill>
            <a:srgbClr val="FF9900"/>
          </a:solidFill>
          <a:latin typeface="Arial Narrow" pitchFamily="34" charset="0"/>
        </a:defRPr>
      </a:lvl8pPr>
      <a:lvl9pPr marL="1828800" algn="l" rtl="0" fontAlgn="base">
        <a:spcBef>
          <a:spcPct val="0"/>
        </a:spcBef>
        <a:spcAft>
          <a:spcPct val="0"/>
        </a:spcAft>
        <a:defRPr kumimoji="1" sz="1600" b="1">
          <a:solidFill>
            <a:srgbClr val="FF9900"/>
          </a:solidFill>
          <a:latin typeface="Arial Narrow" pitchFamily="34" charset="0"/>
        </a:defRPr>
      </a:lvl9pPr>
    </p:titleStyle>
    <p:bodyStyle>
      <a:lvl1pPr marL="284163" indent="-284163" algn="l" rtl="0" fontAlgn="base">
        <a:spcBef>
          <a:spcPct val="0"/>
        </a:spcBef>
        <a:spcAft>
          <a:spcPct val="50000"/>
        </a:spcAft>
        <a:buClr>
          <a:schemeClr val="accent1"/>
        </a:buClr>
        <a:buFont typeface="Wingdings" pitchFamily="2" charset="2"/>
        <a:buChar char="§"/>
        <a:defRPr kumimoji="1" sz="1400">
          <a:solidFill>
            <a:srgbClr val="000099"/>
          </a:solidFill>
          <a:latin typeface="+mn-lt"/>
          <a:ea typeface="+mn-ea"/>
          <a:cs typeface="+mn-cs"/>
        </a:defRPr>
      </a:lvl1pPr>
      <a:lvl2pPr marL="573088" indent="-287338" algn="l" rtl="0" fontAlgn="base">
        <a:spcBef>
          <a:spcPct val="0"/>
        </a:spcBef>
        <a:spcAft>
          <a:spcPct val="50000"/>
        </a:spcAft>
        <a:buClr>
          <a:srgbClr val="FF9900"/>
        </a:buClr>
        <a:buFont typeface="Wingdings" pitchFamily="2" charset="2"/>
        <a:buChar char="ü"/>
        <a:defRPr kumimoji="1" sz="1400">
          <a:solidFill>
            <a:srgbClr val="000099"/>
          </a:solidFill>
          <a:latin typeface="+mn-lt"/>
        </a:defRPr>
      </a:lvl2pPr>
      <a:lvl3pPr marL="857250" indent="-282575" algn="l" rtl="0" fontAlgn="base">
        <a:spcBef>
          <a:spcPct val="0"/>
        </a:spcBef>
        <a:spcAft>
          <a:spcPct val="50000"/>
        </a:spcAft>
        <a:buClr>
          <a:srgbClr val="FF9999"/>
        </a:buClr>
        <a:buFont typeface="Wingdings" pitchFamily="2" charset="2"/>
        <a:buChar char="Ø"/>
        <a:defRPr kumimoji="1" sz="1400">
          <a:solidFill>
            <a:srgbClr val="000099"/>
          </a:solidFill>
          <a:latin typeface="+mn-lt"/>
        </a:defRPr>
      </a:lvl3pPr>
      <a:lvl4pPr marL="1141413" indent="-282575" algn="l" rtl="0" fontAlgn="base">
        <a:spcBef>
          <a:spcPct val="0"/>
        </a:spcBef>
        <a:spcAft>
          <a:spcPct val="50000"/>
        </a:spcAft>
        <a:buClr>
          <a:schemeClr val="tx1"/>
        </a:buClr>
        <a:buChar char="•"/>
        <a:defRPr kumimoji="1" sz="1200">
          <a:solidFill>
            <a:srgbClr val="000099"/>
          </a:solidFill>
          <a:latin typeface="+mn-lt"/>
        </a:defRPr>
      </a:lvl4pPr>
      <a:lvl5pPr marL="1425575" indent="-282575" algn="l" rtl="0" fontAlgn="base">
        <a:spcBef>
          <a:spcPct val="0"/>
        </a:spcBef>
        <a:spcAft>
          <a:spcPct val="50000"/>
        </a:spcAft>
        <a:buClr>
          <a:schemeClr val="tx1"/>
        </a:buClr>
        <a:buFont typeface="Times New Roman" pitchFamily="18" charset="0"/>
        <a:buChar char="–"/>
        <a:defRPr kumimoji="1" sz="1200">
          <a:solidFill>
            <a:srgbClr val="000099"/>
          </a:solidFill>
          <a:latin typeface="+mn-lt"/>
        </a:defRPr>
      </a:lvl5pPr>
      <a:lvl6pPr marL="1882775" indent="-282575" algn="l" rtl="0" fontAlgn="base">
        <a:spcBef>
          <a:spcPct val="0"/>
        </a:spcBef>
        <a:spcAft>
          <a:spcPct val="50000"/>
        </a:spcAft>
        <a:buClr>
          <a:schemeClr val="tx1"/>
        </a:buClr>
        <a:buFont typeface="Times New Roman" pitchFamily="18" charset="0"/>
        <a:buChar char="–"/>
        <a:defRPr kumimoji="1" sz="1200">
          <a:solidFill>
            <a:srgbClr val="000099"/>
          </a:solidFill>
          <a:latin typeface="+mn-lt"/>
        </a:defRPr>
      </a:lvl6pPr>
      <a:lvl7pPr marL="2339975" indent="-282575" algn="l" rtl="0" fontAlgn="base">
        <a:spcBef>
          <a:spcPct val="0"/>
        </a:spcBef>
        <a:spcAft>
          <a:spcPct val="50000"/>
        </a:spcAft>
        <a:buClr>
          <a:schemeClr val="tx1"/>
        </a:buClr>
        <a:buFont typeface="Times New Roman" pitchFamily="18" charset="0"/>
        <a:buChar char="–"/>
        <a:defRPr kumimoji="1" sz="1200">
          <a:solidFill>
            <a:srgbClr val="000099"/>
          </a:solidFill>
          <a:latin typeface="+mn-lt"/>
        </a:defRPr>
      </a:lvl7pPr>
      <a:lvl8pPr marL="2797175" indent="-282575" algn="l" rtl="0" fontAlgn="base">
        <a:spcBef>
          <a:spcPct val="0"/>
        </a:spcBef>
        <a:spcAft>
          <a:spcPct val="50000"/>
        </a:spcAft>
        <a:buClr>
          <a:schemeClr val="tx1"/>
        </a:buClr>
        <a:buFont typeface="Times New Roman" pitchFamily="18" charset="0"/>
        <a:buChar char="–"/>
        <a:defRPr kumimoji="1" sz="1200">
          <a:solidFill>
            <a:srgbClr val="000099"/>
          </a:solidFill>
          <a:latin typeface="+mn-lt"/>
        </a:defRPr>
      </a:lvl8pPr>
      <a:lvl9pPr marL="3254375" indent="-282575" algn="l" rtl="0" fontAlgn="base">
        <a:spcBef>
          <a:spcPct val="0"/>
        </a:spcBef>
        <a:spcAft>
          <a:spcPct val="50000"/>
        </a:spcAft>
        <a:buClr>
          <a:schemeClr val="tx1"/>
        </a:buClr>
        <a:buFont typeface="Times New Roman" pitchFamily="18" charset="0"/>
        <a:buChar char="–"/>
        <a:defRPr kumimoji="1" sz="1200">
          <a:solidFill>
            <a:srgbClr val="000099"/>
          </a:solidFill>
          <a:latin typeface="+mn-lt"/>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3.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Microsoft_Excel_97-2003_Worksheet1.xls"/><Relationship Id="rId5" Type="http://schemas.openxmlformats.org/officeDocument/2006/relationships/oleObject" Target="../embeddings/oleObject2.bin"/><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Microsoft_Excel_97-2003_Worksheet2.xls"/></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oleObject" Target="../embeddings/Microsoft_Excel_97-2003_Worksheet3.xls"/></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oleObject" Target="../embeddings/Microsoft_Excel_97-2003_Worksheet4.xls"/></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9.emf"/><Relationship Id="rId5" Type="http://schemas.openxmlformats.org/officeDocument/2006/relationships/oleObject" Target="../embeddings/oleObject8.bin"/><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11.emf"/><Relationship Id="rId5" Type="http://schemas.openxmlformats.org/officeDocument/2006/relationships/oleObject" Target="../embeddings/oleObject10.bin"/><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oleObject" Target="../embeddings/Microsoft_Excel_97-2003_Worksheet5.xls"/></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oleObject" Target="../embeddings/Microsoft_Excel_97-2003_Worksheet6.xls"/></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4.emf"/><Relationship Id="rId4" Type="http://schemas.openxmlformats.org/officeDocument/2006/relationships/oleObject" Target="../embeddings/Microsoft_Excel_97-2003_Worksheet7.xls"/></Relationships>
</file>

<file path=ppt/slides/_rels/slide12.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oleObject" Target="../embeddings/oleObject19.bin"/><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19.emf"/><Relationship Id="rId17" Type="http://schemas.openxmlformats.org/officeDocument/2006/relationships/image" Target="../media/image21.emf"/><Relationship Id="rId2" Type="http://schemas.openxmlformats.org/officeDocument/2006/relationships/slideLayout" Target="../slideLayouts/slideLayout6.xml"/><Relationship Id="rId16" Type="http://schemas.openxmlformats.org/officeDocument/2006/relationships/oleObject" Target="../embeddings/oleObject21.bin"/><Relationship Id="rId1" Type="http://schemas.openxmlformats.org/officeDocument/2006/relationships/vmlDrawing" Target="../drawings/vmlDrawing11.vml"/><Relationship Id="rId6" Type="http://schemas.openxmlformats.org/officeDocument/2006/relationships/image" Target="../media/image16.e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image" Target="../media/image20.emf"/><Relationship Id="rId10" Type="http://schemas.openxmlformats.org/officeDocument/2006/relationships/image" Target="../media/image18.emf"/><Relationship Id="rId4" Type="http://schemas.openxmlformats.org/officeDocument/2006/relationships/image" Target="../media/image15.emf"/><Relationship Id="rId9" Type="http://schemas.openxmlformats.org/officeDocument/2006/relationships/oleObject" Target="../embeddings/oleObject17.bin"/><Relationship Id="rId14" Type="http://schemas.openxmlformats.org/officeDocument/2006/relationships/oleObject" Target="../embeddings/oleObject20.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23.emf"/><Relationship Id="rId5" Type="http://schemas.openxmlformats.org/officeDocument/2006/relationships/oleObject" Target="../embeddings/oleObject23.bin"/><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image" Target="../media/image25.emf"/><Relationship Id="rId5" Type="http://schemas.openxmlformats.org/officeDocument/2006/relationships/oleObject" Target="../embeddings/oleObject25.bin"/><Relationship Id="rId4" Type="http://schemas.openxmlformats.org/officeDocument/2006/relationships/image" Target="../media/image24.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image" Target="../media/image27.emf"/><Relationship Id="rId5" Type="http://schemas.openxmlformats.org/officeDocument/2006/relationships/oleObject" Target="../embeddings/oleObject27.bin"/><Relationship Id="rId4" Type="http://schemas.openxmlformats.org/officeDocument/2006/relationships/image" Target="../media/image26.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image" Target="../media/image29.emf"/><Relationship Id="rId5" Type="http://schemas.openxmlformats.org/officeDocument/2006/relationships/oleObject" Target="../embeddings/oleObject29.bin"/><Relationship Id="rId4" Type="http://schemas.openxmlformats.org/officeDocument/2006/relationships/image" Target="../media/image28.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31.emf"/><Relationship Id="rId5" Type="http://schemas.openxmlformats.org/officeDocument/2006/relationships/oleObject" Target="../embeddings/oleObject31.bin"/><Relationship Id="rId4" Type="http://schemas.openxmlformats.org/officeDocument/2006/relationships/image" Target="../media/image30.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image" Target="../media/image33.emf"/><Relationship Id="rId5" Type="http://schemas.openxmlformats.org/officeDocument/2006/relationships/oleObject" Target="../embeddings/oleObject33.bin"/><Relationship Id="rId4" Type="http://schemas.openxmlformats.org/officeDocument/2006/relationships/image" Target="../media/image3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image" Target="../media/image35.emf"/><Relationship Id="rId5" Type="http://schemas.openxmlformats.org/officeDocument/2006/relationships/oleObject" Target="../embeddings/oleObject35.bin"/><Relationship Id="rId4" Type="http://schemas.openxmlformats.org/officeDocument/2006/relationships/image" Target="../media/image34.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image" Target="../media/image37.emf"/><Relationship Id="rId5" Type="http://schemas.openxmlformats.org/officeDocument/2006/relationships/oleObject" Target="../embeddings/oleObject37.bin"/><Relationship Id="rId4" Type="http://schemas.openxmlformats.org/officeDocument/2006/relationships/image" Target="../media/image36.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2.xml"/><Relationship Id="rId1" Type="http://schemas.openxmlformats.org/officeDocument/2006/relationships/vmlDrawing" Target="../drawings/vmlDrawing20.vml"/><Relationship Id="rId5" Type="http://schemas.openxmlformats.org/officeDocument/2006/relationships/image" Target="../media/image38.emf"/><Relationship Id="rId4" Type="http://schemas.openxmlformats.org/officeDocument/2006/relationships/oleObject" Target="../embeddings/Microsoft_Excel_97-2003_Worksheet8.xls"/></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image" Target="../media/image40.emf"/><Relationship Id="rId5" Type="http://schemas.openxmlformats.org/officeDocument/2006/relationships/oleObject" Target="../embeddings/oleObject40.bin"/><Relationship Id="rId4" Type="http://schemas.openxmlformats.org/officeDocument/2006/relationships/image" Target="../media/image39.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1.bin"/><Relationship Id="rId7" Type="http://schemas.openxmlformats.org/officeDocument/2006/relationships/image" Target="../media/image42.emf"/><Relationship Id="rId2" Type="http://schemas.openxmlformats.org/officeDocument/2006/relationships/slideLayout" Target="../slideLayouts/slideLayout12.xml"/><Relationship Id="rId1" Type="http://schemas.openxmlformats.org/officeDocument/2006/relationships/vmlDrawing" Target="../drawings/vmlDrawing22.vml"/><Relationship Id="rId6" Type="http://schemas.openxmlformats.org/officeDocument/2006/relationships/oleObject" Target="../embeddings/Microsoft_Excel_97-2003_Worksheet9.xls"/><Relationship Id="rId5" Type="http://schemas.openxmlformats.org/officeDocument/2006/relationships/oleObject" Target="../embeddings/oleObject42.bin"/><Relationship Id="rId4" Type="http://schemas.openxmlformats.org/officeDocument/2006/relationships/image" Target="../media/image41.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6.xml"/><Relationship Id="rId1" Type="http://schemas.openxmlformats.org/officeDocument/2006/relationships/vmlDrawing" Target="../drawings/vmlDrawing23.vml"/><Relationship Id="rId4" Type="http://schemas.openxmlformats.org/officeDocument/2006/relationships/image" Target="../media/image43.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45.emf"/><Relationship Id="rId2" Type="http://schemas.openxmlformats.org/officeDocument/2006/relationships/slideLayout" Target="../slideLayouts/slideLayout1.xml"/><Relationship Id="rId1" Type="http://schemas.openxmlformats.org/officeDocument/2006/relationships/vmlDrawing" Target="../drawings/vmlDrawing24.vml"/><Relationship Id="rId6" Type="http://schemas.openxmlformats.org/officeDocument/2006/relationships/oleObject" Target="../embeddings/Microsoft_Excel_97-2003_Worksheet10.xls"/><Relationship Id="rId5" Type="http://schemas.openxmlformats.org/officeDocument/2006/relationships/oleObject" Target="../embeddings/oleObject45.bin"/><Relationship Id="rId4" Type="http://schemas.openxmlformats.org/officeDocument/2006/relationships/image" Target="../media/image44.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xml"/><Relationship Id="rId1" Type="http://schemas.openxmlformats.org/officeDocument/2006/relationships/vmlDrawing" Target="../drawings/vmlDrawing25.vml"/><Relationship Id="rId5" Type="http://schemas.openxmlformats.org/officeDocument/2006/relationships/image" Target="../media/image46.emf"/><Relationship Id="rId4" Type="http://schemas.openxmlformats.org/officeDocument/2006/relationships/oleObject" Target="../embeddings/Microsoft_Excel_97-2003_Worksheet11.xls"/></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1.xml"/><Relationship Id="rId1" Type="http://schemas.openxmlformats.org/officeDocument/2006/relationships/vmlDrawing" Target="../drawings/vmlDrawing26.vml"/><Relationship Id="rId5" Type="http://schemas.openxmlformats.org/officeDocument/2006/relationships/image" Target="../media/image47.emf"/><Relationship Id="rId4" Type="http://schemas.openxmlformats.org/officeDocument/2006/relationships/oleObject" Target="../embeddings/Microsoft_Excel_97-2003_Worksheet12.xls"/></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xml"/><Relationship Id="rId1" Type="http://schemas.openxmlformats.org/officeDocument/2006/relationships/vmlDrawing" Target="../drawings/vmlDrawing27.vml"/><Relationship Id="rId6" Type="http://schemas.openxmlformats.org/officeDocument/2006/relationships/image" Target="../media/image49.emf"/><Relationship Id="rId5" Type="http://schemas.openxmlformats.org/officeDocument/2006/relationships/oleObject" Target="../embeddings/oleObject49.bin"/><Relationship Id="rId4" Type="http://schemas.openxmlformats.org/officeDocument/2006/relationships/image" Target="../media/image48.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6.xml"/><Relationship Id="rId1" Type="http://schemas.openxmlformats.org/officeDocument/2006/relationships/vmlDrawing" Target="../drawings/vmlDrawing28.vml"/><Relationship Id="rId6" Type="http://schemas.openxmlformats.org/officeDocument/2006/relationships/image" Target="../media/image51.emf"/><Relationship Id="rId5" Type="http://schemas.openxmlformats.org/officeDocument/2006/relationships/oleObject" Target="../embeddings/oleObject51.bin"/><Relationship Id="rId4" Type="http://schemas.openxmlformats.org/officeDocument/2006/relationships/image" Target="../media/image50.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6.xml"/><Relationship Id="rId1" Type="http://schemas.openxmlformats.org/officeDocument/2006/relationships/vmlDrawing" Target="../drawings/vmlDrawing29.vml"/><Relationship Id="rId6" Type="http://schemas.openxmlformats.org/officeDocument/2006/relationships/image" Target="../media/image53.emf"/><Relationship Id="rId5" Type="http://schemas.openxmlformats.org/officeDocument/2006/relationships/oleObject" Target="../embeddings/oleObject53.bin"/><Relationship Id="rId4" Type="http://schemas.openxmlformats.org/officeDocument/2006/relationships/image" Target="../media/image52.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6.xml"/><Relationship Id="rId1" Type="http://schemas.openxmlformats.org/officeDocument/2006/relationships/vmlDrawing" Target="../drawings/vmlDrawing30.vml"/><Relationship Id="rId6" Type="http://schemas.openxmlformats.org/officeDocument/2006/relationships/image" Target="../media/image55.emf"/><Relationship Id="rId5" Type="http://schemas.openxmlformats.org/officeDocument/2006/relationships/oleObject" Target="../embeddings/oleObject55.bin"/><Relationship Id="rId4" Type="http://schemas.openxmlformats.org/officeDocument/2006/relationships/image" Target="../media/image54.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6.xml"/><Relationship Id="rId1" Type="http://schemas.openxmlformats.org/officeDocument/2006/relationships/vmlDrawing" Target="../drawings/vmlDrawing31.vml"/><Relationship Id="rId6" Type="http://schemas.openxmlformats.org/officeDocument/2006/relationships/image" Target="../media/image57.emf"/><Relationship Id="rId5" Type="http://schemas.openxmlformats.org/officeDocument/2006/relationships/oleObject" Target="../embeddings/oleObject57.bin"/><Relationship Id="rId4" Type="http://schemas.openxmlformats.org/officeDocument/2006/relationships/image" Target="../media/image56.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6.xml"/><Relationship Id="rId1" Type="http://schemas.openxmlformats.org/officeDocument/2006/relationships/vmlDrawing" Target="../drawings/vmlDrawing32.vml"/><Relationship Id="rId6" Type="http://schemas.openxmlformats.org/officeDocument/2006/relationships/image" Target="../media/image59.emf"/><Relationship Id="rId5" Type="http://schemas.openxmlformats.org/officeDocument/2006/relationships/oleObject" Target="../embeddings/oleObject59.bin"/><Relationship Id="rId4" Type="http://schemas.openxmlformats.org/officeDocument/2006/relationships/image" Target="../media/image58.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2.xml"/><Relationship Id="rId1" Type="http://schemas.openxmlformats.org/officeDocument/2006/relationships/vmlDrawing" Target="../drawings/vmlDrawing33.vml"/><Relationship Id="rId5" Type="http://schemas.openxmlformats.org/officeDocument/2006/relationships/image" Target="../media/image60.emf"/><Relationship Id="rId4" Type="http://schemas.openxmlformats.org/officeDocument/2006/relationships/oleObject" Target="../embeddings/Microsoft_Excel_97-2003_Worksheet13.xls"/></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1.xml"/><Relationship Id="rId1" Type="http://schemas.openxmlformats.org/officeDocument/2006/relationships/vmlDrawing" Target="../drawings/vmlDrawing34.vml"/><Relationship Id="rId6" Type="http://schemas.openxmlformats.org/officeDocument/2006/relationships/image" Target="../media/image62.emf"/><Relationship Id="rId5" Type="http://schemas.openxmlformats.org/officeDocument/2006/relationships/oleObject" Target="../embeddings/oleObject62.bin"/><Relationship Id="rId4" Type="http://schemas.openxmlformats.org/officeDocument/2006/relationships/image" Target="../media/image61.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1.xml"/><Relationship Id="rId1" Type="http://schemas.openxmlformats.org/officeDocument/2006/relationships/vmlDrawing" Target="../drawings/vmlDrawing35.vml"/><Relationship Id="rId5" Type="http://schemas.openxmlformats.org/officeDocument/2006/relationships/image" Target="../media/image63.emf"/><Relationship Id="rId4" Type="http://schemas.openxmlformats.org/officeDocument/2006/relationships/oleObject" Target="../embeddings/Microsoft_Excel_97-2003_Worksheet14.xls"/></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1.xml"/><Relationship Id="rId1" Type="http://schemas.openxmlformats.org/officeDocument/2006/relationships/vmlDrawing" Target="../drawings/vmlDrawing36.vml"/><Relationship Id="rId5" Type="http://schemas.openxmlformats.org/officeDocument/2006/relationships/image" Target="../media/image64.emf"/><Relationship Id="rId4" Type="http://schemas.openxmlformats.org/officeDocument/2006/relationships/oleObject" Target="../embeddings/Microsoft_Excel_97-2003_Worksheet15.xls"/></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12.xml"/><Relationship Id="rId1" Type="http://schemas.openxmlformats.org/officeDocument/2006/relationships/vmlDrawing" Target="../drawings/vmlDrawing37.vml"/><Relationship Id="rId4" Type="http://schemas.openxmlformats.org/officeDocument/2006/relationships/image" Target="../media/image65.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6.xml"/><Relationship Id="rId1" Type="http://schemas.openxmlformats.org/officeDocument/2006/relationships/vmlDrawing" Target="../drawings/vmlDrawing38.vml"/><Relationship Id="rId6" Type="http://schemas.openxmlformats.org/officeDocument/2006/relationships/image" Target="../media/image67.emf"/><Relationship Id="rId5" Type="http://schemas.openxmlformats.org/officeDocument/2006/relationships/oleObject" Target="../embeddings/oleObject67.bin"/><Relationship Id="rId4" Type="http://schemas.openxmlformats.org/officeDocument/2006/relationships/image" Target="../media/image66.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6.xml"/><Relationship Id="rId1" Type="http://schemas.openxmlformats.org/officeDocument/2006/relationships/vmlDrawing" Target="../drawings/vmlDrawing39.vml"/><Relationship Id="rId6" Type="http://schemas.openxmlformats.org/officeDocument/2006/relationships/image" Target="../media/image69.emf"/><Relationship Id="rId5" Type="http://schemas.openxmlformats.org/officeDocument/2006/relationships/oleObject" Target="../embeddings/oleObject69.bin"/><Relationship Id="rId4" Type="http://schemas.openxmlformats.org/officeDocument/2006/relationships/image" Target="../media/image68.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1.xml"/><Relationship Id="rId1" Type="http://schemas.openxmlformats.org/officeDocument/2006/relationships/vmlDrawing" Target="../drawings/vmlDrawing40.vml"/><Relationship Id="rId6" Type="http://schemas.openxmlformats.org/officeDocument/2006/relationships/image" Target="../media/image71.emf"/><Relationship Id="rId5" Type="http://schemas.openxmlformats.org/officeDocument/2006/relationships/oleObject" Target="../embeddings/oleObject71.bin"/><Relationship Id="rId4" Type="http://schemas.openxmlformats.org/officeDocument/2006/relationships/image" Target="../media/image70.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6.xml"/><Relationship Id="rId1" Type="http://schemas.openxmlformats.org/officeDocument/2006/relationships/vmlDrawing" Target="../drawings/vmlDrawing41.vml"/><Relationship Id="rId6" Type="http://schemas.openxmlformats.org/officeDocument/2006/relationships/image" Target="../media/image73.emf"/><Relationship Id="rId5" Type="http://schemas.openxmlformats.org/officeDocument/2006/relationships/oleObject" Target="../embeddings/oleObject73.bin"/><Relationship Id="rId4" Type="http://schemas.openxmlformats.org/officeDocument/2006/relationships/image" Target="../media/image72.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6.xml"/><Relationship Id="rId1" Type="http://schemas.openxmlformats.org/officeDocument/2006/relationships/vmlDrawing" Target="../drawings/vmlDrawing42.vml"/><Relationship Id="rId6" Type="http://schemas.openxmlformats.org/officeDocument/2006/relationships/image" Target="../media/image75.emf"/><Relationship Id="rId5" Type="http://schemas.openxmlformats.org/officeDocument/2006/relationships/oleObject" Target="../embeddings/oleObject75.bin"/><Relationship Id="rId4" Type="http://schemas.openxmlformats.org/officeDocument/2006/relationships/image" Target="../media/image74.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12.xml"/><Relationship Id="rId1" Type="http://schemas.openxmlformats.org/officeDocument/2006/relationships/vmlDrawing" Target="../drawings/vmlDrawing43.vml"/><Relationship Id="rId6" Type="http://schemas.openxmlformats.org/officeDocument/2006/relationships/image" Target="../media/image77.emf"/><Relationship Id="rId5" Type="http://schemas.openxmlformats.org/officeDocument/2006/relationships/oleObject" Target="../embeddings/oleObject77.bin"/><Relationship Id="rId4" Type="http://schemas.openxmlformats.org/officeDocument/2006/relationships/image" Target="../media/image76.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6.xml"/><Relationship Id="rId1" Type="http://schemas.openxmlformats.org/officeDocument/2006/relationships/vmlDrawing" Target="../drawings/vmlDrawing44.vml"/><Relationship Id="rId6" Type="http://schemas.openxmlformats.org/officeDocument/2006/relationships/image" Target="../media/image79.emf"/><Relationship Id="rId5" Type="http://schemas.openxmlformats.org/officeDocument/2006/relationships/oleObject" Target="../embeddings/oleObject79.bin"/><Relationship Id="rId4" Type="http://schemas.openxmlformats.org/officeDocument/2006/relationships/image" Target="../media/image78.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6.xml"/><Relationship Id="rId1" Type="http://schemas.openxmlformats.org/officeDocument/2006/relationships/vmlDrawing" Target="../drawings/vmlDrawing45.vml"/><Relationship Id="rId6" Type="http://schemas.openxmlformats.org/officeDocument/2006/relationships/image" Target="../media/image81.emf"/><Relationship Id="rId5" Type="http://schemas.openxmlformats.org/officeDocument/2006/relationships/oleObject" Target="../embeddings/oleObject81.bin"/><Relationship Id="rId4" Type="http://schemas.openxmlformats.org/officeDocument/2006/relationships/image" Target="../media/image80.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12.xml"/><Relationship Id="rId1" Type="http://schemas.openxmlformats.org/officeDocument/2006/relationships/vmlDrawing" Target="../drawings/vmlDrawing46.vml"/><Relationship Id="rId5" Type="http://schemas.openxmlformats.org/officeDocument/2006/relationships/image" Target="../media/image82.emf"/><Relationship Id="rId4" Type="http://schemas.openxmlformats.org/officeDocument/2006/relationships/oleObject" Target="../embeddings/Microsoft_Excel_97-2003_Worksheet16.xls"/></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12.xml"/><Relationship Id="rId1" Type="http://schemas.openxmlformats.org/officeDocument/2006/relationships/vmlDrawing" Target="../drawings/vmlDrawing47.vml"/><Relationship Id="rId4" Type="http://schemas.openxmlformats.org/officeDocument/2006/relationships/image" Target="../media/image83.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6.xml"/><Relationship Id="rId1" Type="http://schemas.openxmlformats.org/officeDocument/2006/relationships/vmlDrawing" Target="../drawings/vmlDrawing48.vml"/><Relationship Id="rId6" Type="http://schemas.openxmlformats.org/officeDocument/2006/relationships/image" Target="../media/image85.emf"/><Relationship Id="rId5" Type="http://schemas.openxmlformats.org/officeDocument/2006/relationships/oleObject" Target="../embeddings/oleObject85.bin"/><Relationship Id="rId4" Type="http://schemas.openxmlformats.org/officeDocument/2006/relationships/image" Target="../media/image84.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6.xml"/><Relationship Id="rId1" Type="http://schemas.openxmlformats.org/officeDocument/2006/relationships/vmlDrawing" Target="../drawings/vmlDrawing49.vml"/><Relationship Id="rId6" Type="http://schemas.openxmlformats.org/officeDocument/2006/relationships/image" Target="../media/image87.emf"/><Relationship Id="rId5" Type="http://schemas.openxmlformats.org/officeDocument/2006/relationships/oleObject" Target="../embeddings/oleObject87.bin"/><Relationship Id="rId4" Type="http://schemas.openxmlformats.org/officeDocument/2006/relationships/image" Target="../media/image86.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6.xml"/><Relationship Id="rId1" Type="http://schemas.openxmlformats.org/officeDocument/2006/relationships/vmlDrawing" Target="../drawings/vmlDrawing50.vml"/><Relationship Id="rId4" Type="http://schemas.openxmlformats.org/officeDocument/2006/relationships/image" Target="../media/image88.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12.xml"/><Relationship Id="rId1" Type="http://schemas.openxmlformats.org/officeDocument/2006/relationships/vmlDrawing" Target="../drawings/vmlDrawing51.vml"/><Relationship Id="rId5" Type="http://schemas.openxmlformats.org/officeDocument/2006/relationships/image" Target="../media/image89.emf"/><Relationship Id="rId4" Type="http://schemas.openxmlformats.org/officeDocument/2006/relationships/oleObject" Target="../embeddings/Microsoft_Excel_97-2003_Worksheet17.xls"/></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12.xml"/><Relationship Id="rId1" Type="http://schemas.openxmlformats.org/officeDocument/2006/relationships/vmlDrawing" Target="../drawings/vmlDrawing52.vml"/><Relationship Id="rId5" Type="http://schemas.openxmlformats.org/officeDocument/2006/relationships/image" Target="../media/image90.emf"/><Relationship Id="rId4" Type="http://schemas.openxmlformats.org/officeDocument/2006/relationships/oleObject" Target="../embeddings/Microsoft_Excel_97-2003_Worksheet18.xls"/></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12.xml"/><Relationship Id="rId1" Type="http://schemas.openxmlformats.org/officeDocument/2006/relationships/vmlDrawing" Target="../drawings/vmlDrawing53.vml"/><Relationship Id="rId4" Type="http://schemas.openxmlformats.org/officeDocument/2006/relationships/image" Target="../media/image91.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12.xml"/><Relationship Id="rId1" Type="http://schemas.openxmlformats.org/officeDocument/2006/relationships/vmlDrawing" Target="../drawings/vmlDrawing54.vml"/><Relationship Id="rId5" Type="http://schemas.openxmlformats.org/officeDocument/2006/relationships/image" Target="../media/image92.emf"/><Relationship Id="rId4" Type="http://schemas.openxmlformats.org/officeDocument/2006/relationships/oleObject" Target="../embeddings/Microsoft_Excel_97-2003_Worksheet19.xls"/></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12.xml"/><Relationship Id="rId1" Type="http://schemas.openxmlformats.org/officeDocument/2006/relationships/vmlDrawing" Target="../drawings/vmlDrawing55.vml"/><Relationship Id="rId5" Type="http://schemas.openxmlformats.org/officeDocument/2006/relationships/image" Target="../media/image93.emf"/><Relationship Id="rId4" Type="http://schemas.openxmlformats.org/officeDocument/2006/relationships/oleObject" Target="../embeddings/Microsoft_Excel_97-2003_Worksheet20.xls"/></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1.xml"/><Relationship Id="rId1" Type="http://schemas.openxmlformats.org/officeDocument/2006/relationships/vmlDrawing" Target="../drawings/vmlDrawing56.vml"/><Relationship Id="rId6" Type="http://schemas.openxmlformats.org/officeDocument/2006/relationships/image" Target="../media/image95.emf"/><Relationship Id="rId5" Type="http://schemas.openxmlformats.org/officeDocument/2006/relationships/oleObject" Target="../embeddings/oleObject95.bin"/><Relationship Id="rId4" Type="http://schemas.openxmlformats.org/officeDocument/2006/relationships/image" Target="../media/image94.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12.xml"/><Relationship Id="rId1" Type="http://schemas.openxmlformats.org/officeDocument/2006/relationships/vmlDrawing" Target="../drawings/vmlDrawing57.vml"/><Relationship Id="rId6" Type="http://schemas.openxmlformats.org/officeDocument/2006/relationships/image" Target="../media/image97.emf"/><Relationship Id="rId5" Type="http://schemas.openxmlformats.org/officeDocument/2006/relationships/oleObject" Target="../embeddings/oleObject97.bin"/><Relationship Id="rId4" Type="http://schemas.openxmlformats.org/officeDocument/2006/relationships/image" Target="../media/image96.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6.xml"/><Relationship Id="rId1" Type="http://schemas.openxmlformats.org/officeDocument/2006/relationships/vmlDrawing" Target="../drawings/vmlDrawing58.vml"/><Relationship Id="rId6" Type="http://schemas.openxmlformats.org/officeDocument/2006/relationships/image" Target="../media/image99.emf"/><Relationship Id="rId5" Type="http://schemas.openxmlformats.org/officeDocument/2006/relationships/oleObject" Target="../embeddings/oleObject99.bin"/><Relationship Id="rId4" Type="http://schemas.openxmlformats.org/officeDocument/2006/relationships/image" Target="../media/image98.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1.xml"/><Relationship Id="rId1" Type="http://schemas.openxmlformats.org/officeDocument/2006/relationships/vmlDrawing" Target="../drawings/vmlDrawing59.vml"/><Relationship Id="rId6" Type="http://schemas.openxmlformats.org/officeDocument/2006/relationships/image" Target="../media/image101.emf"/><Relationship Id="rId5" Type="http://schemas.openxmlformats.org/officeDocument/2006/relationships/oleObject" Target="../embeddings/oleObject101.bin"/><Relationship Id="rId4" Type="http://schemas.openxmlformats.org/officeDocument/2006/relationships/image" Target="../media/image100.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6.xml"/><Relationship Id="rId1" Type="http://schemas.openxmlformats.org/officeDocument/2006/relationships/vmlDrawing" Target="../drawings/vmlDrawing60.vml"/><Relationship Id="rId6" Type="http://schemas.openxmlformats.org/officeDocument/2006/relationships/image" Target="../media/image103.emf"/><Relationship Id="rId5" Type="http://schemas.openxmlformats.org/officeDocument/2006/relationships/oleObject" Target="../embeddings/oleObject103.bin"/><Relationship Id="rId4" Type="http://schemas.openxmlformats.org/officeDocument/2006/relationships/image" Target="../media/image102.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6.xml"/><Relationship Id="rId1" Type="http://schemas.openxmlformats.org/officeDocument/2006/relationships/vmlDrawing" Target="../drawings/vmlDrawing61.vml"/><Relationship Id="rId6" Type="http://schemas.openxmlformats.org/officeDocument/2006/relationships/image" Target="../media/image105.emf"/><Relationship Id="rId5" Type="http://schemas.openxmlformats.org/officeDocument/2006/relationships/oleObject" Target="../embeddings/oleObject105.bin"/><Relationship Id="rId4" Type="http://schemas.openxmlformats.org/officeDocument/2006/relationships/image" Target="../media/image104.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1.xml"/><Relationship Id="rId1" Type="http://schemas.openxmlformats.org/officeDocument/2006/relationships/vmlDrawing" Target="../drawings/vmlDrawing62.vml"/><Relationship Id="rId6" Type="http://schemas.openxmlformats.org/officeDocument/2006/relationships/image" Target="../media/image107.emf"/><Relationship Id="rId5" Type="http://schemas.openxmlformats.org/officeDocument/2006/relationships/oleObject" Target="../embeddings/oleObject107.bin"/><Relationship Id="rId4" Type="http://schemas.openxmlformats.org/officeDocument/2006/relationships/image" Target="../media/image106.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12.xml"/><Relationship Id="rId1" Type="http://schemas.openxmlformats.org/officeDocument/2006/relationships/vmlDrawing" Target="../drawings/vmlDrawing63.vml"/><Relationship Id="rId5" Type="http://schemas.openxmlformats.org/officeDocument/2006/relationships/image" Target="../media/image108.emf"/><Relationship Id="rId4" Type="http://schemas.openxmlformats.org/officeDocument/2006/relationships/oleObject" Target="../embeddings/Microsoft_Excel_97-2003_Worksheet21.xls"/></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Layout" Target="../slideLayouts/slideLayout12.xml"/><Relationship Id="rId1" Type="http://schemas.openxmlformats.org/officeDocument/2006/relationships/vmlDrawing" Target="../drawings/vmlDrawing64.vml"/><Relationship Id="rId5" Type="http://schemas.openxmlformats.org/officeDocument/2006/relationships/image" Target="../media/image109.emf"/><Relationship Id="rId4" Type="http://schemas.openxmlformats.org/officeDocument/2006/relationships/oleObject" Target="../embeddings/Microsoft_Excel_97-2003_Worksheet22.xls"/></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1.xml"/><Relationship Id="rId1" Type="http://schemas.openxmlformats.org/officeDocument/2006/relationships/vmlDrawing" Target="../drawings/vmlDrawing65.vml"/><Relationship Id="rId6" Type="http://schemas.openxmlformats.org/officeDocument/2006/relationships/image" Target="../media/image111.emf"/><Relationship Id="rId5" Type="http://schemas.openxmlformats.org/officeDocument/2006/relationships/oleObject" Target="../embeddings/oleObject111.bin"/><Relationship Id="rId4" Type="http://schemas.openxmlformats.org/officeDocument/2006/relationships/image" Target="../media/image110.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1.xml"/><Relationship Id="rId1" Type="http://schemas.openxmlformats.org/officeDocument/2006/relationships/vmlDrawing" Target="../drawings/vmlDrawing66.vml"/><Relationship Id="rId6" Type="http://schemas.openxmlformats.org/officeDocument/2006/relationships/image" Target="../media/image113.emf"/><Relationship Id="rId5" Type="http://schemas.openxmlformats.org/officeDocument/2006/relationships/oleObject" Target="../embeddings/oleObject113.bin"/><Relationship Id="rId4" Type="http://schemas.openxmlformats.org/officeDocument/2006/relationships/image" Target="../media/image112.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Layout" Target="../slideLayouts/slideLayout12.xml"/><Relationship Id="rId1" Type="http://schemas.openxmlformats.org/officeDocument/2006/relationships/vmlDrawing" Target="../drawings/vmlDrawing67.vml"/><Relationship Id="rId5" Type="http://schemas.openxmlformats.org/officeDocument/2006/relationships/image" Target="../media/image114.emf"/><Relationship Id="rId4" Type="http://schemas.openxmlformats.org/officeDocument/2006/relationships/oleObject" Target="../embeddings/Microsoft_Excel_97-2003_Worksheet23.xls"/></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Layout" Target="../slideLayouts/slideLayout12.xml"/><Relationship Id="rId1" Type="http://schemas.openxmlformats.org/officeDocument/2006/relationships/vmlDrawing" Target="../drawings/vmlDrawing68.vml"/><Relationship Id="rId5" Type="http://schemas.openxmlformats.org/officeDocument/2006/relationships/image" Target="../media/image115.emf"/><Relationship Id="rId4" Type="http://schemas.openxmlformats.org/officeDocument/2006/relationships/oleObject" Target="../embeddings/Microsoft_Excel_97-2003_Worksheet24.xls"/></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1.xml"/><Relationship Id="rId1" Type="http://schemas.openxmlformats.org/officeDocument/2006/relationships/vmlDrawing" Target="../drawings/vmlDrawing69.vml"/><Relationship Id="rId6" Type="http://schemas.openxmlformats.org/officeDocument/2006/relationships/image" Target="../media/image117.emf"/><Relationship Id="rId5" Type="http://schemas.openxmlformats.org/officeDocument/2006/relationships/oleObject" Target="../embeddings/oleObject117.bin"/><Relationship Id="rId4" Type="http://schemas.openxmlformats.org/officeDocument/2006/relationships/image" Target="../media/image116.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slideLayout" Target="../slideLayouts/slideLayout12.xml"/><Relationship Id="rId1" Type="http://schemas.openxmlformats.org/officeDocument/2006/relationships/vmlDrawing" Target="../drawings/vmlDrawing70.vml"/><Relationship Id="rId5" Type="http://schemas.openxmlformats.org/officeDocument/2006/relationships/image" Target="../media/image118.emf"/><Relationship Id="rId4" Type="http://schemas.openxmlformats.org/officeDocument/2006/relationships/oleObject" Target="../embeddings/Microsoft_Excel_97-2003_Worksheet25.xls"/></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12.xml"/><Relationship Id="rId1" Type="http://schemas.openxmlformats.org/officeDocument/2006/relationships/vmlDrawing" Target="../drawings/vmlDrawing71.vml"/><Relationship Id="rId5" Type="http://schemas.openxmlformats.org/officeDocument/2006/relationships/image" Target="../media/image119.emf"/><Relationship Id="rId4" Type="http://schemas.openxmlformats.org/officeDocument/2006/relationships/oleObject" Target="../embeddings/Microsoft_Excel_97-2003_Worksheet26.xls"/></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Layout" Target="../slideLayouts/slideLayout12.xml"/><Relationship Id="rId1" Type="http://schemas.openxmlformats.org/officeDocument/2006/relationships/vmlDrawing" Target="../drawings/vmlDrawing72.vml"/><Relationship Id="rId6" Type="http://schemas.openxmlformats.org/officeDocument/2006/relationships/image" Target="../media/image121.emf"/><Relationship Id="rId5" Type="http://schemas.openxmlformats.org/officeDocument/2006/relationships/oleObject" Target="../embeddings/oleObject121.bin"/><Relationship Id="rId4" Type="http://schemas.openxmlformats.org/officeDocument/2006/relationships/image" Target="../media/image120.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22.bin"/><Relationship Id="rId2" Type="http://schemas.openxmlformats.org/officeDocument/2006/relationships/slideLayout" Target="../slideLayouts/slideLayout6.xml"/><Relationship Id="rId1" Type="http://schemas.openxmlformats.org/officeDocument/2006/relationships/vmlDrawing" Target="../drawings/vmlDrawing73.vml"/><Relationship Id="rId6" Type="http://schemas.openxmlformats.org/officeDocument/2006/relationships/image" Target="../media/image123.emf"/><Relationship Id="rId5" Type="http://schemas.openxmlformats.org/officeDocument/2006/relationships/oleObject" Target="../embeddings/oleObject123.bin"/><Relationship Id="rId4" Type="http://schemas.openxmlformats.org/officeDocument/2006/relationships/image" Target="../media/image122.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slideLayout" Target="../slideLayouts/slideLayout6.xml"/><Relationship Id="rId1" Type="http://schemas.openxmlformats.org/officeDocument/2006/relationships/vmlDrawing" Target="../drawings/vmlDrawing74.vml"/><Relationship Id="rId6" Type="http://schemas.openxmlformats.org/officeDocument/2006/relationships/image" Target="../media/image125.emf"/><Relationship Id="rId5" Type="http://schemas.openxmlformats.org/officeDocument/2006/relationships/oleObject" Target="../embeddings/oleObject125.bin"/><Relationship Id="rId4" Type="http://schemas.openxmlformats.org/officeDocument/2006/relationships/image" Target="../media/image124.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4754" name="Rectangle 2"/>
          <p:cNvSpPr>
            <a:spLocks noChangeArrowheads="1"/>
          </p:cNvSpPr>
          <p:nvPr/>
        </p:nvSpPr>
        <p:spPr bwMode="auto">
          <a:xfrm>
            <a:off x="5029200" y="2867025"/>
            <a:ext cx="3810000" cy="1933575"/>
          </a:xfrm>
          <a:prstGeom prst="rect">
            <a:avLst/>
          </a:prstGeom>
          <a:solidFill>
            <a:schemeClr val="bg1"/>
          </a:solidFill>
          <a:ln w="9525">
            <a:solidFill>
              <a:srgbClr val="0099FF"/>
            </a:solidFill>
            <a:miter lim="800000"/>
            <a:headEnd/>
            <a:tailEnd/>
          </a:ln>
          <a:effectLst>
            <a:outerShdw dist="107763" dir="2700000" algn="ctr" rotWithShape="0">
              <a:srgbClr val="808080"/>
            </a:outerShdw>
          </a:effectLst>
        </p:spPr>
        <p:txBody>
          <a:bodyPr/>
          <a:lstStyle/>
          <a:p>
            <a:endParaRPr kumimoji="0" lang="es-ES_tradnl" altLang="es-CL" sz="1600">
              <a:solidFill>
                <a:schemeClr val="accent1"/>
              </a:solidFill>
            </a:endParaRPr>
          </a:p>
          <a:p>
            <a:r>
              <a:rPr kumimoji="0" lang="es-ES_tradnl" altLang="es-CL" sz="1600">
                <a:solidFill>
                  <a:schemeClr val="accent1"/>
                </a:solidFill>
              </a:rPr>
              <a:t>Resultados del Estudio</a:t>
            </a:r>
          </a:p>
          <a:p>
            <a:endParaRPr kumimoji="0" lang="es-ES_tradnl" altLang="es-CL" sz="1600">
              <a:solidFill>
                <a:schemeClr val="accent1"/>
              </a:solidFill>
            </a:endParaRPr>
          </a:p>
          <a:p>
            <a:r>
              <a:rPr kumimoji="0" lang="es-ES_tradnl" altLang="es-CL" sz="2400" b="1">
                <a:solidFill>
                  <a:srgbClr val="000099"/>
                </a:solidFill>
              </a:rPr>
              <a:t>Calidad del Servicio Policial de Carabineros</a:t>
            </a:r>
          </a:p>
          <a:p>
            <a:endParaRPr kumimoji="0" lang="es-ES_tradnl" altLang="es-CL" sz="2400" b="1">
              <a:solidFill>
                <a:srgbClr val="000099"/>
              </a:solidFill>
            </a:endParaRPr>
          </a:p>
        </p:txBody>
      </p:sp>
      <p:sp>
        <p:nvSpPr>
          <p:cNvPr id="1994755" name="Rectangle 3"/>
          <p:cNvSpPr>
            <a:spLocks noChangeArrowheads="1"/>
          </p:cNvSpPr>
          <p:nvPr/>
        </p:nvSpPr>
        <p:spPr bwMode="auto">
          <a:xfrm>
            <a:off x="971550" y="1990725"/>
            <a:ext cx="3184525" cy="304800"/>
          </a:xfrm>
          <a:prstGeom prst="rect">
            <a:avLst/>
          </a:prstGeom>
          <a:solidFill>
            <a:srgbClr val="000099"/>
          </a:solidFill>
          <a:ln w="9525">
            <a:solidFill>
              <a:schemeClr val="hlink"/>
            </a:solidFill>
            <a:miter lim="800000"/>
            <a:headEnd/>
            <a:tailEnd/>
          </a:ln>
          <a:effectLst>
            <a:outerShdw dist="107763" dir="2700000" algn="ctr" rotWithShape="0">
              <a:srgbClr val="808080"/>
            </a:outerShdw>
          </a:effectLst>
        </p:spPr>
        <p:txBody>
          <a:bodyPr wrap="none"/>
          <a:lstStyle/>
          <a:p>
            <a:r>
              <a:rPr kumimoji="0" lang="es-ES_tradnl" altLang="es-CL" sz="1400" b="1">
                <a:solidFill>
                  <a:schemeClr val="bg1"/>
                </a:solidFill>
              </a:rPr>
              <a:t>Calidad del Servicio Policial de Carabineros</a:t>
            </a:r>
          </a:p>
        </p:txBody>
      </p:sp>
      <p:sp>
        <p:nvSpPr>
          <p:cNvPr id="1994756" name="Rectangle 4"/>
          <p:cNvSpPr>
            <a:spLocks noChangeArrowheads="1"/>
          </p:cNvSpPr>
          <p:nvPr/>
        </p:nvSpPr>
        <p:spPr bwMode="auto">
          <a:xfrm>
            <a:off x="990600" y="1219200"/>
            <a:ext cx="3184525" cy="314325"/>
          </a:xfrm>
          <a:prstGeom prst="rect">
            <a:avLst/>
          </a:prstGeom>
          <a:solidFill>
            <a:schemeClr val="bg1"/>
          </a:solidFill>
          <a:ln w="9525">
            <a:solidFill>
              <a:srgbClr val="0099FF"/>
            </a:solidFill>
            <a:miter lim="800000"/>
            <a:headEnd/>
            <a:tailEnd/>
          </a:ln>
          <a:effectLst>
            <a:outerShdw dist="107763" dir="2700000" algn="ctr" rotWithShape="0">
              <a:srgbClr val="808080"/>
            </a:outerShdw>
          </a:effectLst>
        </p:spPr>
        <p:txBody>
          <a:bodyPr wrap="none"/>
          <a:lstStyle/>
          <a:p>
            <a:r>
              <a:rPr kumimoji="0" lang="es-ES_tradnl" altLang="es-CL" sz="1400" b="1"/>
              <a:t>Percepción General y Victimización</a:t>
            </a:r>
          </a:p>
        </p:txBody>
      </p:sp>
      <p:sp>
        <p:nvSpPr>
          <p:cNvPr id="1994757" name="Rectangle 5"/>
          <p:cNvSpPr>
            <a:spLocks noChangeArrowheads="1"/>
          </p:cNvSpPr>
          <p:nvPr/>
        </p:nvSpPr>
        <p:spPr bwMode="auto">
          <a:xfrm>
            <a:off x="971550" y="2752725"/>
            <a:ext cx="3184525" cy="304800"/>
          </a:xfrm>
          <a:prstGeom prst="rect">
            <a:avLst/>
          </a:prstGeom>
          <a:solidFill>
            <a:schemeClr val="bg1"/>
          </a:solidFill>
          <a:ln w="9525">
            <a:solidFill>
              <a:srgbClr val="0099FF"/>
            </a:solidFill>
            <a:miter lim="800000"/>
            <a:headEnd/>
            <a:tailEnd/>
          </a:ln>
          <a:effectLst>
            <a:outerShdw dist="107763" dir="2700000" algn="ctr" rotWithShape="0">
              <a:srgbClr val="808080"/>
            </a:outerShdw>
          </a:effectLst>
        </p:spPr>
        <p:txBody>
          <a:bodyPr wrap="none"/>
          <a:lstStyle/>
          <a:p>
            <a:r>
              <a:rPr kumimoji="0" lang="es-ES_tradnl" altLang="es-CL" sz="1400" b="1"/>
              <a:t>Confianza y Probidad</a:t>
            </a:r>
          </a:p>
        </p:txBody>
      </p:sp>
      <p:sp>
        <p:nvSpPr>
          <p:cNvPr id="1994758" name="Rectangle 6"/>
          <p:cNvSpPr>
            <a:spLocks noChangeArrowheads="1"/>
          </p:cNvSpPr>
          <p:nvPr/>
        </p:nvSpPr>
        <p:spPr bwMode="auto">
          <a:xfrm>
            <a:off x="971550" y="3514725"/>
            <a:ext cx="3184525" cy="304800"/>
          </a:xfrm>
          <a:prstGeom prst="rect">
            <a:avLst/>
          </a:prstGeom>
          <a:solidFill>
            <a:schemeClr val="bg1"/>
          </a:solidFill>
          <a:ln w="9525">
            <a:solidFill>
              <a:srgbClr val="0099FF"/>
            </a:solidFill>
            <a:miter lim="800000"/>
            <a:headEnd/>
            <a:tailEnd/>
          </a:ln>
          <a:effectLst>
            <a:outerShdw dist="107763" dir="2700000" algn="ctr" rotWithShape="0">
              <a:srgbClr val="808080"/>
            </a:outerShdw>
          </a:effectLst>
        </p:spPr>
        <p:txBody>
          <a:bodyPr wrap="none"/>
          <a:lstStyle/>
          <a:p>
            <a:r>
              <a:rPr kumimoji="0" lang="es-ES_tradnl" altLang="es-CL" sz="1400" b="1"/>
              <a:t>Interacción con la Comunidad</a:t>
            </a:r>
          </a:p>
        </p:txBody>
      </p:sp>
      <p:cxnSp>
        <p:nvCxnSpPr>
          <p:cNvPr id="1994759" name="AutoShape 7"/>
          <p:cNvCxnSpPr>
            <a:cxnSpLocks noChangeShapeType="1"/>
          </p:cNvCxnSpPr>
          <p:nvPr/>
        </p:nvCxnSpPr>
        <p:spPr bwMode="auto">
          <a:xfrm>
            <a:off x="4156075" y="2114550"/>
            <a:ext cx="873125" cy="1528763"/>
          </a:xfrm>
          <a:prstGeom prst="bentConnector3">
            <a:avLst>
              <a:gd name="adj1" fmla="val 50000"/>
            </a:avLst>
          </a:prstGeom>
          <a:noFill/>
          <a:ln w="9525">
            <a:solidFill>
              <a:srgbClr val="6699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94760" name="Rectangle 8"/>
          <p:cNvSpPr>
            <a:spLocks noChangeArrowheads="1"/>
          </p:cNvSpPr>
          <p:nvPr/>
        </p:nvSpPr>
        <p:spPr bwMode="auto">
          <a:xfrm>
            <a:off x="971550" y="4276725"/>
            <a:ext cx="3184525" cy="304800"/>
          </a:xfrm>
          <a:prstGeom prst="rect">
            <a:avLst/>
          </a:prstGeom>
          <a:solidFill>
            <a:schemeClr val="bg1"/>
          </a:solidFill>
          <a:ln w="9525">
            <a:solidFill>
              <a:srgbClr val="0099FF"/>
            </a:solidFill>
            <a:miter lim="800000"/>
            <a:headEnd/>
            <a:tailEnd/>
          </a:ln>
          <a:effectLst>
            <a:outerShdw dist="107763" dir="2700000" algn="ctr" rotWithShape="0">
              <a:srgbClr val="808080"/>
            </a:outerShdw>
          </a:effectLst>
        </p:spPr>
        <p:txBody>
          <a:bodyPr wrap="none"/>
          <a:lstStyle/>
          <a:p>
            <a:r>
              <a:rPr kumimoji="0" lang="es-ES_tradnl" altLang="es-CL" sz="1400" b="1"/>
              <a:t>Acciones de Prevención: Plan Cuadrante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994754"/>
                                        </p:tgtEl>
                                        <p:attrNameLst>
                                          <p:attrName>style.visibility</p:attrName>
                                        </p:attrNameLst>
                                      </p:cBhvr>
                                      <p:to>
                                        <p:strVal val="visible"/>
                                      </p:to>
                                    </p:set>
                                    <p:anim calcmode="lin" valueType="num">
                                      <p:cBhvr additive="base">
                                        <p:cTn id="7" dur="500" fill="hold"/>
                                        <p:tgtEl>
                                          <p:spTgt spid="1994754"/>
                                        </p:tgtEl>
                                        <p:attrNameLst>
                                          <p:attrName>ppt_x</p:attrName>
                                        </p:attrNameLst>
                                      </p:cBhvr>
                                      <p:tavLst>
                                        <p:tav tm="0">
                                          <p:val>
                                            <p:strVal val="#ppt_x"/>
                                          </p:val>
                                        </p:tav>
                                        <p:tav tm="100000">
                                          <p:val>
                                            <p:strVal val="#ppt_x"/>
                                          </p:val>
                                        </p:tav>
                                      </p:tavLst>
                                    </p:anim>
                                    <p:anim calcmode="lin" valueType="num">
                                      <p:cBhvr additive="base">
                                        <p:cTn id="8" dur="500" fill="hold"/>
                                        <p:tgtEl>
                                          <p:spTgt spid="199475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4754" grpId="0" animBg="1"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65062" name="Object 6"/>
          <p:cNvGraphicFramePr>
            <a:graphicFrameLocks noChangeAspect="1"/>
          </p:cNvGraphicFramePr>
          <p:nvPr/>
        </p:nvGraphicFramePr>
        <p:xfrm>
          <a:off x="-36513" y="1341438"/>
          <a:ext cx="8936038" cy="5122862"/>
        </p:xfrm>
        <a:graphic>
          <a:graphicData uri="http://schemas.openxmlformats.org/presentationml/2006/ole">
            <mc:AlternateContent xmlns:mc="http://schemas.openxmlformats.org/markup-compatibility/2006">
              <mc:Choice xmlns:v="urn:schemas-microsoft-com:vml" Requires="v">
                <p:oleObj spid="_x0000_s1965079" name="Gráfico" r:id="rId3" imgW="6238951" imgH="3571951" progId="MSGraph.Chart.8">
                  <p:embed followColorScheme="full"/>
                </p:oleObj>
              </mc:Choice>
              <mc:Fallback>
                <p:oleObj name="Gráfico" r:id="rId3" imgW="6238951" imgH="3571951" progId="MSGraph.Chart.8">
                  <p:embed followColorScheme="full"/>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13" y="1341438"/>
                        <a:ext cx="8936038" cy="5122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65063" name="Rectangle 7"/>
          <p:cNvSpPr>
            <a:spLocks noChangeArrowheads="1"/>
          </p:cNvSpPr>
          <p:nvPr/>
        </p:nvSpPr>
        <p:spPr bwMode="auto">
          <a:xfrm>
            <a:off x="4479925" y="3260725"/>
            <a:ext cx="1841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endParaRPr lang="es-ES" altLang="es-CL" sz="1600" b="1">
              <a:solidFill>
                <a:srgbClr val="FF9900"/>
              </a:solidFill>
            </a:endParaRPr>
          </a:p>
        </p:txBody>
      </p:sp>
      <p:sp>
        <p:nvSpPr>
          <p:cNvPr id="1965064" name="Rectangle 8"/>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1965065" name="Rectangle 9"/>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400" b="1">
                <a:solidFill>
                  <a:srgbClr val="FF9900"/>
                </a:solidFill>
                <a:latin typeface="Arial Narrow" pitchFamily="34" charset="0"/>
              </a:rPr>
              <a:t>EVALUACIÓN DE INSTITUCIONES EN SEGURIDAD CIUDADANA</a:t>
            </a:r>
            <a:endParaRPr lang="es-ES" altLang="es-CL" sz="1400" b="1">
              <a:solidFill>
                <a:srgbClr val="FF9900"/>
              </a:solidFill>
              <a:latin typeface="Arial Narrow" pitchFamily="34" charset="0"/>
            </a:endParaRPr>
          </a:p>
        </p:txBody>
      </p:sp>
      <p:sp>
        <p:nvSpPr>
          <p:cNvPr id="1965066" name="Rectangle 10"/>
          <p:cNvSpPr>
            <a:spLocks noChangeArrowheads="1"/>
          </p:cNvSpPr>
          <p:nvPr/>
        </p:nvSpPr>
        <p:spPr bwMode="auto">
          <a:xfrm>
            <a:off x="609600" y="914400"/>
            <a:ext cx="8012113"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evalúa usted el desempeño de los siguientes organismos e instituciones en el tema de la seguridad ciudadana? </a:t>
            </a:r>
            <a:r>
              <a:rPr lang="es-ES_tradnl" altLang="es-CL" sz="1200">
                <a:solidFill>
                  <a:srgbClr val="000099"/>
                </a:solidFill>
                <a:latin typeface="Arial Narrow" pitchFamily="34" charset="0"/>
              </a:rPr>
              <a:t>(B:6048)</a:t>
            </a:r>
            <a:endParaRPr lang="es-ES" altLang="es-CL" sz="1200">
              <a:solidFill>
                <a:srgbClr val="000099"/>
              </a:solidFill>
              <a:latin typeface="Arial Narrow" pitchFamily="34" charset="0"/>
            </a:endParaRPr>
          </a:p>
          <a:p>
            <a:pPr algn="ctr"/>
            <a:endParaRPr lang="es-ES_tradnl" altLang="es-CL" sz="1600">
              <a:solidFill>
                <a:srgbClr val="333399"/>
              </a:solidFill>
              <a:latin typeface="Verdana" pitchFamily="34" charset="0"/>
            </a:endParaRPr>
          </a:p>
        </p:txBody>
      </p:sp>
      <p:graphicFrame>
        <p:nvGraphicFramePr>
          <p:cNvPr id="1965068" name="Object 12"/>
          <p:cNvGraphicFramePr>
            <a:graphicFrameLocks noChangeAspect="1"/>
          </p:cNvGraphicFramePr>
          <p:nvPr/>
        </p:nvGraphicFramePr>
        <p:xfrm>
          <a:off x="581025" y="5065713"/>
          <a:ext cx="8316913" cy="987425"/>
        </p:xfrm>
        <a:graphic>
          <a:graphicData uri="http://schemas.openxmlformats.org/presentationml/2006/ole">
            <mc:AlternateContent xmlns:mc="http://schemas.openxmlformats.org/markup-compatibility/2006">
              <mc:Choice xmlns:v="urn:schemas-microsoft-com:vml" Requires="v">
                <p:oleObj spid="_x0000_s1965080" name="Hoja de cálculo" r:id="rId6" imgW="6972300" imgH="838200" progId="Excel.Sheet.8">
                  <p:embed/>
                </p:oleObj>
              </mc:Choice>
              <mc:Fallback>
                <p:oleObj name="Hoja de cálculo" r:id="rId6" imgW="6972300" imgH="838200" progId="Excel.Sheet.8">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1025" y="5065713"/>
                        <a:ext cx="8316913" cy="98742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965072" name="Group 16"/>
          <p:cNvGrpSpPr>
            <a:grpSpLocks/>
          </p:cNvGrpSpPr>
          <p:nvPr/>
        </p:nvGrpSpPr>
        <p:grpSpPr bwMode="auto">
          <a:xfrm>
            <a:off x="5651500" y="6237288"/>
            <a:ext cx="2952750" cy="563562"/>
            <a:chOff x="3560" y="3838"/>
            <a:chExt cx="1860" cy="355"/>
          </a:xfrm>
        </p:grpSpPr>
        <p:sp>
          <p:nvSpPr>
            <p:cNvPr id="1965073" name="Rectangle 17"/>
            <p:cNvSpPr>
              <a:spLocks noChangeArrowheads="1"/>
            </p:cNvSpPr>
            <p:nvPr/>
          </p:nvSpPr>
          <p:spPr bwMode="auto">
            <a:xfrm>
              <a:off x="3560" y="4020"/>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1965074" name="Text Box 18"/>
            <p:cNvSpPr txBox="1">
              <a:spLocks noChangeArrowheads="1"/>
            </p:cNvSpPr>
            <p:nvPr/>
          </p:nvSpPr>
          <p:spPr bwMode="auto">
            <a:xfrm>
              <a:off x="3780" y="4020"/>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1965075" name="Rectangle 19"/>
            <p:cNvSpPr>
              <a:spLocks noChangeArrowheads="1"/>
            </p:cNvSpPr>
            <p:nvPr/>
          </p:nvSpPr>
          <p:spPr bwMode="auto">
            <a:xfrm>
              <a:off x="3560" y="3838"/>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1965076" name="Text Box 20"/>
            <p:cNvSpPr txBox="1">
              <a:spLocks noChangeArrowheads="1"/>
            </p:cNvSpPr>
            <p:nvPr/>
          </p:nvSpPr>
          <p:spPr bwMode="auto">
            <a:xfrm>
              <a:off x="3780" y="3838"/>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03" name="Rectangle 3"/>
          <p:cNvSpPr>
            <a:spLocks noChangeArrowheads="1"/>
          </p:cNvSpPr>
          <p:nvPr/>
        </p:nvSpPr>
        <p:spPr bwMode="auto">
          <a:xfrm>
            <a:off x="4479925" y="3260725"/>
            <a:ext cx="1841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endParaRPr lang="es-ES" altLang="es-CL" sz="1600" b="1">
              <a:solidFill>
                <a:srgbClr val="FF9900"/>
              </a:solidFill>
            </a:endParaRPr>
          </a:p>
        </p:txBody>
      </p:sp>
      <p:sp>
        <p:nvSpPr>
          <p:cNvPr id="1996804"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1996805" name="Rectangle 5"/>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400" b="1">
                <a:solidFill>
                  <a:srgbClr val="FF9900"/>
                </a:solidFill>
                <a:latin typeface="Arial Narrow" pitchFamily="34" charset="0"/>
              </a:rPr>
              <a:t>EVALUACIÓN DE INSTITUCIONES EN SEGURIDAD CIUDADANA 2003</a:t>
            </a:r>
            <a:endParaRPr lang="es-ES" altLang="es-CL" sz="1400" b="1">
              <a:solidFill>
                <a:srgbClr val="FF9900"/>
              </a:solidFill>
              <a:latin typeface="Arial Narrow" pitchFamily="34" charset="0"/>
            </a:endParaRPr>
          </a:p>
        </p:txBody>
      </p:sp>
      <p:sp>
        <p:nvSpPr>
          <p:cNvPr id="1996806" name="Rectangle 6"/>
          <p:cNvSpPr>
            <a:spLocks noChangeArrowheads="1"/>
          </p:cNvSpPr>
          <p:nvPr/>
        </p:nvSpPr>
        <p:spPr bwMode="auto">
          <a:xfrm>
            <a:off x="609600" y="914400"/>
            <a:ext cx="8012113"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evalúa usted el desempeño de los siguientes organismos e instituciones en el tema de la seguridad ciudadana? % Evaluación Neta, según Prefectura </a:t>
            </a:r>
            <a:endParaRPr lang="es-ES_tradnl" altLang="es-CL" sz="1600">
              <a:solidFill>
                <a:srgbClr val="333399"/>
              </a:solidFill>
              <a:latin typeface="Verdana" pitchFamily="34" charset="0"/>
            </a:endParaRPr>
          </a:p>
        </p:txBody>
      </p:sp>
      <p:graphicFrame>
        <p:nvGraphicFramePr>
          <p:cNvPr id="1996809" name="Object 9"/>
          <p:cNvGraphicFramePr>
            <a:graphicFrameLocks noChangeAspect="1"/>
          </p:cNvGraphicFramePr>
          <p:nvPr/>
        </p:nvGraphicFramePr>
        <p:xfrm>
          <a:off x="684213" y="1651000"/>
          <a:ext cx="8208962" cy="3433763"/>
        </p:xfrm>
        <a:graphic>
          <a:graphicData uri="http://schemas.openxmlformats.org/presentationml/2006/ole">
            <mc:AlternateContent xmlns:mc="http://schemas.openxmlformats.org/markup-compatibility/2006">
              <mc:Choice xmlns:v="urn:schemas-microsoft-com:vml" Requires="v">
                <p:oleObj spid="_x0000_s1996811" name="Hoja de cálculo" r:id="rId4" imgW="6781953" imgH="2837529" progId="Excel.Sheet.8">
                  <p:embed/>
                </p:oleObj>
              </mc:Choice>
              <mc:Fallback>
                <p:oleObj name="Hoja de cálculo" r:id="rId4" imgW="6781953" imgH="2837529" progId="Excel.Sheet.8">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651000"/>
                        <a:ext cx="8208962" cy="3433763"/>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2" name="Rectangle 2060"/>
          <p:cNvSpPr>
            <a:spLocks noChangeArrowheads="1"/>
          </p:cNvSpPr>
          <p:nvPr/>
        </p:nvSpPr>
        <p:spPr bwMode="auto">
          <a:xfrm>
            <a:off x="609600" y="914400"/>
            <a:ext cx="8012113"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333399"/>
                </a:solidFill>
                <a:latin typeface="Arial Narrow" pitchFamily="34" charset="0"/>
              </a:rPr>
              <a:t>¿Cómo evalúa usted el desempeño de los siguientes organismos e instituciones en el tema de la seguridad ciudadana? </a:t>
            </a:r>
            <a:r>
              <a:rPr lang="es-ES_tradnl" altLang="es-CL" sz="1200">
                <a:solidFill>
                  <a:srgbClr val="000099"/>
                </a:solidFill>
                <a:latin typeface="Arial Narrow" pitchFamily="34" charset="0"/>
              </a:rPr>
              <a:t>% Evaluación Neta, según Prefectura </a:t>
            </a:r>
          </a:p>
        </p:txBody>
      </p:sp>
      <p:sp>
        <p:nvSpPr>
          <p:cNvPr id="1966090" name="Rectangle 2058"/>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1966091" name="Rectangle 2059"/>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400" b="1">
                <a:solidFill>
                  <a:srgbClr val="FF9900"/>
                </a:solidFill>
                <a:latin typeface="Arial Narrow" pitchFamily="34" charset="0"/>
              </a:rPr>
              <a:t>EVALUACIÓN DE INSTITUCIONES EN SEGURIDAD CIUDADANA 2005</a:t>
            </a:r>
            <a:endParaRPr lang="es-ES" altLang="es-CL" sz="1400" b="1">
              <a:solidFill>
                <a:srgbClr val="FF9900"/>
              </a:solidFill>
              <a:latin typeface="Arial Narrow" pitchFamily="34" charset="0"/>
            </a:endParaRPr>
          </a:p>
        </p:txBody>
      </p:sp>
      <p:grpSp>
        <p:nvGrpSpPr>
          <p:cNvPr id="1966099" name="Group 2067"/>
          <p:cNvGrpSpPr>
            <a:grpSpLocks/>
          </p:cNvGrpSpPr>
          <p:nvPr/>
        </p:nvGrpSpPr>
        <p:grpSpPr bwMode="auto">
          <a:xfrm>
            <a:off x="5651500" y="5949950"/>
            <a:ext cx="2952750" cy="563563"/>
            <a:chOff x="3560" y="3838"/>
            <a:chExt cx="1860" cy="355"/>
          </a:xfrm>
        </p:grpSpPr>
        <p:sp>
          <p:nvSpPr>
            <p:cNvPr id="1966100" name="Rectangle 2068"/>
            <p:cNvSpPr>
              <a:spLocks noChangeArrowheads="1"/>
            </p:cNvSpPr>
            <p:nvPr/>
          </p:nvSpPr>
          <p:spPr bwMode="auto">
            <a:xfrm>
              <a:off x="3560" y="4020"/>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1966101" name="Text Box 2069"/>
            <p:cNvSpPr txBox="1">
              <a:spLocks noChangeArrowheads="1"/>
            </p:cNvSpPr>
            <p:nvPr/>
          </p:nvSpPr>
          <p:spPr bwMode="auto">
            <a:xfrm>
              <a:off x="3780" y="4020"/>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1966102" name="Rectangle 2070"/>
            <p:cNvSpPr>
              <a:spLocks noChangeArrowheads="1"/>
            </p:cNvSpPr>
            <p:nvPr/>
          </p:nvSpPr>
          <p:spPr bwMode="auto">
            <a:xfrm>
              <a:off x="3560" y="3838"/>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1966103" name="Text Box 2071"/>
            <p:cNvSpPr txBox="1">
              <a:spLocks noChangeArrowheads="1"/>
            </p:cNvSpPr>
            <p:nvPr/>
          </p:nvSpPr>
          <p:spPr bwMode="auto">
            <a:xfrm>
              <a:off x="3780" y="3838"/>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graphicFrame>
        <p:nvGraphicFramePr>
          <p:cNvPr id="1966104" name="Object 2072"/>
          <p:cNvGraphicFramePr>
            <a:graphicFrameLocks noChangeAspect="1"/>
          </p:cNvGraphicFramePr>
          <p:nvPr/>
        </p:nvGraphicFramePr>
        <p:xfrm>
          <a:off x="682625" y="1625600"/>
          <a:ext cx="7967663" cy="3584575"/>
        </p:xfrm>
        <a:graphic>
          <a:graphicData uri="http://schemas.openxmlformats.org/presentationml/2006/ole">
            <mc:AlternateContent xmlns:mc="http://schemas.openxmlformats.org/markup-compatibility/2006">
              <mc:Choice xmlns:v="urn:schemas-microsoft-com:vml" Requires="v">
                <p:oleObj spid="_x0000_s1966106" name="Hoja de cálculo" r:id="rId4" imgW="6848551" imgH="3086100" progId="Excel.Sheet.8">
                  <p:embed/>
                </p:oleObj>
              </mc:Choice>
              <mc:Fallback>
                <p:oleObj name="Hoja de cálculo" r:id="rId4" imgW="6848551" imgH="3086100" progId="Excel.Sheet.8">
                  <p:embed/>
                  <p:pic>
                    <p:nvPicPr>
                      <p:cNvPr id="0" name="Object 20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625" y="1625600"/>
                        <a:ext cx="7967663" cy="358457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7116" name="Rectangle 12"/>
          <p:cNvSpPr>
            <a:spLocks noChangeArrowheads="1"/>
          </p:cNvSpPr>
          <p:nvPr/>
        </p:nvSpPr>
        <p:spPr bwMode="auto">
          <a:xfrm>
            <a:off x="609600" y="914400"/>
            <a:ext cx="8012113"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333399"/>
                </a:solidFill>
                <a:latin typeface="Arial Narrow" pitchFamily="34" charset="0"/>
              </a:rPr>
              <a:t>¿Cómo evalúa usted el desempeño de los siguientes organismos e instituciones en el tema de la seguridad ciudadana? </a:t>
            </a:r>
            <a:r>
              <a:rPr lang="es-ES_tradnl" altLang="es-CL" sz="1200">
                <a:solidFill>
                  <a:srgbClr val="000099"/>
                </a:solidFill>
                <a:latin typeface="Arial Narrow" pitchFamily="34" charset="0"/>
              </a:rPr>
              <a:t>% Evaluación Neta, según GSE, Sexo y Tramo Etareo</a:t>
            </a:r>
          </a:p>
        </p:txBody>
      </p:sp>
      <p:sp>
        <p:nvSpPr>
          <p:cNvPr id="1967114" name="Rectangle 10"/>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1967115" name="Rectangle 11"/>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400" b="1">
                <a:solidFill>
                  <a:srgbClr val="FF9900"/>
                </a:solidFill>
                <a:latin typeface="Arial Narrow" pitchFamily="34" charset="0"/>
              </a:rPr>
              <a:t>EVALUACIÓN DE INSTITUCIONES EN SEGURIDAD CIUDADANA</a:t>
            </a:r>
            <a:endParaRPr lang="es-ES" altLang="es-CL" sz="1400" b="1">
              <a:solidFill>
                <a:srgbClr val="FF9900"/>
              </a:solidFill>
              <a:latin typeface="Arial Narrow" pitchFamily="34" charset="0"/>
            </a:endParaRPr>
          </a:p>
        </p:txBody>
      </p:sp>
      <p:graphicFrame>
        <p:nvGraphicFramePr>
          <p:cNvPr id="1967118" name="Object 14"/>
          <p:cNvGraphicFramePr>
            <a:graphicFrameLocks noChangeAspect="1"/>
          </p:cNvGraphicFramePr>
          <p:nvPr/>
        </p:nvGraphicFramePr>
        <p:xfrm>
          <a:off x="539750" y="1858963"/>
          <a:ext cx="8424863" cy="3730625"/>
        </p:xfrm>
        <a:graphic>
          <a:graphicData uri="http://schemas.openxmlformats.org/presentationml/2006/ole">
            <mc:AlternateContent xmlns:mc="http://schemas.openxmlformats.org/markup-compatibility/2006">
              <mc:Choice xmlns:v="urn:schemas-microsoft-com:vml" Requires="v">
                <p:oleObj spid="_x0000_s1967120" name="Hoja de cálculo" r:id="rId4" imgW="6781953" imgH="3003637" progId="Excel.Sheet.8">
                  <p:embed/>
                </p:oleObj>
              </mc:Choice>
              <mc:Fallback>
                <p:oleObj name="Hoja de cálculo" r:id="rId4" imgW="6781953" imgH="3003637" progId="Excel.Sheet.8">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1858963"/>
                        <a:ext cx="8424863" cy="373062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2713" name="Rectangle 9"/>
          <p:cNvSpPr>
            <a:spLocks noChangeArrowheads="1"/>
          </p:cNvSpPr>
          <p:nvPr/>
        </p:nvSpPr>
        <p:spPr bwMode="auto">
          <a:xfrm>
            <a:off x="609600" y="914400"/>
            <a:ext cx="8012113"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333399"/>
                </a:solidFill>
                <a:latin typeface="Arial Narrow" pitchFamily="34" charset="0"/>
              </a:rPr>
              <a:t>¿Cómo evalúa usted el desempeño de Carabineros de Chile en el tema de la seguridad ciudadana? Según Contacto con Carabineros </a:t>
            </a:r>
            <a:endParaRPr lang="es-ES" altLang="es-CL" sz="1400">
              <a:solidFill>
                <a:srgbClr val="333399"/>
              </a:solidFill>
              <a:latin typeface="Arial Narrow" pitchFamily="34" charset="0"/>
            </a:endParaRPr>
          </a:p>
          <a:p>
            <a:pPr algn="ctr"/>
            <a:endParaRPr lang="es-ES_tradnl" altLang="es-CL" sz="1600">
              <a:solidFill>
                <a:srgbClr val="333399"/>
              </a:solidFill>
              <a:latin typeface="Verdana" pitchFamily="34" charset="0"/>
            </a:endParaRPr>
          </a:p>
        </p:txBody>
      </p:sp>
      <p:graphicFrame>
        <p:nvGraphicFramePr>
          <p:cNvPr id="1992707" name="Object 3"/>
          <p:cNvGraphicFramePr>
            <a:graphicFrameLocks noChangeAspect="1"/>
          </p:cNvGraphicFramePr>
          <p:nvPr/>
        </p:nvGraphicFramePr>
        <p:xfrm>
          <a:off x="682625" y="1698625"/>
          <a:ext cx="7707313" cy="4789488"/>
        </p:xfrm>
        <a:graphic>
          <a:graphicData uri="http://schemas.openxmlformats.org/presentationml/2006/ole">
            <mc:AlternateContent xmlns:mc="http://schemas.openxmlformats.org/markup-compatibility/2006">
              <mc:Choice xmlns:v="urn:schemas-microsoft-com:vml" Requires="v">
                <p:oleObj spid="_x0000_s1992715" name="Gráfico" r:id="rId3" imgW="6248400" imgH="3876751" progId="MSGraph.Chart.8">
                  <p:embed followColorScheme="full"/>
                </p:oleObj>
              </mc:Choice>
              <mc:Fallback>
                <p:oleObj name="Gráfico" r:id="rId3" imgW="6248400" imgH="3876751" progId="MSGraph.Chart.8">
                  <p:embed followColorScheme="full"/>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625" y="1698625"/>
                        <a:ext cx="7707313" cy="4789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2711"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1992712" name="Rectangle 8"/>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400" b="1">
                <a:solidFill>
                  <a:srgbClr val="FF9900"/>
                </a:solidFill>
                <a:latin typeface="Arial Narrow" pitchFamily="34" charset="0"/>
              </a:rPr>
              <a:t>EVALUACIÓN DE CARABINEROS SEGÚN CONTACTO CON LA INSTITUCIÓN</a:t>
            </a:r>
            <a:endParaRPr lang="es-ES" altLang="es-CL" sz="1400" b="1">
              <a:solidFill>
                <a:srgbClr val="FF9900"/>
              </a:solidFill>
              <a:latin typeface="Arial Narrow" pitchFamily="34" charset="0"/>
            </a:endParaRP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88613" name="Object 5"/>
          <p:cNvGraphicFramePr>
            <a:graphicFrameLocks noChangeAspect="1"/>
          </p:cNvGraphicFramePr>
          <p:nvPr/>
        </p:nvGraphicFramePr>
        <p:xfrm>
          <a:off x="-55563" y="1900238"/>
          <a:ext cx="5491163" cy="4206875"/>
        </p:xfrm>
        <a:graphic>
          <a:graphicData uri="http://schemas.openxmlformats.org/presentationml/2006/ole">
            <mc:AlternateContent xmlns:mc="http://schemas.openxmlformats.org/markup-compatibility/2006">
              <mc:Choice xmlns:v="urn:schemas-microsoft-com:vml" Requires="v">
                <p:oleObj spid="_x0000_s1988626" name="Gráfico" r:id="rId3" imgW="7753502" imgH="5981700" progId="MSGraph.Chart.8">
                  <p:embed followColorScheme="full"/>
                </p:oleObj>
              </mc:Choice>
              <mc:Fallback>
                <p:oleObj name="Gráfico" r:id="rId3" imgW="7753502" imgH="5981700" progId="MSGraph.Chart.8">
                  <p:embed followColorScheme="full"/>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3" y="1900238"/>
                        <a:ext cx="5491163" cy="420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88615" name="Text Box 7"/>
          <p:cNvSpPr txBox="1">
            <a:spLocks noChangeArrowheads="1"/>
          </p:cNvSpPr>
          <p:nvPr/>
        </p:nvSpPr>
        <p:spPr bwMode="auto">
          <a:xfrm>
            <a:off x="2201863" y="1341438"/>
            <a:ext cx="1865312" cy="488950"/>
          </a:xfrm>
          <a:prstGeom prst="rect">
            <a:avLst/>
          </a:prstGeom>
          <a:solidFill>
            <a:srgbClr val="FFFFFF"/>
          </a:solidFill>
          <a:ln w="9525">
            <a:solidFill>
              <a:srgbClr val="FF6600"/>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s-ES_tradnl" altLang="es-CL" b="1">
                <a:solidFill>
                  <a:schemeClr val="accent1"/>
                </a:solidFill>
                <a:latin typeface="Verdana" pitchFamily="34" charset="0"/>
              </a:rPr>
              <a:t>Buena evaluación </a:t>
            </a:r>
          </a:p>
          <a:p>
            <a:pPr>
              <a:spcBef>
                <a:spcPct val="50000"/>
              </a:spcBef>
            </a:pPr>
            <a:r>
              <a:rPr lang="es-ES_tradnl" altLang="es-CL" sz="900" b="1">
                <a:solidFill>
                  <a:schemeClr val="accent1"/>
                </a:solidFill>
                <a:latin typeface="Verdana" pitchFamily="34" charset="0"/>
              </a:rPr>
              <a:t>(B:3507)</a:t>
            </a:r>
            <a:endParaRPr lang="es-ES" altLang="es-CL" sz="900" b="1">
              <a:solidFill>
                <a:schemeClr val="accent1"/>
              </a:solidFill>
              <a:latin typeface="Verdana" pitchFamily="34" charset="0"/>
            </a:endParaRPr>
          </a:p>
        </p:txBody>
      </p:sp>
      <p:sp>
        <p:nvSpPr>
          <p:cNvPr id="1988616" name="Text Box 8"/>
          <p:cNvSpPr txBox="1">
            <a:spLocks noChangeArrowheads="1"/>
          </p:cNvSpPr>
          <p:nvPr/>
        </p:nvSpPr>
        <p:spPr bwMode="auto">
          <a:xfrm>
            <a:off x="6054725" y="1341438"/>
            <a:ext cx="1685925" cy="488950"/>
          </a:xfrm>
          <a:prstGeom prst="rect">
            <a:avLst/>
          </a:prstGeom>
          <a:solidFill>
            <a:srgbClr val="FFFFFF"/>
          </a:solidFill>
          <a:ln w="9525">
            <a:solidFill>
              <a:srgbClr val="FF6600"/>
            </a:solidFill>
            <a:miter lim="800000"/>
            <a:headEnd/>
            <a:tailEnd/>
          </a:ln>
          <a:effectLst>
            <a:outerShdw dist="107763" dir="2700000" algn="ctr" rotWithShape="0">
              <a:schemeClr val="bg2">
                <a:alpha val="50000"/>
              </a:schemeClr>
            </a:outerShdw>
          </a:effectLst>
        </p:spPr>
        <p:txBody>
          <a:bodyPr>
            <a:spAutoFit/>
          </a:bodyPr>
          <a:lstStyle/>
          <a:p>
            <a:pPr>
              <a:spcBef>
                <a:spcPct val="50000"/>
              </a:spcBef>
            </a:pPr>
            <a:r>
              <a:rPr lang="es-ES_tradnl" altLang="es-CL" b="1">
                <a:solidFill>
                  <a:schemeClr val="accent1"/>
                </a:solidFill>
                <a:latin typeface="Verdana" pitchFamily="34" charset="0"/>
              </a:rPr>
              <a:t>Mala evaluación</a:t>
            </a:r>
          </a:p>
          <a:p>
            <a:pPr>
              <a:spcBef>
                <a:spcPct val="50000"/>
              </a:spcBef>
            </a:pPr>
            <a:r>
              <a:rPr lang="es-ES_tradnl" altLang="es-CL" sz="900" b="1">
                <a:solidFill>
                  <a:schemeClr val="accent1"/>
                </a:solidFill>
                <a:latin typeface="Verdana" pitchFamily="34" charset="0"/>
              </a:rPr>
              <a:t>(B:576)</a:t>
            </a:r>
            <a:endParaRPr lang="es-ES" altLang="es-CL" sz="900" b="1">
              <a:solidFill>
                <a:schemeClr val="accent1"/>
              </a:solidFill>
              <a:latin typeface="Verdana" pitchFamily="34" charset="0"/>
            </a:endParaRPr>
          </a:p>
        </p:txBody>
      </p:sp>
      <p:sp>
        <p:nvSpPr>
          <p:cNvPr id="1988619" name="Rectangle 11"/>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1988620" name="Rectangle 12"/>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400" b="1">
                <a:solidFill>
                  <a:srgbClr val="FF9900"/>
                </a:solidFill>
                <a:latin typeface="Arial Narrow" pitchFamily="34" charset="0"/>
              </a:rPr>
              <a:t>MOTIVOS DE EVALUACIÓN DE CARABINEROS</a:t>
            </a:r>
            <a:endParaRPr lang="es-ES" altLang="es-CL" sz="1400" b="1">
              <a:solidFill>
                <a:srgbClr val="FF9900"/>
              </a:solidFill>
              <a:latin typeface="Arial Narrow" pitchFamily="34" charset="0"/>
            </a:endParaRPr>
          </a:p>
        </p:txBody>
      </p:sp>
      <p:sp>
        <p:nvSpPr>
          <p:cNvPr id="1988621" name="Rectangle 13"/>
          <p:cNvSpPr>
            <a:spLocks noChangeArrowheads="1"/>
          </p:cNvSpPr>
          <p:nvPr/>
        </p:nvSpPr>
        <p:spPr bwMode="auto">
          <a:xfrm>
            <a:off x="609600" y="914400"/>
            <a:ext cx="8012113"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333399"/>
                </a:solidFill>
                <a:latin typeface="Arial Narrow" pitchFamily="34" charset="0"/>
              </a:rPr>
              <a:t>¿Por qué Usted asigna esa evaluación?</a:t>
            </a:r>
            <a:endParaRPr lang="es-ES" altLang="es-CL" sz="1400">
              <a:solidFill>
                <a:srgbClr val="333399"/>
              </a:solidFill>
              <a:latin typeface="Arial Narrow" pitchFamily="34" charset="0"/>
            </a:endParaRPr>
          </a:p>
          <a:p>
            <a:pPr algn="ctr"/>
            <a:endParaRPr lang="es-ES_tradnl" altLang="es-CL" sz="1600">
              <a:solidFill>
                <a:srgbClr val="333399"/>
              </a:solidFill>
              <a:latin typeface="Verdana" pitchFamily="34" charset="0"/>
            </a:endParaRPr>
          </a:p>
        </p:txBody>
      </p:sp>
      <p:graphicFrame>
        <p:nvGraphicFramePr>
          <p:cNvPr id="1988622" name="Object 14"/>
          <p:cNvGraphicFramePr>
            <a:graphicFrameLocks noGrp="1" noChangeAspect="1"/>
          </p:cNvGraphicFramePr>
          <p:nvPr>
            <p:ph/>
          </p:nvPr>
        </p:nvGraphicFramePr>
        <p:xfrm>
          <a:off x="3708400" y="1916113"/>
          <a:ext cx="5526088" cy="4262437"/>
        </p:xfrm>
        <a:graphic>
          <a:graphicData uri="http://schemas.openxmlformats.org/presentationml/2006/ole">
            <mc:AlternateContent xmlns:mc="http://schemas.openxmlformats.org/markup-compatibility/2006">
              <mc:Choice xmlns:v="urn:schemas-microsoft-com:vml" Requires="v">
                <p:oleObj spid="_x0000_s1988627" name="Gráfico" r:id="rId5" imgW="7753502" imgH="5981700" progId="MSGraph.Chart.8">
                  <p:embed followColorScheme="full"/>
                </p:oleObj>
              </mc:Choice>
              <mc:Fallback>
                <p:oleObj name="Gráfico" r:id="rId5" imgW="7753502" imgH="5981700" progId="MSGraph.Chart.8">
                  <p:embed followColorScheme="full"/>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1916113"/>
                        <a:ext cx="5526088" cy="426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97826" name="Object 2"/>
          <p:cNvGraphicFramePr>
            <a:graphicFrameLocks noChangeAspect="1"/>
          </p:cNvGraphicFramePr>
          <p:nvPr/>
        </p:nvGraphicFramePr>
        <p:xfrm>
          <a:off x="-36513" y="-236538"/>
          <a:ext cx="9142413" cy="5249863"/>
        </p:xfrm>
        <a:graphic>
          <a:graphicData uri="http://schemas.openxmlformats.org/presentationml/2006/ole">
            <mc:AlternateContent xmlns:mc="http://schemas.openxmlformats.org/markup-compatibility/2006">
              <mc:Choice xmlns:v="urn:schemas-microsoft-com:vml" Requires="v">
                <p:oleObj spid="_x0000_s1998238" name="Gráfico" r:id="rId3" imgW="6238951" imgH="3571951" progId="MSGraph.Chart.8">
                  <p:embed followColorScheme="full"/>
                </p:oleObj>
              </mc:Choice>
              <mc:Fallback>
                <p:oleObj name="Gráfico" r:id="rId3" imgW="6238951" imgH="3571951"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13" y="-236538"/>
                        <a:ext cx="9142413" cy="524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97831" name="Object 7"/>
          <p:cNvGraphicFramePr>
            <a:graphicFrameLocks noChangeAspect="1"/>
          </p:cNvGraphicFramePr>
          <p:nvPr/>
        </p:nvGraphicFramePr>
        <p:xfrm>
          <a:off x="-36513" y="2276475"/>
          <a:ext cx="9142413" cy="5249863"/>
        </p:xfrm>
        <a:graphic>
          <a:graphicData uri="http://schemas.openxmlformats.org/presentationml/2006/ole">
            <mc:AlternateContent xmlns:mc="http://schemas.openxmlformats.org/markup-compatibility/2006">
              <mc:Choice xmlns:v="urn:schemas-microsoft-com:vml" Requires="v">
                <p:oleObj spid="_x0000_s1998239" name="Gráfico" r:id="rId5" imgW="6238951" imgH="3571951" progId="MSGraph.Chart.8">
                  <p:embed followColorScheme="full"/>
                </p:oleObj>
              </mc:Choice>
              <mc:Fallback>
                <p:oleObj name="Gráfico" r:id="rId5" imgW="6238951" imgH="3571951" progId="MSGraph.Chart.8">
                  <p:embed followColorScheme="full"/>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13" y="2276475"/>
                        <a:ext cx="9142413" cy="524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7827"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1997828" name="Rectangle 4"/>
          <p:cNvSpPr>
            <a:spLocks noChangeArrowheads="1"/>
          </p:cNvSpPr>
          <p:nvPr/>
        </p:nvSpPr>
        <p:spPr bwMode="auto">
          <a:xfrm>
            <a:off x="609600" y="609600"/>
            <a:ext cx="424338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lang="es-MX" altLang="es-CL" sz="1600" b="1">
                <a:solidFill>
                  <a:srgbClr val="FF9900"/>
                </a:solidFill>
              </a:rPr>
              <a:t>EVALUACIÓN DE DESEMPEÑO DE CARABINEROS</a:t>
            </a:r>
            <a:endParaRPr lang="es-ES" altLang="es-CL" sz="1600" b="1">
              <a:solidFill>
                <a:srgbClr val="FF9900"/>
              </a:solidFill>
            </a:endParaRPr>
          </a:p>
        </p:txBody>
      </p:sp>
      <p:sp>
        <p:nvSpPr>
          <p:cNvPr id="1997829" name="Rectangle 5"/>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¿Cómo evalúa usted el desempeño de Carabineros en los siguientes aspectos? </a:t>
            </a:r>
            <a:endParaRPr lang="es-ES" altLang="es-CL" sz="1400">
              <a:solidFill>
                <a:srgbClr val="000099"/>
              </a:solidFill>
              <a:latin typeface="Arial Narrow" pitchFamily="34" charset="0"/>
            </a:endParaRPr>
          </a:p>
        </p:txBody>
      </p:sp>
      <p:graphicFrame>
        <p:nvGraphicFramePr>
          <p:cNvPr id="1998235" name="Group 411"/>
          <p:cNvGraphicFramePr>
            <a:graphicFrameLocks noGrp="1"/>
          </p:cNvGraphicFramePr>
          <p:nvPr/>
        </p:nvGraphicFramePr>
        <p:xfrm>
          <a:off x="468313" y="2852738"/>
          <a:ext cx="8567737" cy="701040"/>
        </p:xfrm>
        <a:graphic>
          <a:graphicData uri="http://schemas.openxmlformats.org/drawingml/2006/table">
            <a:tbl>
              <a:tblPr/>
              <a:tblGrid>
                <a:gridCol w="566737"/>
                <a:gridCol w="565150"/>
                <a:gridCol w="566738"/>
                <a:gridCol w="568325"/>
                <a:gridCol w="565150"/>
                <a:gridCol w="566737"/>
                <a:gridCol w="566738"/>
                <a:gridCol w="565150"/>
                <a:gridCol w="552450"/>
                <a:gridCol w="581025"/>
                <a:gridCol w="565150"/>
                <a:gridCol w="568325"/>
                <a:gridCol w="608012"/>
                <a:gridCol w="654050"/>
                <a:gridCol w="508000"/>
              </a:tblGrid>
              <a:tr h="503238">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Acciden-tes de tránsito</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Catástro-fes naturales </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Eventos masivos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Emer-gencias domiciliarias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Tránsito</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Personas perdidas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Control de fronteras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Marchas o manifes-taciones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Repre-sión de actos vandálicos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Deten-ción de delincuentes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Violencia intrafami-liar</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Protec-ción de víctimas de delitos</a:t>
                      </a: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Respecto a los Dºs de las personas</a:t>
                      </a: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Patrullar calles céntricas a pié</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Delitos econó-micos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rgbClr val="FFFFFF"/>
                    </a:solidFill>
                  </a:tcPr>
                </a:tc>
              </a:tr>
            </a:tbl>
          </a:graphicData>
        </a:graphic>
      </p:graphicFrame>
      <p:graphicFrame>
        <p:nvGraphicFramePr>
          <p:cNvPr id="1998195" name="Group 371"/>
          <p:cNvGraphicFramePr>
            <a:graphicFrameLocks noGrp="1"/>
          </p:cNvGraphicFramePr>
          <p:nvPr/>
        </p:nvGraphicFramePr>
        <p:xfrm>
          <a:off x="466725" y="5445125"/>
          <a:ext cx="8497888" cy="708025"/>
        </p:xfrm>
        <a:graphic>
          <a:graphicData uri="http://schemas.openxmlformats.org/drawingml/2006/table">
            <a:tbl>
              <a:tblPr/>
              <a:tblGrid>
                <a:gridCol w="608013"/>
                <a:gridCol w="604837"/>
                <a:gridCol w="609600"/>
                <a:gridCol w="606425"/>
                <a:gridCol w="608013"/>
                <a:gridCol w="604837"/>
                <a:gridCol w="608013"/>
                <a:gridCol w="606425"/>
                <a:gridCol w="604837"/>
                <a:gridCol w="608013"/>
                <a:gridCol w="606425"/>
                <a:gridCol w="609600"/>
                <a:gridCol w="604837"/>
                <a:gridCol w="608013"/>
              </a:tblGrid>
              <a:tr h="708025">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Investi-gación criminal</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Opera-ciones contra traficantes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Patrullar visible-mente calles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Integra-ción con comuni-dad</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Controlar identidad de sospechosos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Enviar vehícu</a:t>
                      </a:r>
                    </a:p>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los con rapidez</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Consumen drogas o alcohol en lug. públicos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Prosti-tución en la calle</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Preven-ción consumo de drogas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Cobro de peajes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Venta de alcohol a menores de edad</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Entregar informa-ción útil</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Trabajar con grupos de vecinos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c>
                  <a:txBody>
                    <a:bodyPr/>
                    <a:lstStyle>
                      <a:lvl1pPr algn="l">
                        <a:spcAft>
                          <a:spcPct val="50000"/>
                        </a:spcAft>
                        <a:buClr>
                          <a:schemeClr val="accent1"/>
                        </a:buClr>
                        <a:buFont typeface="Wingdings" pitchFamily="2" charset="2"/>
                        <a:defRPr kumimoji="1" sz="1200">
                          <a:solidFill>
                            <a:srgbClr val="000099"/>
                          </a:solidFill>
                          <a:latin typeface="Arial Narrow" pitchFamily="34" charset="0"/>
                        </a:defRPr>
                      </a:lvl1pPr>
                      <a:lvl2pPr algn="l">
                        <a:spcAft>
                          <a:spcPct val="50000"/>
                        </a:spcAft>
                        <a:buClr>
                          <a:srgbClr val="FF9900"/>
                        </a:buClr>
                        <a:buFont typeface="Wingdings" pitchFamily="2" charset="2"/>
                        <a:defRPr kumimoji="1" sz="1200">
                          <a:solidFill>
                            <a:srgbClr val="000099"/>
                          </a:solidFill>
                          <a:latin typeface="Arial Narrow" pitchFamily="34" charset="0"/>
                        </a:defRPr>
                      </a:lvl2pPr>
                      <a:lvl3pPr algn="l">
                        <a:spcAft>
                          <a:spcPct val="50000"/>
                        </a:spcAft>
                        <a:buClr>
                          <a:srgbClr val="FF9999"/>
                        </a:buClr>
                        <a:buFont typeface="Wingdings" pitchFamily="2" charset="2"/>
                        <a:defRPr kumimoji="1" sz="1200">
                          <a:solidFill>
                            <a:srgbClr val="000099"/>
                          </a:solidFill>
                          <a:latin typeface="Arial Narrow" pitchFamily="34" charset="0"/>
                        </a:defRPr>
                      </a:lvl3pPr>
                      <a:lvl4pPr algn="l">
                        <a:spcAft>
                          <a:spcPct val="50000"/>
                        </a:spcAft>
                        <a:buClr>
                          <a:schemeClr val="tx1"/>
                        </a:buClr>
                        <a:defRPr kumimoji="1" sz="1000">
                          <a:solidFill>
                            <a:srgbClr val="000099"/>
                          </a:solidFill>
                          <a:latin typeface="Arial Narrow" pitchFamily="34" charset="0"/>
                        </a:defRPr>
                      </a:lvl4pPr>
                      <a:lvl5pPr algn="l">
                        <a:spcAft>
                          <a:spcPct val="50000"/>
                        </a:spcAft>
                        <a:buClr>
                          <a:schemeClr val="tx1"/>
                        </a:buClr>
                        <a:buFont typeface="Times New Roman" pitchFamily="18" charset="0"/>
                        <a:defRPr kumimoji="1" sz="1000">
                          <a:solidFill>
                            <a:srgbClr val="000099"/>
                          </a:solidFill>
                          <a:latin typeface="Arial Narrow" pitchFamily="34" charset="0"/>
                        </a:defRPr>
                      </a:lvl5pPr>
                      <a:lvl6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6pPr>
                      <a:lvl7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7pPr>
                      <a:lvl8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8pPr>
                      <a:lvl9pPr fontAlgn="base">
                        <a:spcBef>
                          <a:spcPct val="0"/>
                        </a:spcBef>
                        <a:spcAft>
                          <a:spcPct val="50000"/>
                        </a:spcAft>
                        <a:buClr>
                          <a:schemeClr val="tx1"/>
                        </a:buClr>
                        <a:buFont typeface="Times New Roman" pitchFamily="18" charset="0"/>
                        <a:defRPr kumimoji="1" sz="1000">
                          <a:solidFill>
                            <a:srgbClr val="000099"/>
                          </a:solidFill>
                          <a:latin typeface="Arial Narrow" pitchFamily="34" charset="0"/>
                        </a:defRPr>
                      </a:lvl9p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s-ES_tradnl" altLang="es-CL" sz="800" b="1" i="0" u="none" strike="noStrike" cap="none" normalizeH="0" baseline="0" smtClean="0">
                          <a:ln>
                            <a:noFill/>
                          </a:ln>
                          <a:solidFill>
                            <a:schemeClr val="tx1"/>
                          </a:solidFill>
                          <a:effectLst/>
                          <a:latin typeface="Arial Narrow" pitchFamily="34" charset="0"/>
                          <a:cs typeface="Arial" charset="0"/>
                        </a:rPr>
                        <a:t>Audien-cias públicas</a:t>
                      </a:r>
                      <a:endParaRPr kumimoji="0" lang="es-ES_tradnl" altLang="es-CL" sz="800" b="0" i="0" u="none" strike="noStrike" cap="none" normalizeH="0" baseline="0" smtClean="0">
                        <a:ln>
                          <a:noFill/>
                        </a:ln>
                        <a:solidFill>
                          <a:schemeClr val="tx1"/>
                        </a:solidFill>
                        <a:effectLst/>
                        <a:latin typeface="Arial Narrow" pitchFamily="34" charset="0"/>
                      </a:endParaRPr>
                    </a:p>
                  </a:txBody>
                  <a:tcPr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1998232" name="Group 408"/>
          <p:cNvGrpSpPr>
            <a:grpSpLocks/>
          </p:cNvGrpSpPr>
          <p:nvPr/>
        </p:nvGrpSpPr>
        <p:grpSpPr bwMode="auto">
          <a:xfrm>
            <a:off x="1187450" y="6408738"/>
            <a:ext cx="7272338" cy="333375"/>
            <a:chOff x="476" y="4092"/>
            <a:chExt cx="4581" cy="210"/>
          </a:xfrm>
        </p:grpSpPr>
        <p:sp>
          <p:nvSpPr>
            <p:cNvPr id="1998226" name="Rectangle 402"/>
            <p:cNvSpPr>
              <a:spLocks noChangeArrowheads="1"/>
            </p:cNvSpPr>
            <p:nvPr/>
          </p:nvSpPr>
          <p:spPr bwMode="auto">
            <a:xfrm>
              <a:off x="476" y="4129"/>
              <a:ext cx="181" cy="136"/>
            </a:xfrm>
            <a:prstGeom prst="rect">
              <a:avLst/>
            </a:prstGeom>
            <a:gradFill rotWithShape="1">
              <a:gsLst>
                <a:gs pos="0">
                  <a:srgbClr val="333399">
                    <a:alpha val="46001"/>
                  </a:srgbClr>
                </a:gs>
                <a:gs pos="50000">
                  <a:srgbClr val="333399">
                    <a:gamma/>
                    <a:tint val="0"/>
                    <a:invGamma/>
                  </a:srgbClr>
                </a:gs>
                <a:gs pos="100000">
                  <a:srgbClr val="333399">
                    <a:alpha val="46001"/>
                  </a:srgb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1998227" name="Text Box 403"/>
            <p:cNvSpPr txBox="1">
              <a:spLocks noChangeArrowheads="1"/>
            </p:cNvSpPr>
            <p:nvPr/>
          </p:nvSpPr>
          <p:spPr bwMode="auto">
            <a:xfrm>
              <a:off x="748" y="4110"/>
              <a:ext cx="1406"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t>% Buena Evaluación (Nota 6 y 7)</a:t>
              </a:r>
            </a:p>
          </p:txBody>
        </p:sp>
        <p:sp>
          <p:nvSpPr>
            <p:cNvPr id="1998228" name="Rectangle 404"/>
            <p:cNvSpPr>
              <a:spLocks noChangeArrowheads="1"/>
            </p:cNvSpPr>
            <p:nvPr/>
          </p:nvSpPr>
          <p:spPr bwMode="auto">
            <a:xfrm>
              <a:off x="2336" y="4129"/>
              <a:ext cx="181" cy="136"/>
            </a:xfrm>
            <a:prstGeom prst="rect">
              <a:avLst/>
            </a:prstGeom>
            <a:gradFill rotWithShape="1">
              <a:gsLst>
                <a:gs pos="0">
                  <a:srgbClr val="FF0000">
                    <a:alpha val="99001"/>
                  </a:srgbClr>
                </a:gs>
                <a:gs pos="50000">
                  <a:srgbClr val="FF0000">
                    <a:gamma/>
                    <a:tint val="0"/>
                    <a:invGamma/>
                  </a:srgbClr>
                </a:gs>
                <a:gs pos="100000">
                  <a:srgbClr val="FF0000">
                    <a:alpha val="99001"/>
                  </a:srgb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1998229" name="Text Box 405"/>
            <p:cNvSpPr txBox="1">
              <a:spLocks noChangeArrowheads="1"/>
            </p:cNvSpPr>
            <p:nvPr/>
          </p:nvSpPr>
          <p:spPr bwMode="auto">
            <a:xfrm>
              <a:off x="2426" y="4110"/>
              <a:ext cx="1406"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t>% Mala Evaluación (Notas 1 a 4)</a:t>
              </a:r>
            </a:p>
          </p:txBody>
        </p:sp>
        <p:sp>
          <p:nvSpPr>
            <p:cNvPr id="1998230" name="AutoShape 406"/>
            <p:cNvSpPr>
              <a:spLocks noChangeArrowheads="1"/>
            </p:cNvSpPr>
            <p:nvPr/>
          </p:nvSpPr>
          <p:spPr bwMode="auto">
            <a:xfrm>
              <a:off x="3923" y="4092"/>
              <a:ext cx="136" cy="210"/>
            </a:xfrm>
            <a:prstGeom prst="diamond">
              <a:avLst/>
            </a:prstGeom>
            <a:solidFill>
              <a:srgbClr val="8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1998231" name="Text Box 407"/>
            <p:cNvSpPr txBox="1">
              <a:spLocks noChangeArrowheads="1"/>
            </p:cNvSpPr>
            <p:nvPr/>
          </p:nvSpPr>
          <p:spPr bwMode="auto">
            <a:xfrm>
              <a:off x="4105" y="4111"/>
              <a:ext cx="952"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t>Evaluación neta</a:t>
              </a:r>
            </a:p>
          </p:txBody>
        </p:sp>
      </p:grpSp>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9874" name="Rectangle 2"/>
          <p:cNvSpPr>
            <a:spLocks noChangeArrowheads="1"/>
          </p:cNvSpPr>
          <p:nvPr/>
        </p:nvSpPr>
        <p:spPr bwMode="auto">
          <a:xfrm>
            <a:off x="838200" y="304800"/>
            <a:ext cx="2147888"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0" lang="es-ES_tradnl" altLang="es-CL"/>
              <a:t>Percepción General y Victimización</a:t>
            </a:r>
          </a:p>
        </p:txBody>
      </p:sp>
      <p:sp>
        <p:nvSpPr>
          <p:cNvPr id="1999875" name="Rectangle 3"/>
          <p:cNvSpPr>
            <a:spLocks noGrp="1" noChangeArrowheads="1"/>
          </p:cNvSpPr>
          <p:nvPr>
            <p:ph type="title"/>
          </p:nvPr>
        </p:nvSpPr>
        <p:spPr>
          <a:noFill/>
          <a:ln/>
        </p:spPr>
        <p:txBody>
          <a:bodyPr/>
          <a:lstStyle/>
          <a:p>
            <a:r>
              <a:rPr lang="es-MX" altLang="es-CL"/>
              <a:t>EVALUACIÓN DE DESEMPEÑO DE CARABINEROS 2003</a:t>
            </a:r>
            <a:endParaRPr lang="es-ES" altLang="es-CL"/>
          </a:p>
        </p:txBody>
      </p:sp>
      <p:sp>
        <p:nvSpPr>
          <p:cNvPr id="1999877" name="Rectangle 5"/>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¿Cómo evalúa usted el desempeño de Carabineros en los siguientes aspectos? % Evaluación Neta según Prefectura </a:t>
            </a:r>
            <a:endParaRPr lang="es-ES" altLang="es-CL" sz="1400">
              <a:solidFill>
                <a:srgbClr val="000099"/>
              </a:solidFill>
              <a:latin typeface="Arial Narrow" pitchFamily="34" charset="0"/>
            </a:endParaRPr>
          </a:p>
        </p:txBody>
      </p:sp>
      <p:graphicFrame>
        <p:nvGraphicFramePr>
          <p:cNvPr id="1999883" name="Object 11"/>
          <p:cNvGraphicFramePr>
            <a:graphicFrameLocks noGrp="1" noChangeAspect="1"/>
          </p:cNvGraphicFramePr>
          <p:nvPr>
            <p:ph idx="1"/>
          </p:nvPr>
        </p:nvGraphicFramePr>
        <p:xfrm>
          <a:off x="757238" y="1268413"/>
          <a:ext cx="7991475" cy="5191125"/>
        </p:xfrm>
        <a:graphic>
          <a:graphicData uri="http://schemas.openxmlformats.org/presentationml/2006/ole">
            <mc:AlternateContent xmlns:mc="http://schemas.openxmlformats.org/markup-compatibility/2006">
              <mc:Choice xmlns:v="urn:schemas-microsoft-com:vml" Requires="v">
                <p:oleObj spid="_x0000_s1999886" name="Hoja de cálculo" r:id="rId4" imgW="8464164" imgH="5497060" progId="Excel.Sheet.8">
                  <p:embed/>
                </p:oleObj>
              </mc:Choice>
              <mc:Fallback>
                <p:oleObj name="Hoja de cálculo" r:id="rId4" imgW="8464164" imgH="5497060" progId="Excel.Sheet.8">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238" y="1268413"/>
                        <a:ext cx="7991475" cy="519112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898" name="Rectangle 2"/>
          <p:cNvSpPr>
            <a:spLocks noChangeArrowheads="1"/>
          </p:cNvSpPr>
          <p:nvPr/>
        </p:nvSpPr>
        <p:spPr bwMode="auto">
          <a:xfrm>
            <a:off x="838200" y="304800"/>
            <a:ext cx="2147888"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0" lang="es-ES_tradnl" altLang="es-CL"/>
              <a:t>Percepción General y Victimización</a:t>
            </a:r>
          </a:p>
        </p:txBody>
      </p:sp>
      <p:sp>
        <p:nvSpPr>
          <p:cNvPr id="2000900" name="Rectangle 4"/>
          <p:cNvSpPr>
            <a:spLocks noGrp="1" noChangeArrowheads="1"/>
          </p:cNvSpPr>
          <p:nvPr>
            <p:ph type="title"/>
          </p:nvPr>
        </p:nvSpPr>
        <p:spPr>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s-MX" altLang="es-CL"/>
              <a:t>EVALUACIÓN DE DESEMPEÑO DE CARABINEROS</a:t>
            </a:r>
            <a:endParaRPr lang="es-ES" altLang="es-CL"/>
          </a:p>
        </p:txBody>
      </p:sp>
      <p:sp>
        <p:nvSpPr>
          <p:cNvPr id="2000901" name="Rectangle 5"/>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¿Cómo evalúa usted el desempeño de Carabineros en los siguientes aspectos? </a:t>
            </a:r>
            <a:r>
              <a:rPr lang="es-ES_tradnl" altLang="es-CL" sz="1200">
                <a:solidFill>
                  <a:srgbClr val="000099"/>
                </a:solidFill>
                <a:latin typeface="Arial Narrow" pitchFamily="34" charset="0"/>
              </a:rPr>
              <a:t>% Evaluación Neta</a:t>
            </a:r>
            <a:r>
              <a:rPr lang="es-ES_tradnl" altLang="es-CL" sz="1200">
                <a:solidFill>
                  <a:srgbClr val="333399"/>
                </a:solidFill>
                <a:latin typeface="Arial Narrow" pitchFamily="34" charset="0"/>
              </a:rPr>
              <a:t> s</a:t>
            </a:r>
            <a:r>
              <a:rPr lang="es-ES_tradnl" altLang="es-CL" sz="1200">
                <a:solidFill>
                  <a:srgbClr val="000099"/>
                </a:solidFill>
                <a:latin typeface="Arial Narrow" pitchFamily="34" charset="0"/>
              </a:rPr>
              <a:t>egún Prefectura</a:t>
            </a:r>
            <a:r>
              <a:rPr lang="es-ES_tradnl" altLang="es-CL" sz="1200">
                <a:solidFill>
                  <a:srgbClr val="333399"/>
                </a:solidFill>
                <a:latin typeface="Arial Narrow" pitchFamily="34" charset="0"/>
              </a:rPr>
              <a:t> </a:t>
            </a:r>
            <a:endParaRPr lang="es-ES" altLang="es-CL" sz="1200">
              <a:solidFill>
                <a:srgbClr val="333399"/>
              </a:solidFill>
              <a:latin typeface="Arial Narrow" pitchFamily="34" charset="0"/>
            </a:endParaRPr>
          </a:p>
        </p:txBody>
      </p:sp>
      <p:graphicFrame>
        <p:nvGraphicFramePr>
          <p:cNvPr id="2000910" name="Object 14"/>
          <p:cNvGraphicFramePr>
            <a:graphicFrameLocks noGrp="1" noChangeAspect="1"/>
          </p:cNvGraphicFramePr>
          <p:nvPr>
            <p:ph idx="1"/>
          </p:nvPr>
        </p:nvGraphicFramePr>
        <p:xfrm>
          <a:off x="827088" y="1268413"/>
          <a:ext cx="7921625" cy="4881562"/>
        </p:xfrm>
        <a:graphic>
          <a:graphicData uri="http://schemas.openxmlformats.org/presentationml/2006/ole">
            <mc:AlternateContent xmlns:mc="http://schemas.openxmlformats.org/markup-compatibility/2006">
              <mc:Choice xmlns:v="urn:schemas-microsoft-com:vml" Requires="v">
                <p:oleObj spid="_x0000_s2000919" name="Hoja de cálculo" r:id="rId4" imgW="8935298" imgH="5506068" progId="Excel.Sheet.8">
                  <p:embed/>
                </p:oleObj>
              </mc:Choice>
              <mc:Fallback>
                <p:oleObj name="Hoja de cálculo" r:id="rId4" imgW="8935298" imgH="5506068" progId="Excel.Sheet.8">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1268413"/>
                        <a:ext cx="7921625" cy="4881562"/>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grpSp>
        <p:nvGrpSpPr>
          <p:cNvPr id="2000917" name="Group 21"/>
          <p:cNvGrpSpPr>
            <a:grpSpLocks/>
          </p:cNvGrpSpPr>
          <p:nvPr/>
        </p:nvGrpSpPr>
        <p:grpSpPr bwMode="auto">
          <a:xfrm>
            <a:off x="1979613" y="6350000"/>
            <a:ext cx="6624637" cy="274638"/>
            <a:chOff x="1247" y="4156"/>
            <a:chExt cx="4173" cy="173"/>
          </a:xfrm>
        </p:grpSpPr>
        <p:sp>
          <p:nvSpPr>
            <p:cNvPr id="2000913" name="Rectangle 17"/>
            <p:cNvSpPr>
              <a:spLocks noChangeArrowheads="1"/>
            </p:cNvSpPr>
            <p:nvPr/>
          </p:nvSpPr>
          <p:spPr bwMode="auto">
            <a:xfrm>
              <a:off x="3560" y="4156"/>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00914" name="Text Box 18"/>
            <p:cNvSpPr txBox="1">
              <a:spLocks noChangeArrowheads="1"/>
            </p:cNvSpPr>
            <p:nvPr/>
          </p:nvSpPr>
          <p:spPr bwMode="auto">
            <a:xfrm>
              <a:off x="3780" y="4156"/>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2000915" name="Rectangle 19"/>
            <p:cNvSpPr>
              <a:spLocks noChangeArrowheads="1"/>
            </p:cNvSpPr>
            <p:nvPr/>
          </p:nvSpPr>
          <p:spPr bwMode="auto">
            <a:xfrm>
              <a:off x="1247" y="4156"/>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00916" name="Text Box 20"/>
            <p:cNvSpPr txBox="1">
              <a:spLocks noChangeArrowheads="1"/>
            </p:cNvSpPr>
            <p:nvPr/>
          </p:nvSpPr>
          <p:spPr bwMode="auto">
            <a:xfrm>
              <a:off x="1467" y="4156"/>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4210" name="Rectangle 2"/>
          <p:cNvSpPr>
            <a:spLocks noChangeArrowheads="1"/>
          </p:cNvSpPr>
          <p:nvPr/>
        </p:nvSpPr>
        <p:spPr bwMode="auto">
          <a:xfrm>
            <a:off x="838200" y="304800"/>
            <a:ext cx="2147888"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kumimoji="0" lang="es-ES_tradnl" altLang="es-CL"/>
              <a:t>Percepción General y Victimización</a:t>
            </a:r>
          </a:p>
        </p:txBody>
      </p:sp>
      <p:sp>
        <p:nvSpPr>
          <p:cNvPr id="2014211" name="Rectangle 3"/>
          <p:cNvSpPr>
            <a:spLocks noGrp="1" noChangeArrowheads="1"/>
          </p:cNvSpPr>
          <p:nvPr>
            <p:ph type="title"/>
          </p:nvPr>
        </p:nvSpPr>
        <p:spPr>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r>
              <a:rPr lang="es-MX" altLang="es-CL"/>
              <a:t>EVALUACIÓN DE DESEMPEÑO DE CARABINEROS</a:t>
            </a:r>
            <a:endParaRPr lang="es-ES" altLang="es-CL"/>
          </a:p>
        </p:txBody>
      </p:sp>
      <p:sp>
        <p:nvSpPr>
          <p:cNvPr id="2014212" name="Rectangle 4"/>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¿Cómo evalúa usted el desempeño de Carabineros en los siguientes aspectos? </a:t>
            </a:r>
            <a:r>
              <a:rPr lang="es-ES_tradnl" altLang="es-CL" sz="1200">
                <a:solidFill>
                  <a:srgbClr val="000099"/>
                </a:solidFill>
                <a:latin typeface="Arial Narrow" pitchFamily="34" charset="0"/>
              </a:rPr>
              <a:t>% Evaluación Neta,</a:t>
            </a:r>
            <a:r>
              <a:rPr lang="es-ES_tradnl" altLang="es-CL" sz="1200">
                <a:solidFill>
                  <a:srgbClr val="333399"/>
                </a:solidFill>
                <a:latin typeface="Arial Narrow" pitchFamily="34" charset="0"/>
              </a:rPr>
              <a:t> según </a:t>
            </a:r>
            <a:r>
              <a:rPr lang="es-MX" altLang="es-CL" sz="1400">
                <a:solidFill>
                  <a:srgbClr val="000099"/>
                </a:solidFill>
                <a:latin typeface="Arial Narrow" pitchFamily="34" charset="0"/>
              </a:rPr>
              <a:t>GSE, Sexo y Tramo Etareo</a:t>
            </a:r>
            <a:endParaRPr lang="es-ES" altLang="es-CL" sz="1400">
              <a:solidFill>
                <a:srgbClr val="000099"/>
              </a:solidFill>
              <a:latin typeface="Arial Narrow" pitchFamily="34" charset="0"/>
            </a:endParaRPr>
          </a:p>
        </p:txBody>
      </p:sp>
      <p:graphicFrame>
        <p:nvGraphicFramePr>
          <p:cNvPr id="2014219" name="Object 11"/>
          <p:cNvGraphicFramePr>
            <a:graphicFrameLocks noGrp="1" noChangeAspect="1"/>
          </p:cNvGraphicFramePr>
          <p:nvPr>
            <p:ph idx="1"/>
          </p:nvPr>
        </p:nvGraphicFramePr>
        <p:xfrm>
          <a:off x="611188" y="1412875"/>
          <a:ext cx="8201025" cy="4918075"/>
        </p:xfrm>
        <a:graphic>
          <a:graphicData uri="http://schemas.openxmlformats.org/presentationml/2006/ole">
            <mc:AlternateContent xmlns:mc="http://schemas.openxmlformats.org/markup-compatibility/2006">
              <mc:Choice xmlns:v="urn:schemas-microsoft-com:vml" Requires="v">
                <p:oleObj spid="_x0000_s2014222" name="Hoja de cálculo" r:id="rId4" imgW="8210702" imgH="4924349" progId="Excel.Sheet.8">
                  <p:embed/>
                </p:oleObj>
              </mc:Choice>
              <mc:Fallback>
                <p:oleObj name="Hoja de cálculo" r:id="rId4" imgW="8210702" imgH="4924349" progId="Excel.Sheet.8">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1412875"/>
                        <a:ext cx="8201025" cy="491807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01937" name="Object 17"/>
          <p:cNvGraphicFramePr>
            <a:graphicFrameLocks noChangeAspect="1"/>
          </p:cNvGraphicFramePr>
          <p:nvPr/>
        </p:nvGraphicFramePr>
        <p:xfrm>
          <a:off x="684213" y="4140200"/>
          <a:ext cx="6080125" cy="2136775"/>
        </p:xfrm>
        <a:graphic>
          <a:graphicData uri="http://schemas.openxmlformats.org/presentationml/2006/ole">
            <mc:AlternateContent xmlns:mc="http://schemas.openxmlformats.org/markup-compatibility/2006">
              <mc:Choice xmlns:v="urn:schemas-microsoft-com:vml" Requires="v">
                <p:oleObj spid="_x0000_s2001953" name="Gráfico" r:id="rId3" imgW="7762951" imgH="2733751" progId="MSGraph.Chart.8">
                  <p:embed followColorScheme="full"/>
                </p:oleObj>
              </mc:Choice>
              <mc:Fallback>
                <p:oleObj name="Gráfico" r:id="rId3" imgW="7762951" imgH="2733751" progId="MSGraph.Chart.8">
                  <p:embed followColorScheme="full"/>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4140200"/>
                        <a:ext cx="6080125" cy="213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1926" name="Object 6"/>
          <p:cNvGraphicFramePr>
            <a:graphicFrameLocks noChangeAspect="1"/>
          </p:cNvGraphicFramePr>
          <p:nvPr/>
        </p:nvGraphicFramePr>
        <p:xfrm>
          <a:off x="5727700" y="1778000"/>
          <a:ext cx="6045200" cy="2125663"/>
        </p:xfrm>
        <a:graphic>
          <a:graphicData uri="http://schemas.openxmlformats.org/presentationml/2006/ole">
            <mc:AlternateContent xmlns:mc="http://schemas.openxmlformats.org/markup-compatibility/2006">
              <mc:Choice xmlns:v="urn:schemas-microsoft-com:vml" Requires="v">
                <p:oleObj spid="_x0000_s2001954" name="Gráfico" r:id="rId5" imgW="7753502" imgH="2724302" progId="MSGraph.Chart.8">
                  <p:embed followColorScheme="full"/>
                </p:oleObj>
              </mc:Choice>
              <mc:Fallback>
                <p:oleObj name="Gráfico" r:id="rId5" imgW="7753502" imgH="2724302"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7700" y="1778000"/>
                        <a:ext cx="6045200" cy="212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1922" name="Object 2"/>
          <p:cNvGraphicFramePr>
            <a:graphicFrameLocks noChangeAspect="1"/>
          </p:cNvGraphicFramePr>
          <p:nvPr/>
        </p:nvGraphicFramePr>
        <p:xfrm>
          <a:off x="684213" y="1735138"/>
          <a:ext cx="6080125" cy="2136775"/>
        </p:xfrm>
        <a:graphic>
          <a:graphicData uri="http://schemas.openxmlformats.org/presentationml/2006/ole">
            <mc:AlternateContent xmlns:mc="http://schemas.openxmlformats.org/markup-compatibility/2006">
              <mc:Choice xmlns:v="urn:schemas-microsoft-com:vml" Requires="v">
                <p:oleObj spid="_x0000_s2001955" name="Gráfico" r:id="rId7" imgW="7762951" imgH="2733751" progId="MSGraph.Chart.8">
                  <p:embed followColorScheme="full"/>
                </p:oleObj>
              </mc:Choice>
              <mc:Fallback>
                <p:oleObj name="Gráfico" r:id="rId7" imgW="7762951" imgH="2733751" progId="MSGraph.Chart.8">
                  <p:embed followColorScheme="full"/>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1735138"/>
                        <a:ext cx="6080125" cy="213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1923" name="Object 3"/>
          <p:cNvGraphicFramePr>
            <a:graphicFrameLocks noChangeAspect="1"/>
          </p:cNvGraphicFramePr>
          <p:nvPr/>
        </p:nvGraphicFramePr>
        <p:xfrm>
          <a:off x="2411413" y="1765300"/>
          <a:ext cx="5980112" cy="2117725"/>
        </p:xfrm>
        <a:graphic>
          <a:graphicData uri="http://schemas.openxmlformats.org/presentationml/2006/ole">
            <mc:AlternateContent xmlns:mc="http://schemas.openxmlformats.org/markup-compatibility/2006">
              <mc:Choice xmlns:v="urn:schemas-microsoft-com:vml" Requires="v">
                <p:oleObj spid="_x0000_s2001956" name="Gráfico" r:id="rId9" imgW="7753502" imgH="2743200" progId="MSGraph.Chart.8">
                  <p:embed followColorScheme="full"/>
                </p:oleObj>
              </mc:Choice>
              <mc:Fallback>
                <p:oleObj name="Gráfico" r:id="rId9" imgW="7753502" imgH="2743200" progId="MSGraph.Chart.8">
                  <p:embed followColorScheme="full"/>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413" y="1765300"/>
                        <a:ext cx="5980112" cy="211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1924" name="Rectangle 4"/>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¿Usted sabe cuál es el número telefónico de ...? </a:t>
            </a:r>
            <a:endParaRPr lang="es-ES" altLang="es-CL" sz="1400">
              <a:solidFill>
                <a:srgbClr val="000099"/>
              </a:solidFill>
              <a:latin typeface="Arial Narrow" pitchFamily="34" charset="0"/>
            </a:endParaRPr>
          </a:p>
        </p:txBody>
      </p:sp>
      <p:graphicFrame>
        <p:nvGraphicFramePr>
          <p:cNvPr id="2001925" name="Object 5"/>
          <p:cNvGraphicFramePr>
            <a:graphicFrameLocks noChangeAspect="1"/>
          </p:cNvGraphicFramePr>
          <p:nvPr/>
        </p:nvGraphicFramePr>
        <p:xfrm>
          <a:off x="4140200" y="1779588"/>
          <a:ext cx="6048375" cy="2124075"/>
        </p:xfrm>
        <a:graphic>
          <a:graphicData uri="http://schemas.openxmlformats.org/presentationml/2006/ole">
            <mc:AlternateContent xmlns:mc="http://schemas.openxmlformats.org/markup-compatibility/2006">
              <mc:Choice xmlns:v="urn:schemas-microsoft-com:vml" Requires="v">
                <p:oleObj spid="_x0000_s2001957" name="Gráfico" r:id="rId11" imgW="7753502" imgH="2724302" progId="MSGraph.Chart.8">
                  <p:embed followColorScheme="full"/>
                </p:oleObj>
              </mc:Choice>
              <mc:Fallback>
                <p:oleObj name="Gráfico" r:id="rId11" imgW="7753502" imgH="2724302" progId="MSGraph.Chart.8">
                  <p:embed followColorScheme="full"/>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40200" y="1779588"/>
                        <a:ext cx="6048375" cy="212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1928" name="Text Box 8"/>
          <p:cNvSpPr txBox="1">
            <a:spLocks noChangeArrowheads="1"/>
          </p:cNvSpPr>
          <p:nvPr/>
        </p:nvSpPr>
        <p:spPr bwMode="auto">
          <a:xfrm>
            <a:off x="1619250" y="1371600"/>
            <a:ext cx="2103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_tradnl" altLang="es-CL" b="1">
                <a:solidFill>
                  <a:schemeClr val="accent1"/>
                </a:solidFill>
                <a:latin typeface="Verdana" pitchFamily="34" charset="0"/>
              </a:rPr>
              <a:t>Fono de Emergencias de Carabineros</a:t>
            </a:r>
            <a:endParaRPr lang="es-ES" altLang="es-CL" b="1">
              <a:solidFill>
                <a:schemeClr val="accent1"/>
              </a:solidFill>
              <a:latin typeface="Verdana" pitchFamily="34" charset="0"/>
            </a:endParaRPr>
          </a:p>
        </p:txBody>
      </p:sp>
      <p:sp>
        <p:nvSpPr>
          <p:cNvPr id="2001929" name="Text Box 9"/>
          <p:cNvSpPr txBox="1">
            <a:spLocks noChangeArrowheads="1"/>
          </p:cNvSpPr>
          <p:nvPr/>
        </p:nvSpPr>
        <p:spPr bwMode="auto">
          <a:xfrm>
            <a:off x="3775075" y="1371600"/>
            <a:ext cx="1228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_tradnl" altLang="es-CL" b="1">
                <a:solidFill>
                  <a:schemeClr val="accent1"/>
                </a:solidFill>
                <a:latin typeface="Verdana" pitchFamily="34" charset="0"/>
              </a:rPr>
              <a:t>Fono Drogas</a:t>
            </a:r>
            <a:endParaRPr lang="es-ES" altLang="es-CL" b="1">
              <a:solidFill>
                <a:schemeClr val="accent1"/>
              </a:solidFill>
              <a:latin typeface="Verdana" pitchFamily="34" charset="0"/>
            </a:endParaRPr>
          </a:p>
        </p:txBody>
      </p:sp>
      <p:sp>
        <p:nvSpPr>
          <p:cNvPr id="2001930" name="Text Box 10"/>
          <p:cNvSpPr txBox="1">
            <a:spLocks noChangeArrowheads="1"/>
          </p:cNvSpPr>
          <p:nvPr/>
        </p:nvSpPr>
        <p:spPr bwMode="auto">
          <a:xfrm>
            <a:off x="5395913" y="13716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_tradnl" altLang="es-CL" b="1">
                <a:solidFill>
                  <a:schemeClr val="accent1"/>
                </a:solidFill>
                <a:latin typeface="Verdana" pitchFamily="34" charset="0"/>
              </a:rPr>
              <a:t>Información Policial</a:t>
            </a:r>
            <a:endParaRPr lang="es-ES" altLang="es-CL" b="1">
              <a:solidFill>
                <a:schemeClr val="accent1"/>
              </a:solidFill>
              <a:latin typeface="Verdana" pitchFamily="34" charset="0"/>
            </a:endParaRPr>
          </a:p>
        </p:txBody>
      </p:sp>
      <p:sp>
        <p:nvSpPr>
          <p:cNvPr id="2001931" name="Text Box 11"/>
          <p:cNvSpPr txBox="1">
            <a:spLocks noChangeArrowheads="1"/>
          </p:cNvSpPr>
          <p:nvPr/>
        </p:nvSpPr>
        <p:spPr bwMode="auto">
          <a:xfrm>
            <a:off x="7224713" y="13716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_tradnl" altLang="es-CL" b="1">
                <a:solidFill>
                  <a:schemeClr val="accent1"/>
                </a:solidFill>
                <a:latin typeface="Verdana" pitchFamily="34" charset="0"/>
              </a:rPr>
              <a:t>Fono Familia</a:t>
            </a:r>
            <a:endParaRPr lang="es-ES" altLang="es-CL" b="1">
              <a:solidFill>
                <a:schemeClr val="accent1"/>
              </a:solidFill>
              <a:latin typeface="Verdana" pitchFamily="34" charset="0"/>
            </a:endParaRPr>
          </a:p>
        </p:txBody>
      </p:sp>
      <p:sp>
        <p:nvSpPr>
          <p:cNvPr id="2001932" name="Rectangle 1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01933" name="Rectangle 13"/>
          <p:cNvSpPr>
            <a:spLocks noChangeArrowheads="1"/>
          </p:cNvSpPr>
          <p:nvPr/>
        </p:nvSpPr>
        <p:spPr bwMode="auto">
          <a:xfrm>
            <a:off x="609600" y="609600"/>
            <a:ext cx="350996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CONOCIMIENTO  DE FONOS POLICIALES</a:t>
            </a:r>
            <a:endParaRPr lang="es-ES" altLang="es-CL" sz="1600" b="1">
              <a:solidFill>
                <a:srgbClr val="FF9900"/>
              </a:solidFill>
            </a:endParaRPr>
          </a:p>
        </p:txBody>
      </p:sp>
      <p:sp>
        <p:nvSpPr>
          <p:cNvPr id="2001934" name="Text Box 14"/>
          <p:cNvSpPr txBox="1">
            <a:spLocks noChangeArrowheads="1"/>
          </p:cNvSpPr>
          <p:nvPr/>
        </p:nvSpPr>
        <p:spPr bwMode="auto">
          <a:xfrm>
            <a:off x="827088" y="2565400"/>
            <a:ext cx="720725" cy="469900"/>
          </a:xfrm>
          <a:prstGeom prst="rect">
            <a:avLst/>
          </a:prstGeom>
          <a:noFill/>
          <a:ln w="12700">
            <a:solidFill>
              <a:srgbClr val="FF99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b="1"/>
              <a:t>2003 (B:5544)</a:t>
            </a:r>
          </a:p>
        </p:txBody>
      </p:sp>
      <p:sp>
        <p:nvSpPr>
          <p:cNvPr id="2001935" name="Text Box 15"/>
          <p:cNvSpPr txBox="1">
            <a:spLocks noChangeArrowheads="1"/>
          </p:cNvSpPr>
          <p:nvPr/>
        </p:nvSpPr>
        <p:spPr bwMode="auto">
          <a:xfrm>
            <a:off x="827088" y="4870450"/>
            <a:ext cx="720725" cy="469900"/>
          </a:xfrm>
          <a:prstGeom prst="rect">
            <a:avLst/>
          </a:prstGeom>
          <a:noFill/>
          <a:ln w="12700">
            <a:solidFill>
              <a:srgbClr val="FF99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b="1"/>
              <a:t>2005 (B:6048)</a:t>
            </a:r>
          </a:p>
        </p:txBody>
      </p:sp>
      <p:graphicFrame>
        <p:nvGraphicFramePr>
          <p:cNvPr id="2001936" name="Object 16"/>
          <p:cNvGraphicFramePr>
            <a:graphicFrameLocks noChangeAspect="1"/>
          </p:cNvGraphicFramePr>
          <p:nvPr/>
        </p:nvGraphicFramePr>
        <p:xfrm>
          <a:off x="5727700" y="4183063"/>
          <a:ext cx="6045200" cy="2125662"/>
        </p:xfrm>
        <a:graphic>
          <a:graphicData uri="http://schemas.openxmlformats.org/presentationml/2006/ole">
            <mc:AlternateContent xmlns:mc="http://schemas.openxmlformats.org/markup-compatibility/2006">
              <mc:Choice xmlns:v="urn:schemas-microsoft-com:vml" Requires="v">
                <p:oleObj spid="_x0000_s2001958" name="Gráfico" r:id="rId13" imgW="7753502" imgH="2724302" progId="MSGraph.Chart.8">
                  <p:embed followColorScheme="full"/>
                </p:oleObj>
              </mc:Choice>
              <mc:Fallback>
                <p:oleObj name="Gráfico" r:id="rId13" imgW="7753502" imgH="2724302" progId="MSGraph.Chart.8">
                  <p:embed followColorScheme="full"/>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7700" y="4183063"/>
                        <a:ext cx="6045200" cy="212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1938" name="Object 18"/>
          <p:cNvGraphicFramePr>
            <a:graphicFrameLocks noChangeAspect="1"/>
          </p:cNvGraphicFramePr>
          <p:nvPr/>
        </p:nvGraphicFramePr>
        <p:xfrm>
          <a:off x="2411413" y="4170363"/>
          <a:ext cx="5980112" cy="2117725"/>
        </p:xfrm>
        <a:graphic>
          <a:graphicData uri="http://schemas.openxmlformats.org/presentationml/2006/ole">
            <mc:AlternateContent xmlns:mc="http://schemas.openxmlformats.org/markup-compatibility/2006">
              <mc:Choice xmlns:v="urn:schemas-microsoft-com:vml" Requires="v">
                <p:oleObj spid="_x0000_s2001959" name="Gráfico" r:id="rId14" imgW="7753502" imgH="2743200" progId="MSGraph.Chart.8">
                  <p:embed followColorScheme="full"/>
                </p:oleObj>
              </mc:Choice>
              <mc:Fallback>
                <p:oleObj name="Gráfico" r:id="rId14" imgW="7753502" imgH="2743200" progId="MSGraph.Chart.8">
                  <p:embed followColorScheme="full"/>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11413" y="4170363"/>
                        <a:ext cx="5980112" cy="211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1939" name="Object 19"/>
          <p:cNvGraphicFramePr>
            <a:graphicFrameLocks noChangeAspect="1"/>
          </p:cNvGraphicFramePr>
          <p:nvPr/>
        </p:nvGraphicFramePr>
        <p:xfrm>
          <a:off x="4140200" y="4184650"/>
          <a:ext cx="6048375" cy="2124075"/>
        </p:xfrm>
        <a:graphic>
          <a:graphicData uri="http://schemas.openxmlformats.org/presentationml/2006/ole">
            <mc:AlternateContent xmlns:mc="http://schemas.openxmlformats.org/markup-compatibility/2006">
              <mc:Choice xmlns:v="urn:schemas-microsoft-com:vml" Requires="v">
                <p:oleObj spid="_x0000_s2001960" name="Gráfico" r:id="rId16" imgW="7753502" imgH="2724302" progId="MSGraph.Chart.8">
                  <p:embed followColorScheme="full"/>
                </p:oleObj>
              </mc:Choice>
              <mc:Fallback>
                <p:oleObj name="Gráfico" r:id="rId16" imgW="7753502" imgH="2724302" progId="MSGraph.Chart.8">
                  <p:embed followColorScheme="full"/>
                  <p:pic>
                    <p:nvPicPr>
                      <p:cNvPr id="0"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0200" y="4184650"/>
                        <a:ext cx="6048375" cy="212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1940" name="Text Box 20"/>
          <p:cNvSpPr txBox="1">
            <a:spLocks noChangeArrowheads="1"/>
          </p:cNvSpPr>
          <p:nvPr/>
        </p:nvSpPr>
        <p:spPr bwMode="auto">
          <a:xfrm>
            <a:off x="6732588" y="6381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02953" name="Object 9"/>
          <p:cNvGraphicFramePr>
            <a:graphicFrameLocks noGrp="1" noChangeAspect="1"/>
          </p:cNvGraphicFramePr>
          <p:nvPr>
            <p:ph/>
          </p:nvPr>
        </p:nvGraphicFramePr>
        <p:xfrm>
          <a:off x="160338" y="-265113"/>
          <a:ext cx="8677275" cy="4630738"/>
        </p:xfrm>
        <a:graphic>
          <a:graphicData uri="http://schemas.openxmlformats.org/presentationml/2006/ole">
            <mc:AlternateContent xmlns:mc="http://schemas.openxmlformats.org/markup-compatibility/2006">
              <mc:Choice xmlns:v="urn:schemas-microsoft-com:vml" Requires="v">
                <p:oleObj spid="_x0000_s2002983" name="Gráfico" r:id="rId3" imgW="8763000" imgH="4676851" progId="MSGraph.Chart.8">
                  <p:embed followColorScheme="full"/>
                </p:oleObj>
              </mc:Choice>
              <mc:Fallback>
                <p:oleObj name="Gráfico" r:id="rId3" imgW="8763000" imgH="4676851" progId="MSGraph.Chart.8">
                  <p:embed followColorScheme="full"/>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338" y="-265113"/>
                        <a:ext cx="8677275" cy="463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2946" name="Object 2"/>
          <p:cNvGraphicFramePr>
            <a:graphicFrameLocks noChangeAspect="1"/>
          </p:cNvGraphicFramePr>
          <p:nvPr/>
        </p:nvGraphicFramePr>
        <p:xfrm>
          <a:off x="103188" y="2060575"/>
          <a:ext cx="8964612" cy="5014913"/>
        </p:xfrm>
        <a:graphic>
          <a:graphicData uri="http://schemas.openxmlformats.org/presentationml/2006/ole">
            <mc:AlternateContent xmlns:mc="http://schemas.openxmlformats.org/markup-compatibility/2006">
              <mc:Choice xmlns:v="urn:schemas-microsoft-com:vml" Requires="v">
                <p:oleObj spid="_x0000_s2002984" name="Gráfico" r:id="rId5" imgW="8334451" imgH="4676851" progId="MSGraph.Chart.8">
                  <p:embed followColorScheme="full"/>
                </p:oleObj>
              </mc:Choice>
              <mc:Fallback>
                <p:oleObj name="Gráfico" r:id="rId5" imgW="8334451" imgH="4676851" progId="MSGraph.Chart.8">
                  <p:embed followColorScheme="full"/>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88" y="2060575"/>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2948"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02949" name="Rectangle 5"/>
          <p:cNvSpPr>
            <a:spLocks noChangeArrowheads="1"/>
          </p:cNvSpPr>
          <p:nvPr/>
        </p:nvSpPr>
        <p:spPr bwMode="auto">
          <a:xfrm>
            <a:off x="609600" y="609600"/>
            <a:ext cx="350996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CONOCIMIENTO  DE FONOS POLICIALES</a:t>
            </a:r>
            <a:endParaRPr lang="es-ES" altLang="es-CL" sz="1600" b="1">
              <a:solidFill>
                <a:srgbClr val="FF9900"/>
              </a:solidFill>
            </a:endParaRPr>
          </a:p>
        </p:txBody>
      </p:sp>
      <p:sp>
        <p:nvSpPr>
          <p:cNvPr id="2002950" name="Rectangle 6"/>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¿Usted sabe cuál es el número telefónico de ...? Según Prefecturas</a:t>
            </a:r>
            <a:endParaRPr lang="es-ES" altLang="es-CL" sz="1400">
              <a:solidFill>
                <a:srgbClr val="000099"/>
              </a:solidFill>
              <a:latin typeface="Arial Narrow" pitchFamily="34" charset="0"/>
            </a:endParaRPr>
          </a:p>
        </p:txBody>
      </p:sp>
      <p:sp>
        <p:nvSpPr>
          <p:cNvPr id="2002951" name="Text Box 7"/>
          <p:cNvSpPr txBox="1">
            <a:spLocks noChangeArrowheads="1"/>
          </p:cNvSpPr>
          <p:nvPr/>
        </p:nvSpPr>
        <p:spPr bwMode="auto">
          <a:xfrm>
            <a:off x="3419475" y="121920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2003</a:t>
            </a:r>
            <a:endParaRPr lang="es-ES" altLang="es-CL" b="1">
              <a:solidFill>
                <a:srgbClr val="FF9933"/>
              </a:solidFill>
              <a:latin typeface="Arial" charset="0"/>
            </a:endParaRPr>
          </a:p>
        </p:txBody>
      </p:sp>
      <p:sp>
        <p:nvSpPr>
          <p:cNvPr id="2002952" name="Text Box 8"/>
          <p:cNvSpPr txBox="1">
            <a:spLocks noChangeArrowheads="1"/>
          </p:cNvSpPr>
          <p:nvPr/>
        </p:nvSpPr>
        <p:spPr bwMode="auto">
          <a:xfrm>
            <a:off x="3441700" y="3694113"/>
            <a:ext cx="22098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
        <p:nvSpPr>
          <p:cNvPr id="2002956" name="Text Box 12"/>
          <p:cNvSpPr txBox="1">
            <a:spLocks noChangeArrowheads="1"/>
          </p:cNvSpPr>
          <p:nvPr/>
        </p:nvSpPr>
        <p:spPr bwMode="auto">
          <a:xfrm>
            <a:off x="1690688" y="155733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2957" name="Text Box 13"/>
          <p:cNvSpPr txBox="1">
            <a:spLocks noChangeArrowheads="1"/>
          </p:cNvSpPr>
          <p:nvPr/>
        </p:nvSpPr>
        <p:spPr bwMode="auto">
          <a:xfrm>
            <a:off x="1619250" y="41497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2958" name="Text Box 14"/>
          <p:cNvSpPr txBox="1">
            <a:spLocks noChangeArrowheads="1"/>
          </p:cNvSpPr>
          <p:nvPr/>
        </p:nvSpPr>
        <p:spPr bwMode="auto">
          <a:xfrm>
            <a:off x="6732588" y="6381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sp>
        <p:nvSpPr>
          <p:cNvPr id="2002960" name="Text Box 16"/>
          <p:cNvSpPr txBox="1">
            <a:spLocks noChangeArrowheads="1"/>
          </p:cNvSpPr>
          <p:nvPr/>
        </p:nvSpPr>
        <p:spPr bwMode="auto">
          <a:xfrm>
            <a:off x="2987675" y="42926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2966" name="Text Box 22"/>
          <p:cNvSpPr txBox="1">
            <a:spLocks noChangeArrowheads="1"/>
          </p:cNvSpPr>
          <p:nvPr/>
        </p:nvSpPr>
        <p:spPr bwMode="auto">
          <a:xfrm>
            <a:off x="7812088" y="41497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2968" name="Text Box 24"/>
          <p:cNvSpPr txBox="1">
            <a:spLocks noChangeArrowheads="1"/>
          </p:cNvSpPr>
          <p:nvPr/>
        </p:nvSpPr>
        <p:spPr bwMode="auto">
          <a:xfrm>
            <a:off x="3130550" y="169386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2974" name="Text Box 30"/>
          <p:cNvSpPr txBox="1">
            <a:spLocks noChangeArrowheads="1"/>
          </p:cNvSpPr>
          <p:nvPr/>
        </p:nvSpPr>
        <p:spPr bwMode="auto">
          <a:xfrm>
            <a:off x="8243888" y="17668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3970" name="Rectangle 2"/>
          <p:cNvSpPr>
            <a:spLocks noChangeArrowheads="1"/>
          </p:cNvSpPr>
          <p:nvPr/>
        </p:nvSpPr>
        <p:spPr bwMode="auto">
          <a:xfrm>
            <a:off x="685800" y="4208463"/>
            <a:ext cx="2743200" cy="1958975"/>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03971" name="Rectangle 3"/>
          <p:cNvSpPr>
            <a:spLocks noChangeArrowheads="1"/>
          </p:cNvSpPr>
          <p:nvPr/>
        </p:nvSpPr>
        <p:spPr bwMode="auto">
          <a:xfrm>
            <a:off x="3429000" y="4208463"/>
            <a:ext cx="5410200" cy="1958975"/>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03972" name="Object 4"/>
          <p:cNvGraphicFramePr>
            <a:graphicFrameLocks noChangeAspect="1"/>
          </p:cNvGraphicFramePr>
          <p:nvPr/>
        </p:nvGraphicFramePr>
        <p:xfrm>
          <a:off x="26988" y="2205038"/>
          <a:ext cx="8964612" cy="5014912"/>
        </p:xfrm>
        <a:graphic>
          <a:graphicData uri="http://schemas.openxmlformats.org/presentationml/2006/ole">
            <mc:AlternateContent xmlns:mc="http://schemas.openxmlformats.org/markup-compatibility/2006">
              <mc:Choice xmlns:v="urn:schemas-microsoft-com:vml" Requires="v">
                <p:oleObj spid="_x0000_s2003983" name="Gráfico" r:id="rId3" imgW="8334451" imgH="4676851" progId="MSGraph.Chart.8">
                  <p:embed followColorScheme="full"/>
                </p:oleObj>
              </mc:Choice>
              <mc:Fallback>
                <p:oleObj name="Gráfico" r:id="rId3" imgW="8334451" imgH="4676851" progId="MSGraph.Chart.8">
                  <p:embed followColorScheme="full"/>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8" y="2205038"/>
                        <a:ext cx="8964612" cy="5014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3973" name="Rectangle 5"/>
          <p:cNvSpPr>
            <a:spLocks noChangeArrowheads="1"/>
          </p:cNvSpPr>
          <p:nvPr/>
        </p:nvSpPr>
        <p:spPr bwMode="auto">
          <a:xfrm>
            <a:off x="685800" y="1916113"/>
            <a:ext cx="8153400" cy="1741487"/>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03974" name="Object 6"/>
          <p:cNvGraphicFramePr>
            <a:graphicFrameLocks noChangeAspect="1"/>
          </p:cNvGraphicFramePr>
          <p:nvPr/>
        </p:nvGraphicFramePr>
        <p:xfrm>
          <a:off x="0" y="-290513"/>
          <a:ext cx="8964613" cy="5014913"/>
        </p:xfrm>
        <a:graphic>
          <a:graphicData uri="http://schemas.openxmlformats.org/presentationml/2006/ole">
            <mc:AlternateContent xmlns:mc="http://schemas.openxmlformats.org/markup-compatibility/2006">
              <mc:Choice xmlns:v="urn:schemas-microsoft-com:vml" Requires="v">
                <p:oleObj spid="_x0000_s2003984" name="Gráfico" r:id="rId5" imgW="8334451" imgH="4676851" progId="MSGraph.Chart.8">
                  <p:embed followColorScheme="full"/>
                </p:oleObj>
              </mc:Choice>
              <mc:Fallback>
                <p:oleObj name="Gráfico" r:id="rId5" imgW="8334451" imgH="4676851"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90513"/>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3975" name="Text Box 7"/>
          <p:cNvSpPr txBox="1">
            <a:spLocks noChangeArrowheads="1"/>
          </p:cNvSpPr>
          <p:nvPr/>
        </p:nvSpPr>
        <p:spPr bwMode="auto">
          <a:xfrm>
            <a:off x="5410200" y="3810000"/>
            <a:ext cx="15240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
        <p:nvSpPr>
          <p:cNvPr id="2003976" name="Rectangle 8"/>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03977" name="Rectangle 9"/>
          <p:cNvSpPr>
            <a:spLocks noChangeArrowheads="1"/>
          </p:cNvSpPr>
          <p:nvPr/>
        </p:nvSpPr>
        <p:spPr bwMode="auto">
          <a:xfrm>
            <a:off x="609600" y="609600"/>
            <a:ext cx="350996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CONOCIMIENTO  DE FONOS POLICIALES</a:t>
            </a:r>
            <a:endParaRPr lang="es-ES" altLang="es-CL" sz="1600" b="1">
              <a:solidFill>
                <a:srgbClr val="FF9900"/>
              </a:solidFill>
            </a:endParaRPr>
          </a:p>
        </p:txBody>
      </p:sp>
      <p:sp>
        <p:nvSpPr>
          <p:cNvPr id="2003978" name="Rectangle 10"/>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¿Usted sabe cuál es el número telefónico de ...? Según GSE, Sexo y Tramo Etareo </a:t>
            </a:r>
            <a:endParaRPr lang="es-ES" altLang="es-CL" sz="1400">
              <a:solidFill>
                <a:srgbClr val="000099"/>
              </a:solidFill>
              <a:latin typeface="Arial Narrow" pitchFamily="34" charset="0"/>
            </a:endParaRPr>
          </a:p>
        </p:txBody>
      </p:sp>
      <p:sp>
        <p:nvSpPr>
          <p:cNvPr id="2003979" name="Text Box 11"/>
          <p:cNvSpPr txBox="1">
            <a:spLocks noChangeArrowheads="1"/>
          </p:cNvSpPr>
          <p:nvPr/>
        </p:nvSpPr>
        <p:spPr bwMode="auto">
          <a:xfrm>
            <a:off x="4114800" y="1560513"/>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03980" name="Text Box 12"/>
          <p:cNvSpPr txBox="1">
            <a:spLocks noChangeArrowheads="1"/>
          </p:cNvSpPr>
          <p:nvPr/>
        </p:nvSpPr>
        <p:spPr bwMode="auto">
          <a:xfrm>
            <a:off x="1524000" y="3830638"/>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04994" name="Object 2"/>
          <p:cNvGraphicFramePr>
            <a:graphicFrameLocks noChangeAspect="1"/>
          </p:cNvGraphicFramePr>
          <p:nvPr/>
        </p:nvGraphicFramePr>
        <p:xfrm>
          <a:off x="838200" y="1600200"/>
          <a:ext cx="4038600" cy="2616200"/>
        </p:xfrm>
        <a:graphic>
          <a:graphicData uri="http://schemas.openxmlformats.org/presentationml/2006/ole">
            <mc:AlternateContent xmlns:mc="http://schemas.openxmlformats.org/markup-compatibility/2006">
              <mc:Choice xmlns:v="urn:schemas-microsoft-com:vml" Requires="v">
                <p:oleObj spid="_x0000_s2005003" name="Gráfico" r:id="rId3" imgW="10658551" imgH="6896100" progId="MSGraph.Chart.8">
                  <p:embed followColorScheme="full"/>
                </p:oleObj>
              </mc:Choice>
              <mc:Fallback>
                <p:oleObj name="Gráfico" r:id="rId3" imgW="10658551" imgH="6896100"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600200"/>
                        <a:ext cx="4038600" cy="261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4995"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04996" name="Rectangle 4"/>
          <p:cNvSpPr>
            <a:spLocks noChangeArrowheads="1"/>
          </p:cNvSpPr>
          <p:nvPr/>
        </p:nvSpPr>
        <p:spPr bwMode="auto">
          <a:xfrm>
            <a:off x="609600" y="609600"/>
            <a:ext cx="38100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CONTACTO PERSONAL CON CARABINEROS</a:t>
            </a:r>
            <a:endParaRPr lang="es-ES" altLang="es-CL" sz="1600" b="1">
              <a:solidFill>
                <a:srgbClr val="FF9900"/>
              </a:solidFill>
            </a:endParaRPr>
          </a:p>
        </p:txBody>
      </p:sp>
      <p:sp>
        <p:nvSpPr>
          <p:cNvPr id="2004997" name="Rectangle 5"/>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Durante los últimos 12 meses, ¿Usted ha tenido contacto directo o personal (presencial) con Carabineros por cualquier motivo?</a:t>
            </a:r>
            <a:endParaRPr lang="es-ES" altLang="es-CL" sz="1400">
              <a:solidFill>
                <a:srgbClr val="000099"/>
              </a:solidFill>
              <a:latin typeface="Arial Narrow" pitchFamily="34" charset="0"/>
            </a:endParaRPr>
          </a:p>
        </p:txBody>
      </p:sp>
      <p:graphicFrame>
        <p:nvGraphicFramePr>
          <p:cNvPr id="2004998" name="Object 6"/>
          <p:cNvGraphicFramePr>
            <a:graphicFrameLocks noChangeAspect="1"/>
          </p:cNvGraphicFramePr>
          <p:nvPr/>
        </p:nvGraphicFramePr>
        <p:xfrm>
          <a:off x="4724400" y="3581400"/>
          <a:ext cx="4038600" cy="2616200"/>
        </p:xfrm>
        <a:graphic>
          <a:graphicData uri="http://schemas.openxmlformats.org/presentationml/2006/ole">
            <mc:AlternateContent xmlns:mc="http://schemas.openxmlformats.org/markup-compatibility/2006">
              <mc:Choice xmlns:v="urn:schemas-microsoft-com:vml" Requires="v">
                <p:oleObj spid="_x0000_s2005004" name="Gráfico" r:id="rId5" imgW="10658551" imgH="6896100" progId="MSGraph.Chart.8">
                  <p:embed followColorScheme="full"/>
                </p:oleObj>
              </mc:Choice>
              <mc:Fallback>
                <p:oleObj name="Gráfico" r:id="rId5" imgW="10658551" imgH="6896100"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3581400"/>
                        <a:ext cx="4038600" cy="261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4999" name="Text Box 7"/>
          <p:cNvSpPr txBox="1">
            <a:spLocks noChangeArrowheads="1"/>
          </p:cNvSpPr>
          <p:nvPr/>
        </p:nvSpPr>
        <p:spPr bwMode="auto">
          <a:xfrm>
            <a:off x="2057400" y="1828800"/>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(B:5544)</a:t>
            </a:r>
            <a:endParaRPr lang="es-ES" altLang="es-CL" b="1">
              <a:solidFill>
                <a:srgbClr val="FF9933"/>
              </a:solidFill>
            </a:endParaRPr>
          </a:p>
        </p:txBody>
      </p:sp>
      <p:sp>
        <p:nvSpPr>
          <p:cNvPr id="2005000" name="Text Box 8"/>
          <p:cNvSpPr txBox="1">
            <a:spLocks noChangeArrowheads="1"/>
          </p:cNvSpPr>
          <p:nvPr/>
        </p:nvSpPr>
        <p:spPr bwMode="auto">
          <a:xfrm>
            <a:off x="5943600" y="3810000"/>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(B:6048)</a:t>
            </a:r>
            <a:endParaRPr lang="es-ES" altLang="es-CL" b="1">
              <a:solidFill>
                <a:srgbClr val="FF9933"/>
              </a:solidFill>
            </a:endParaRP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06018" name="Object 2"/>
          <p:cNvGraphicFramePr>
            <a:graphicFrameLocks noChangeAspect="1"/>
          </p:cNvGraphicFramePr>
          <p:nvPr/>
        </p:nvGraphicFramePr>
        <p:xfrm>
          <a:off x="-469900" y="1143000"/>
          <a:ext cx="9613900" cy="5181600"/>
        </p:xfrm>
        <a:graphic>
          <a:graphicData uri="http://schemas.openxmlformats.org/presentationml/2006/ole">
            <mc:AlternateContent xmlns:mc="http://schemas.openxmlformats.org/markup-compatibility/2006">
              <mc:Choice xmlns:v="urn:schemas-microsoft-com:vml" Requires="v">
                <p:oleObj spid="_x0000_s2006040" name="Gráfico" r:id="rId3" imgW="8401202" imgH="4524451" progId="MSGraph.Chart.8">
                  <p:embed followColorScheme="full"/>
                </p:oleObj>
              </mc:Choice>
              <mc:Fallback>
                <p:oleObj name="Gráfico" r:id="rId3" imgW="8401202" imgH="4524451"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00" y="1143000"/>
                        <a:ext cx="96139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6019" name="Object 3"/>
          <p:cNvGraphicFramePr>
            <a:graphicFrameLocks noChangeAspect="1"/>
          </p:cNvGraphicFramePr>
          <p:nvPr/>
        </p:nvGraphicFramePr>
        <p:xfrm>
          <a:off x="-469900" y="-1371600"/>
          <a:ext cx="9613900" cy="5181600"/>
        </p:xfrm>
        <a:graphic>
          <a:graphicData uri="http://schemas.openxmlformats.org/presentationml/2006/ole">
            <mc:AlternateContent xmlns:mc="http://schemas.openxmlformats.org/markup-compatibility/2006">
              <mc:Choice xmlns:v="urn:schemas-microsoft-com:vml" Requires="v">
                <p:oleObj spid="_x0000_s2006041" name="Gráfico" r:id="rId5" imgW="8401202" imgH="4524451" progId="MSGraph.Chart.8">
                  <p:embed followColorScheme="full"/>
                </p:oleObj>
              </mc:Choice>
              <mc:Fallback>
                <p:oleObj name="Gráfico" r:id="rId5" imgW="8401202" imgH="4524451" progId="MSGraph.Chart.8">
                  <p:embed followColorScheme="full"/>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900" y="-1371600"/>
                        <a:ext cx="96139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6020"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06021" name="Rectangle 5"/>
          <p:cNvSpPr>
            <a:spLocks noChangeArrowheads="1"/>
          </p:cNvSpPr>
          <p:nvPr/>
        </p:nvSpPr>
        <p:spPr bwMode="auto">
          <a:xfrm>
            <a:off x="609600" y="609600"/>
            <a:ext cx="38100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CONTACTO PERSONAL CON CARABINEROS</a:t>
            </a:r>
            <a:endParaRPr lang="es-ES" altLang="es-CL" sz="1600" b="1">
              <a:solidFill>
                <a:srgbClr val="FF9900"/>
              </a:solidFill>
            </a:endParaRPr>
          </a:p>
        </p:txBody>
      </p:sp>
      <p:sp>
        <p:nvSpPr>
          <p:cNvPr id="2006022" name="Rectangle 6"/>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¿Usted ha tenido contacto directo o personal con Carabineros por cualquier motivo? % Sí, según Prefectura</a:t>
            </a:r>
            <a:endParaRPr lang="es-ES" altLang="es-CL" sz="1400">
              <a:solidFill>
                <a:srgbClr val="000099"/>
              </a:solidFill>
              <a:latin typeface="Arial Narrow" pitchFamily="34" charset="0"/>
            </a:endParaRPr>
          </a:p>
        </p:txBody>
      </p:sp>
      <p:sp>
        <p:nvSpPr>
          <p:cNvPr id="2006023" name="Text Box 7"/>
          <p:cNvSpPr txBox="1">
            <a:spLocks noChangeArrowheads="1"/>
          </p:cNvSpPr>
          <p:nvPr/>
        </p:nvSpPr>
        <p:spPr bwMode="auto">
          <a:xfrm>
            <a:off x="3419475" y="1316038"/>
            <a:ext cx="22098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2003</a:t>
            </a:r>
            <a:endParaRPr lang="es-ES" altLang="es-CL" b="1">
              <a:solidFill>
                <a:srgbClr val="FF9933"/>
              </a:solidFill>
              <a:latin typeface="Arial" charset="0"/>
            </a:endParaRPr>
          </a:p>
        </p:txBody>
      </p:sp>
      <p:sp>
        <p:nvSpPr>
          <p:cNvPr id="2006024" name="Text Box 8"/>
          <p:cNvSpPr txBox="1">
            <a:spLocks noChangeArrowheads="1"/>
          </p:cNvSpPr>
          <p:nvPr/>
        </p:nvSpPr>
        <p:spPr bwMode="auto">
          <a:xfrm>
            <a:off x="3581400" y="388620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
        <p:nvSpPr>
          <p:cNvPr id="2006027" name="Text Box 11"/>
          <p:cNvSpPr txBox="1">
            <a:spLocks noChangeArrowheads="1"/>
          </p:cNvSpPr>
          <p:nvPr/>
        </p:nvSpPr>
        <p:spPr bwMode="auto">
          <a:xfrm>
            <a:off x="6443663" y="6437313"/>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sp>
        <p:nvSpPr>
          <p:cNvPr id="2006030" name="Text Box 14"/>
          <p:cNvSpPr txBox="1">
            <a:spLocks noChangeArrowheads="1"/>
          </p:cNvSpPr>
          <p:nvPr/>
        </p:nvSpPr>
        <p:spPr bwMode="auto">
          <a:xfrm>
            <a:off x="4067175" y="184467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6031" name="Text Box 15"/>
          <p:cNvSpPr txBox="1">
            <a:spLocks noChangeArrowheads="1"/>
          </p:cNvSpPr>
          <p:nvPr/>
        </p:nvSpPr>
        <p:spPr bwMode="auto">
          <a:xfrm>
            <a:off x="3779838" y="443706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6032" name="Text Box 16"/>
          <p:cNvSpPr txBox="1">
            <a:spLocks noChangeArrowheads="1"/>
          </p:cNvSpPr>
          <p:nvPr/>
        </p:nvSpPr>
        <p:spPr bwMode="auto">
          <a:xfrm>
            <a:off x="5578475" y="17653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6033" name="Text Box 17"/>
          <p:cNvSpPr txBox="1">
            <a:spLocks noChangeArrowheads="1"/>
          </p:cNvSpPr>
          <p:nvPr/>
        </p:nvSpPr>
        <p:spPr bwMode="auto">
          <a:xfrm>
            <a:off x="5148263" y="43576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6034" name="Text Box 18"/>
          <p:cNvSpPr txBox="1">
            <a:spLocks noChangeArrowheads="1"/>
          </p:cNvSpPr>
          <p:nvPr/>
        </p:nvSpPr>
        <p:spPr bwMode="auto">
          <a:xfrm>
            <a:off x="7019925" y="19812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6035" name="Text Box 19"/>
          <p:cNvSpPr txBox="1">
            <a:spLocks noChangeArrowheads="1"/>
          </p:cNvSpPr>
          <p:nvPr/>
        </p:nvSpPr>
        <p:spPr bwMode="auto">
          <a:xfrm>
            <a:off x="6515100" y="422116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6036" name="Text Box 20"/>
          <p:cNvSpPr txBox="1">
            <a:spLocks noChangeArrowheads="1"/>
          </p:cNvSpPr>
          <p:nvPr/>
        </p:nvSpPr>
        <p:spPr bwMode="auto">
          <a:xfrm>
            <a:off x="8532813" y="198913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06037" name="Text Box 21"/>
          <p:cNvSpPr txBox="1">
            <a:spLocks noChangeArrowheads="1"/>
          </p:cNvSpPr>
          <p:nvPr/>
        </p:nvSpPr>
        <p:spPr bwMode="auto">
          <a:xfrm>
            <a:off x="7885113" y="428625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45" name="Rectangle 5"/>
          <p:cNvSpPr>
            <a:spLocks noChangeArrowheads="1"/>
          </p:cNvSpPr>
          <p:nvPr/>
        </p:nvSpPr>
        <p:spPr bwMode="auto">
          <a:xfrm>
            <a:off x="609600" y="1916113"/>
            <a:ext cx="8305800" cy="1673225"/>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07046" name="Object 6"/>
          <p:cNvGraphicFramePr>
            <a:graphicFrameLocks noChangeAspect="1"/>
          </p:cNvGraphicFramePr>
          <p:nvPr/>
        </p:nvGraphicFramePr>
        <p:xfrm>
          <a:off x="-533400" y="-1600200"/>
          <a:ext cx="9613900" cy="5105400"/>
        </p:xfrm>
        <a:graphic>
          <a:graphicData uri="http://schemas.openxmlformats.org/presentationml/2006/ole">
            <mc:AlternateContent xmlns:mc="http://schemas.openxmlformats.org/markup-compatibility/2006">
              <mc:Choice xmlns:v="urn:schemas-microsoft-com:vml" Requires="v">
                <p:oleObj spid="_x0000_s2007055" name="Gráfico" r:id="rId3" imgW="8401202" imgH="4524451" progId="MSGraph.Chart.8">
                  <p:embed followColorScheme="full"/>
                </p:oleObj>
              </mc:Choice>
              <mc:Fallback>
                <p:oleObj name="Gráfico" r:id="rId3" imgW="8401202" imgH="4524451" progId="MSGraph.Chart.8">
                  <p:embed followColorScheme="full"/>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600200"/>
                        <a:ext cx="9613900" cy="510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7042" name="Rectangle 2"/>
          <p:cNvSpPr>
            <a:spLocks noChangeArrowheads="1"/>
          </p:cNvSpPr>
          <p:nvPr/>
        </p:nvSpPr>
        <p:spPr bwMode="auto">
          <a:xfrm>
            <a:off x="609600" y="4365625"/>
            <a:ext cx="2743200" cy="1871663"/>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07043" name="Rectangle 3"/>
          <p:cNvSpPr>
            <a:spLocks noChangeArrowheads="1"/>
          </p:cNvSpPr>
          <p:nvPr/>
        </p:nvSpPr>
        <p:spPr bwMode="auto">
          <a:xfrm>
            <a:off x="3352800" y="4365625"/>
            <a:ext cx="5562600" cy="1871663"/>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07044" name="Object 4"/>
          <p:cNvGraphicFramePr>
            <a:graphicFrameLocks noChangeAspect="1"/>
          </p:cNvGraphicFramePr>
          <p:nvPr/>
        </p:nvGraphicFramePr>
        <p:xfrm>
          <a:off x="-546100" y="1052513"/>
          <a:ext cx="9613900" cy="5105400"/>
        </p:xfrm>
        <a:graphic>
          <a:graphicData uri="http://schemas.openxmlformats.org/presentationml/2006/ole">
            <mc:AlternateContent xmlns:mc="http://schemas.openxmlformats.org/markup-compatibility/2006">
              <mc:Choice xmlns:v="urn:schemas-microsoft-com:vml" Requires="v">
                <p:oleObj spid="_x0000_s2007056" name="Gráfico" r:id="rId5" imgW="8401202" imgH="4524451" progId="MSGraph.Chart.8">
                  <p:embed followColorScheme="full"/>
                </p:oleObj>
              </mc:Choice>
              <mc:Fallback>
                <p:oleObj name="Gráfico" r:id="rId5" imgW="8401202" imgH="4524451" progId="MSGraph.Chart.8">
                  <p:embed followColorScheme="full"/>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100" y="1052513"/>
                        <a:ext cx="9613900" cy="510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7047"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07048" name="Rectangle 8"/>
          <p:cNvSpPr>
            <a:spLocks noChangeArrowheads="1"/>
          </p:cNvSpPr>
          <p:nvPr/>
        </p:nvSpPr>
        <p:spPr bwMode="auto">
          <a:xfrm>
            <a:off x="609600" y="609600"/>
            <a:ext cx="38100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CONTACTO PERSONAL CON CARABINEROS</a:t>
            </a:r>
            <a:endParaRPr lang="es-ES" altLang="es-CL" sz="1600" b="1">
              <a:solidFill>
                <a:srgbClr val="FF9900"/>
              </a:solidFill>
            </a:endParaRPr>
          </a:p>
        </p:txBody>
      </p:sp>
      <p:sp>
        <p:nvSpPr>
          <p:cNvPr id="2007049" name="Rectangle 9"/>
          <p:cNvSpPr>
            <a:spLocks noChangeArrowheads="1"/>
          </p:cNvSpPr>
          <p:nvPr/>
        </p:nvSpPr>
        <p:spPr bwMode="auto">
          <a:xfrm>
            <a:off x="609600" y="914400"/>
            <a:ext cx="8012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¿Usted ha tenido contacto directo o personal con Carabineros por cualquier motivo? % Sí, según GSE, Sexo y Tramo Etareo</a:t>
            </a:r>
            <a:endParaRPr lang="es-ES" altLang="es-CL" sz="1400">
              <a:solidFill>
                <a:srgbClr val="000099"/>
              </a:solidFill>
              <a:latin typeface="Arial Narrow" pitchFamily="34" charset="0"/>
            </a:endParaRPr>
          </a:p>
        </p:txBody>
      </p:sp>
      <p:sp>
        <p:nvSpPr>
          <p:cNvPr id="2007050" name="Text Box 10"/>
          <p:cNvSpPr txBox="1">
            <a:spLocks noChangeArrowheads="1"/>
          </p:cNvSpPr>
          <p:nvPr/>
        </p:nvSpPr>
        <p:spPr bwMode="auto">
          <a:xfrm>
            <a:off x="4114800" y="14478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07051" name="Text Box 11"/>
          <p:cNvSpPr txBox="1">
            <a:spLocks noChangeArrowheads="1"/>
          </p:cNvSpPr>
          <p:nvPr/>
        </p:nvSpPr>
        <p:spPr bwMode="auto">
          <a:xfrm>
            <a:off x="1447800" y="39624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07052" name="Text Box 12"/>
          <p:cNvSpPr txBox="1">
            <a:spLocks noChangeArrowheads="1"/>
          </p:cNvSpPr>
          <p:nvPr/>
        </p:nvSpPr>
        <p:spPr bwMode="auto">
          <a:xfrm>
            <a:off x="5410200" y="3962400"/>
            <a:ext cx="15240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08066" name="Object 2"/>
          <p:cNvGraphicFramePr>
            <a:graphicFrameLocks noChangeAspect="1"/>
          </p:cNvGraphicFramePr>
          <p:nvPr/>
        </p:nvGraphicFramePr>
        <p:xfrm>
          <a:off x="-530225" y="1916113"/>
          <a:ext cx="6038850" cy="4208462"/>
        </p:xfrm>
        <a:graphic>
          <a:graphicData uri="http://schemas.openxmlformats.org/presentationml/2006/ole">
            <mc:AlternateContent xmlns:mc="http://schemas.openxmlformats.org/markup-compatibility/2006">
              <mc:Choice xmlns:v="urn:schemas-microsoft-com:vml" Requires="v">
                <p:oleObj spid="_x0000_s2008075" name="Gráfico" r:id="rId3" imgW="10706100" imgH="7467600" progId="MSGraph.Chart.8">
                  <p:embed followColorScheme="full"/>
                </p:oleObj>
              </mc:Choice>
              <mc:Fallback>
                <p:oleObj name="Gráfico" r:id="rId3" imgW="10706100" imgH="7467600"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225" y="1916113"/>
                        <a:ext cx="6038850" cy="420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8067"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08068" name="Rectangle 4"/>
          <p:cNvSpPr>
            <a:spLocks noChangeArrowheads="1"/>
          </p:cNvSpPr>
          <p:nvPr/>
        </p:nvSpPr>
        <p:spPr bwMode="auto">
          <a:xfrm>
            <a:off x="609600" y="609600"/>
            <a:ext cx="211137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MOTIVO DE CONTACTO</a:t>
            </a:r>
            <a:endParaRPr lang="es-ES" altLang="es-CL" sz="1600" b="1">
              <a:solidFill>
                <a:srgbClr val="FF9900"/>
              </a:solidFill>
            </a:endParaRPr>
          </a:p>
        </p:txBody>
      </p:sp>
      <p:sp>
        <p:nvSpPr>
          <p:cNvPr id="2008069" name="Rectangle 5"/>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¿Cuál fue el (los) motivo(s) por el cual usted tomó contacto directo o personal con Carabineros?  % Sí</a:t>
            </a:r>
            <a:endParaRPr lang="es-ES" altLang="es-CL" sz="1400">
              <a:solidFill>
                <a:srgbClr val="000099"/>
              </a:solidFill>
              <a:latin typeface="Arial Narrow" pitchFamily="34" charset="0"/>
            </a:endParaRPr>
          </a:p>
        </p:txBody>
      </p:sp>
      <p:graphicFrame>
        <p:nvGraphicFramePr>
          <p:cNvPr id="2008070" name="Object 6"/>
          <p:cNvGraphicFramePr>
            <a:graphicFrameLocks noChangeAspect="1"/>
          </p:cNvGraphicFramePr>
          <p:nvPr/>
        </p:nvGraphicFramePr>
        <p:xfrm>
          <a:off x="3492500" y="1916113"/>
          <a:ext cx="6038850" cy="4165600"/>
        </p:xfrm>
        <a:graphic>
          <a:graphicData uri="http://schemas.openxmlformats.org/presentationml/2006/ole">
            <mc:AlternateContent xmlns:mc="http://schemas.openxmlformats.org/markup-compatibility/2006">
              <mc:Choice xmlns:v="urn:schemas-microsoft-com:vml" Requires="v">
                <p:oleObj spid="_x0000_s2008076" name="Gráfico" r:id="rId5" imgW="10706100" imgH="7391400" progId="MSGraph.Chart.8">
                  <p:embed followColorScheme="full"/>
                </p:oleObj>
              </mc:Choice>
              <mc:Fallback>
                <p:oleObj name="Gráfico" r:id="rId5" imgW="10706100" imgH="7391400"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1916113"/>
                        <a:ext cx="6038850" cy="416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8071" name="Text Box 7"/>
          <p:cNvSpPr txBox="1">
            <a:spLocks noChangeArrowheads="1"/>
          </p:cNvSpPr>
          <p:nvPr/>
        </p:nvSpPr>
        <p:spPr bwMode="auto">
          <a:xfrm>
            <a:off x="1692275" y="148431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(B:2016)</a:t>
            </a:r>
            <a:endParaRPr lang="es-ES" altLang="es-CL" b="1">
              <a:solidFill>
                <a:srgbClr val="FF9933"/>
              </a:solidFill>
            </a:endParaRPr>
          </a:p>
        </p:txBody>
      </p:sp>
      <p:sp>
        <p:nvSpPr>
          <p:cNvPr id="2008072" name="Text Box 8"/>
          <p:cNvSpPr txBox="1">
            <a:spLocks noChangeArrowheads="1"/>
          </p:cNvSpPr>
          <p:nvPr/>
        </p:nvSpPr>
        <p:spPr bwMode="auto">
          <a:xfrm>
            <a:off x="6416675" y="148431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 2260)</a:t>
            </a:r>
            <a:endParaRPr lang="es-ES" altLang="es-CL" b="1">
              <a:solidFill>
                <a:srgbClr val="FF9933"/>
              </a:solidFill>
            </a:endParaRPr>
          </a:p>
        </p:txBody>
      </p:sp>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09091" name="Object 3"/>
          <p:cNvGraphicFramePr>
            <a:graphicFrameLocks noChangeAspect="1"/>
          </p:cNvGraphicFramePr>
          <p:nvPr/>
        </p:nvGraphicFramePr>
        <p:xfrm>
          <a:off x="179388" y="1841500"/>
          <a:ext cx="8964612" cy="5014913"/>
        </p:xfrm>
        <a:graphic>
          <a:graphicData uri="http://schemas.openxmlformats.org/presentationml/2006/ole">
            <mc:AlternateContent xmlns:mc="http://schemas.openxmlformats.org/markup-compatibility/2006">
              <mc:Choice xmlns:v="urn:schemas-microsoft-com:vml" Requires="v">
                <p:oleObj spid="_x0000_s2009103" name="Gráfico" r:id="rId3" imgW="8334451" imgH="4676851" progId="MSGraph.Chart.8">
                  <p:embed followColorScheme="full"/>
                </p:oleObj>
              </mc:Choice>
              <mc:Fallback>
                <p:oleObj name="Gráfico" r:id="rId3" imgW="8334451" imgH="4676851" progId="MSGraph.Chart.8">
                  <p:embed followColorScheme="full"/>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841500"/>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9092" name="Object 4"/>
          <p:cNvGraphicFramePr>
            <a:graphicFrameLocks noChangeAspect="1"/>
          </p:cNvGraphicFramePr>
          <p:nvPr/>
        </p:nvGraphicFramePr>
        <p:xfrm>
          <a:off x="144463" y="-242888"/>
          <a:ext cx="8964612" cy="5014913"/>
        </p:xfrm>
        <a:graphic>
          <a:graphicData uri="http://schemas.openxmlformats.org/presentationml/2006/ole">
            <mc:AlternateContent xmlns:mc="http://schemas.openxmlformats.org/markup-compatibility/2006">
              <mc:Choice xmlns:v="urn:schemas-microsoft-com:vml" Requires="v">
                <p:oleObj spid="_x0000_s2009104" name="Gráfico" r:id="rId5" imgW="8334451" imgH="4676851" progId="MSGraph.Chart.8">
                  <p:embed followColorScheme="full"/>
                </p:oleObj>
              </mc:Choice>
              <mc:Fallback>
                <p:oleObj name="Gráfico" r:id="rId5" imgW="8334451" imgH="4676851" progId="MSGraph.Chart.8">
                  <p:embed followColorScheme="full"/>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463" y="-242888"/>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9094" name="Rectangle 6"/>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09098" name="Text Box 10"/>
          <p:cNvSpPr txBox="1">
            <a:spLocks noChangeArrowheads="1"/>
          </p:cNvSpPr>
          <p:nvPr/>
        </p:nvSpPr>
        <p:spPr bwMode="auto">
          <a:xfrm>
            <a:off x="3581400" y="153035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
        <p:nvSpPr>
          <p:cNvPr id="2009099" name="Rectangle 11"/>
          <p:cNvSpPr>
            <a:spLocks noChangeArrowheads="1"/>
          </p:cNvSpPr>
          <p:nvPr/>
        </p:nvSpPr>
        <p:spPr bwMode="auto">
          <a:xfrm>
            <a:off x="609600" y="609600"/>
            <a:ext cx="211137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MOTIVO DE CONTACTO</a:t>
            </a:r>
            <a:endParaRPr lang="es-ES" altLang="es-CL" sz="1600" b="1">
              <a:solidFill>
                <a:srgbClr val="FF9900"/>
              </a:solidFill>
            </a:endParaRPr>
          </a:p>
        </p:txBody>
      </p:sp>
      <p:sp>
        <p:nvSpPr>
          <p:cNvPr id="2009100" name="Rectangle 12"/>
          <p:cNvSpPr>
            <a:spLocks noChangeArrowheads="1"/>
          </p:cNvSpPr>
          <p:nvPr/>
        </p:nvSpPr>
        <p:spPr bwMode="auto">
          <a:xfrm>
            <a:off x="609600" y="914400"/>
            <a:ext cx="8534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¿Cuál fue el (los) motivo(s) por el cual usted tomó contacto directo o personal con Carabineros?  % Sí según Prefecturas</a:t>
            </a:r>
            <a:endParaRPr lang="es-ES" altLang="es-CL" sz="1400">
              <a:solidFill>
                <a:srgbClr val="000099"/>
              </a:solidFill>
              <a:latin typeface="Arial Narrow" pitchFamily="34" charset="0"/>
            </a:endParaRP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0117" name="Rectangle 5"/>
          <p:cNvSpPr>
            <a:spLocks noChangeArrowheads="1"/>
          </p:cNvSpPr>
          <p:nvPr/>
        </p:nvSpPr>
        <p:spPr bwMode="auto">
          <a:xfrm>
            <a:off x="755650" y="1916113"/>
            <a:ext cx="8007350" cy="1741487"/>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10114" name="Rectangle 2"/>
          <p:cNvSpPr>
            <a:spLocks noChangeArrowheads="1"/>
          </p:cNvSpPr>
          <p:nvPr/>
        </p:nvSpPr>
        <p:spPr bwMode="auto">
          <a:xfrm>
            <a:off x="755650" y="4292600"/>
            <a:ext cx="2663825" cy="172720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10115" name="Rectangle 3"/>
          <p:cNvSpPr>
            <a:spLocks noChangeArrowheads="1"/>
          </p:cNvSpPr>
          <p:nvPr/>
        </p:nvSpPr>
        <p:spPr bwMode="auto">
          <a:xfrm>
            <a:off x="3419475" y="4292600"/>
            <a:ext cx="5329238" cy="1727200"/>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10118" name="Object 6"/>
          <p:cNvGraphicFramePr>
            <a:graphicFrameLocks noChangeAspect="1"/>
          </p:cNvGraphicFramePr>
          <p:nvPr/>
        </p:nvGraphicFramePr>
        <p:xfrm>
          <a:off x="103188" y="-304800"/>
          <a:ext cx="8964612" cy="5014913"/>
        </p:xfrm>
        <a:graphic>
          <a:graphicData uri="http://schemas.openxmlformats.org/presentationml/2006/ole">
            <mc:AlternateContent xmlns:mc="http://schemas.openxmlformats.org/markup-compatibility/2006">
              <mc:Choice xmlns:v="urn:schemas-microsoft-com:vml" Requires="v">
                <p:oleObj spid="_x0000_s2010129" name="Gráfico" r:id="rId3" imgW="8334451" imgH="4676851" progId="MSGraph.Chart.8">
                  <p:embed followColorScheme="full"/>
                </p:oleObj>
              </mc:Choice>
              <mc:Fallback>
                <p:oleObj name="Gráfico" r:id="rId3" imgW="8334451" imgH="4676851" progId="MSGraph.Chart.8">
                  <p:embed followColorScheme="full"/>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88" y="-304800"/>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0116" name="Object 4"/>
          <p:cNvGraphicFramePr>
            <a:graphicFrameLocks noChangeAspect="1"/>
          </p:cNvGraphicFramePr>
          <p:nvPr/>
        </p:nvGraphicFramePr>
        <p:xfrm>
          <a:off x="152400" y="2133600"/>
          <a:ext cx="8964613" cy="5014913"/>
        </p:xfrm>
        <a:graphic>
          <a:graphicData uri="http://schemas.openxmlformats.org/presentationml/2006/ole">
            <mc:AlternateContent xmlns:mc="http://schemas.openxmlformats.org/markup-compatibility/2006">
              <mc:Choice xmlns:v="urn:schemas-microsoft-com:vml" Requires="v">
                <p:oleObj spid="_x0000_s2010130" name="Gráfico" r:id="rId5" imgW="8334451" imgH="4676851" progId="MSGraph.Chart.8">
                  <p:embed followColorScheme="full"/>
                </p:oleObj>
              </mc:Choice>
              <mc:Fallback>
                <p:oleObj name="Gráfico" r:id="rId5" imgW="8334451" imgH="4676851" progId="MSGraph.Chart.8">
                  <p:embed followColorScheme="full"/>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2133600"/>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0119"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10122" name="Text Box 10"/>
          <p:cNvSpPr txBox="1">
            <a:spLocks noChangeArrowheads="1"/>
          </p:cNvSpPr>
          <p:nvPr/>
        </p:nvSpPr>
        <p:spPr bwMode="auto">
          <a:xfrm>
            <a:off x="4114800" y="14478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10123" name="Text Box 11"/>
          <p:cNvSpPr txBox="1">
            <a:spLocks noChangeArrowheads="1"/>
          </p:cNvSpPr>
          <p:nvPr/>
        </p:nvSpPr>
        <p:spPr bwMode="auto">
          <a:xfrm>
            <a:off x="1600200" y="38862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10124" name="Text Box 12"/>
          <p:cNvSpPr txBox="1">
            <a:spLocks noChangeArrowheads="1"/>
          </p:cNvSpPr>
          <p:nvPr/>
        </p:nvSpPr>
        <p:spPr bwMode="auto">
          <a:xfrm>
            <a:off x="5410200" y="3886200"/>
            <a:ext cx="15240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
        <p:nvSpPr>
          <p:cNvPr id="2010125" name="Rectangle 13"/>
          <p:cNvSpPr>
            <a:spLocks noChangeArrowheads="1"/>
          </p:cNvSpPr>
          <p:nvPr/>
        </p:nvSpPr>
        <p:spPr bwMode="auto">
          <a:xfrm>
            <a:off x="609600" y="609600"/>
            <a:ext cx="211137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MOTIVO DE CONTACTO</a:t>
            </a:r>
            <a:endParaRPr lang="es-ES" altLang="es-CL" sz="1600" b="1">
              <a:solidFill>
                <a:srgbClr val="FF9900"/>
              </a:solidFill>
            </a:endParaRPr>
          </a:p>
        </p:txBody>
      </p:sp>
      <p:sp>
        <p:nvSpPr>
          <p:cNvPr id="2010126" name="Rectangle 14"/>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¿Cuál fue el (los) motivo(s) por el cual usted tomó contacto directo o personal con Carabineros?  % Sí según GSE, Sexo y Tramo Etareo</a:t>
            </a:r>
            <a:endParaRPr lang="es-ES" altLang="es-CL" sz="1400">
              <a:solidFill>
                <a:srgbClr val="000099"/>
              </a:solidFill>
              <a:latin typeface="Arial Narrow" pitchFamily="34" charset="0"/>
            </a:endParaRPr>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6259"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16260" name="Rectangle 4"/>
          <p:cNvSpPr>
            <a:spLocks noChangeArrowheads="1"/>
          </p:cNvSpPr>
          <p:nvPr/>
        </p:nvSpPr>
        <p:spPr bwMode="auto">
          <a:xfrm>
            <a:off x="706438" y="609600"/>
            <a:ext cx="235267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MX" altLang="es-CL" sz="1600" b="1">
                <a:solidFill>
                  <a:srgbClr val="FF9900"/>
                </a:solidFill>
              </a:rPr>
              <a:t>NÚMERO  DE CONTACTOS</a:t>
            </a:r>
            <a:endParaRPr lang="es-ES" altLang="es-CL" sz="1600" b="1">
              <a:solidFill>
                <a:srgbClr val="FF9900"/>
              </a:solidFill>
            </a:endParaRPr>
          </a:p>
        </p:txBody>
      </p:sp>
      <p:sp>
        <p:nvSpPr>
          <p:cNvPr id="2016261" name="Rectangle 5"/>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eaLnBrk="1" hangingPunct="1"/>
            <a:r>
              <a:rPr lang="es-ES_tradnl" altLang="es-CL" sz="1400">
                <a:solidFill>
                  <a:srgbClr val="000099"/>
                </a:solidFill>
                <a:latin typeface="Arial Narrow" pitchFamily="34" charset="0"/>
              </a:rPr>
              <a:t>¿Y cuántas veces usted tomó contacto por ese (esos) motivos(s)?  </a:t>
            </a:r>
            <a:endParaRPr lang="es-ES" altLang="es-CL" sz="1400">
              <a:solidFill>
                <a:srgbClr val="000099"/>
              </a:solidFill>
              <a:latin typeface="Arial Narrow" pitchFamily="34" charset="0"/>
            </a:endParaRPr>
          </a:p>
        </p:txBody>
      </p:sp>
      <p:graphicFrame>
        <p:nvGraphicFramePr>
          <p:cNvPr id="2016271" name="Object 15"/>
          <p:cNvGraphicFramePr>
            <a:graphicFrameLocks noGrp="1" noChangeAspect="1"/>
          </p:cNvGraphicFramePr>
          <p:nvPr>
            <p:ph/>
          </p:nvPr>
        </p:nvGraphicFramePr>
        <p:xfrm>
          <a:off x="754063" y="2185988"/>
          <a:ext cx="8139112" cy="2611437"/>
        </p:xfrm>
        <a:graphic>
          <a:graphicData uri="http://schemas.openxmlformats.org/presentationml/2006/ole">
            <mc:AlternateContent xmlns:mc="http://schemas.openxmlformats.org/markup-compatibility/2006">
              <mc:Choice xmlns:v="urn:schemas-microsoft-com:vml" Requires="v">
                <p:oleObj spid="_x0000_s2016274" name="Hoja de cálculo" r:id="rId4" imgW="5581802" imgH="1790700" progId="Excel.Sheet.8">
                  <p:embed/>
                </p:oleObj>
              </mc:Choice>
              <mc:Fallback>
                <p:oleObj name="Hoja de cálculo" r:id="rId4" imgW="5581802" imgH="1790700" progId="Excel.Sheet.8">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063" y="2185988"/>
                        <a:ext cx="8139112" cy="2611437"/>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11145" name="Object 9"/>
          <p:cNvGraphicFramePr>
            <a:graphicFrameLocks noChangeAspect="1"/>
          </p:cNvGraphicFramePr>
          <p:nvPr/>
        </p:nvGraphicFramePr>
        <p:xfrm>
          <a:off x="3779838" y="3244850"/>
          <a:ext cx="4953000" cy="3208338"/>
        </p:xfrm>
        <a:graphic>
          <a:graphicData uri="http://schemas.openxmlformats.org/presentationml/2006/ole">
            <mc:AlternateContent xmlns:mc="http://schemas.openxmlformats.org/markup-compatibility/2006">
              <mc:Choice xmlns:v="urn:schemas-microsoft-com:vml" Requires="v">
                <p:oleObj spid="_x0000_s2011159" name="Gráfico" r:id="rId3" imgW="10658551" imgH="6896100" progId="MSGraph.Chart.8">
                  <p:embed followColorScheme="full"/>
                </p:oleObj>
              </mc:Choice>
              <mc:Fallback>
                <p:oleObj name="Gráfico" r:id="rId3" imgW="10658551" imgH="6896100" progId="MSGraph.Chart.8">
                  <p:embed followColorScheme="full"/>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3244850"/>
                        <a:ext cx="4953000" cy="3208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11138" name="Object 2"/>
          <p:cNvGraphicFramePr>
            <a:graphicFrameLocks noChangeAspect="1"/>
          </p:cNvGraphicFramePr>
          <p:nvPr/>
        </p:nvGraphicFramePr>
        <p:xfrm>
          <a:off x="384175" y="1135063"/>
          <a:ext cx="4953000" cy="3208337"/>
        </p:xfrm>
        <a:graphic>
          <a:graphicData uri="http://schemas.openxmlformats.org/presentationml/2006/ole">
            <mc:AlternateContent xmlns:mc="http://schemas.openxmlformats.org/markup-compatibility/2006">
              <mc:Choice xmlns:v="urn:schemas-microsoft-com:vml" Requires="v">
                <p:oleObj spid="_x0000_s2011160" name="Gráfico" r:id="rId5" imgW="10658551" imgH="6896100" progId="MSGraph.Chart.8">
                  <p:embed followColorScheme="full"/>
                </p:oleObj>
              </mc:Choice>
              <mc:Fallback>
                <p:oleObj name="Gráfico" r:id="rId5" imgW="10658551" imgH="6896100" progId="MSGraph.Chart.8">
                  <p:embed followColorScheme="full"/>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175" y="1135063"/>
                        <a:ext cx="4953000" cy="3208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11139"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11140" name="Rectangle 4"/>
          <p:cNvSpPr>
            <a:spLocks noChangeArrowheads="1"/>
          </p:cNvSpPr>
          <p:nvPr/>
        </p:nvSpPr>
        <p:spPr bwMode="auto">
          <a:xfrm>
            <a:off x="609600" y="549275"/>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ATENCIÓN DE CARABINEROS</a:t>
            </a:r>
            <a:endParaRPr lang="es-ES" altLang="es-CL" sz="1600" b="1">
              <a:solidFill>
                <a:srgbClr val="FF9900"/>
              </a:solidFill>
              <a:latin typeface="Arial Narrow" pitchFamily="34" charset="0"/>
            </a:endParaRPr>
          </a:p>
        </p:txBody>
      </p:sp>
      <p:sp>
        <p:nvSpPr>
          <p:cNvPr id="2011141" name="Rectangle 5"/>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evaluaría en términos generales la atención que usted recibió por parte del personal de Carabineros?</a:t>
            </a:r>
          </a:p>
          <a:p>
            <a:r>
              <a:rPr lang="es-ES" altLang="es-CL" sz="1400">
                <a:solidFill>
                  <a:srgbClr val="000099"/>
                </a:solidFill>
                <a:latin typeface="Arial Narrow" pitchFamily="34" charset="0"/>
              </a:rPr>
              <a:t>(B: </a:t>
            </a:r>
            <a:r>
              <a:rPr lang="es-ES_tradnl" altLang="es-CL" sz="1400">
                <a:solidFill>
                  <a:srgbClr val="000099"/>
                </a:solidFill>
                <a:latin typeface="Arial Narrow" pitchFamily="34" charset="0"/>
              </a:rPr>
              <a:t>Quienes han tenido contacto personal con Carabineros</a:t>
            </a:r>
            <a:r>
              <a:rPr lang="es-ES" altLang="es-CL" sz="1400">
                <a:solidFill>
                  <a:srgbClr val="000099"/>
                </a:solidFill>
                <a:latin typeface="Arial Narrow" pitchFamily="34" charset="0"/>
              </a:rPr>
              <a:t>)</a:t>
            </a:r>
          </a:p>
        </p:txBody>
      </p:sp>
      <p:sp>
        <p:nvSpPr>
          <p:cNvPr id="2011142" name="Text Box 6"/>
          <p:cNvSpPr txBox="1">
            <a:spLocks noChangeArrowheads="1"/>
          </p:cNvSpPr>
          <p:nvPr/>
        </p:nvSpPr>
        <p:spPr bwMode="auto">
          <a:xfrm>
            <a:off x="1835150" y="1557338"/>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(B:2016)</a:t>
            </a:r>
            <a:endParaRPr lang="es-ES" altLang="es-CL" b="1">
              <a:solidFill>
                <a:srgbClr val="FF9933"/>
              </a:solidFill>
            </a:endParaRPr>
          </a:p>
        </p:txBody>
      </p:sp>
      <p:sp>
        <p:nvSpPr>
          <p:cNvPr id="2011143" name="Text Box 7"/>
          <p:cNvSpPr txBox="1">
            <a:spLocks noChangeArrowheads="1"/>
          </p:cNvSpPr>
          <p:nvPr/>
        </p:nvSpPr>
        <p:spPr bwMode="auto">
          <a:xfrm>
            <a:off x="5724525" y="357346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(B:2260)</a:t>
            </a:r>
            <a:endParaRPr lang="es-ES" altLang="es-CL" b="1">
              <a:solidFill>
                <a:srgbClr val="FF9933"/>
              </a:solidFill>
            </a:endParaRPr>
          </a:p>
        </p:txBody>
      </p:sp>
      <p:grpSp>
        <p:nvGrpSpPr>
          <p:cNvPr id="2011156" name="Group 20"/>
          <p:cNvGrpSpPr>
            <a:grpSpLocks/>
          </p:cNvGrpSpPr>
          <p:nvPr/>
        </p:nvGrpSpPr>
        <p:grpSpPr bwMode="auto">
          <a:xfrm>
            <a:off x="3490913" y="1700213"/>
            <a:ext cx="2376487" cy="2089150"/>
            <a:chOff x="2199" y="1071"/>
            <a:chExt cx="1497" cy="1316"/>
          </a:xfrm>
        </p:grpSpPr>
        <p:sp>
          <p:nvSpPr>
            <p:cNvPr id="2011146" name="Rectangle 10"/>
            <p:cNvSpPr>
              <a:spLocks noChangeArrowheads="1"/>
            </p:cNvSpPr>
            <p:nvPr/>
          </p:nvSpPr>
          <p:spPr bwMode="auto">
            <a:xfrm>
              <a:off x="2199" y="1071"/>
              <a:ext cx="1043" cy="1316"/>
            </a:xfrm>
            <a:prstGeom prst="rect">
              <a:avLst/>
            </a:prstGeom>
            <a:noFill/>
            <a:ln w="28575">
              <a:solidFill>
                <a:srgbClr val="0000FF"/>
              </a:solidFill>
              <a:prstDash val="sysDot"/>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11147" name="Text Box 11"/>
            <p:cNvSpPr txBox="1">
              <a:spLocks noChangeArrowheads="1"/>
            </p:cNvSpPr>
            <p:nvPr/>
          </p:nvSpPr>
          <p:spPr bwMode="auto">
            <a:xfrm>
              <a:off x="3061" y="1207"/>
              <a:ext cx="635" cy="576"/>
            </a:xfrm>
            <a:prstGeom prst="rect">
              <a:avLst/>
            </a:prstGeom>
            <a:gradFill rotWithShape="1">
              <a:gsLst>
                <a:gs pos="0">
                  <a:srgbClr val="000080"/>
                </a:gs>
                <a:gs pos="50000">
                  <a:srgbClr val="000080">
                    <a:gamma/>
                    <a:tint val="48627"/>
                    <a:invGamma/>
                  </a:srgbClr>
                </a:gs>
                <a:gs pos="100000">
                  <a:srgbClr val="000080"/>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b="1">
                  <a:solidFill>
                    <a:schemeClr val="bg1"/>
                  </a:solidFill>
                </a:rPr>
                <a:t>66% </a:t>
              </a:r>
              <a:r>
                <a:rPr lang="es-ES_tradnl" altLang="es-CL" sz="2400" b="1">
                  <a:solidFill>
                    <a:schemeClr val="bg1"/>
                  </a:solidFill>
                </a:rPr>
                <a:t>*</a:t>
              </a:r>
            </a:p>
            <a:p>
              <a:pPr>
                <a:spcBef>
                  <a:spcPct val="50000"/>
                </a:spcBef>
              </a:pPr>
              <a:r>
                <a:rPr lang="es-ES_tradnl" altLang="es-CL" b="1">
                  <a:solidFill>
                    <a:schemeClr val="bg1"/>
                  </a:solidFill>
                </a:rPr>
                <a:t>Evaluación Positiva</a:t>
              </a:r>
            </a:p>
          </p:txBody>
        </p:sp>
      </p:grpSp>
      <p:grpSp>
        <p:nvGrpSpPr>
          <p:cNvPr id="2011155" name="Group 19"/>
          <p:cNvGrpSpPr>
            <a:grpSpLocks/>
          </p:cNvGrpSpPr>
          <p:nvPr/>
        </p:nvGrpSpPr>
        <p:grpSpPr bwMode="auto">
          <a:xfrm>
            <a:off x="6948488" y="3933825"/>
            <a:ext cx="2089150" cy="1801813"/>
            <a:chOff x="4377" y="2478"/>
            <a:chExt cx="1316" cy="1135"/>
          </a:xfrm>
        </p:grpSpPr>
        <p:sp>
          <p:nvSpPr>
            <p:cNvPr id="2011150" name="Rectangle 14"/>
            <p:cNvSpPr>
              <a:spLocks noChangeArrowheads="1"/>
            </p:cNvSpPr>
            <p:nvPr/>
          </p:nvSpPr>
          <p:spPr bwMode="auto">
            <a:xfrm>
              <a:off x="4377" y="2478"/>
              <a:ext cx="917" cy="1135"/>
            </a:xfrm>
            <a:prstGeom prst="rect">
              <a:avLst/>
            </a:prstGeom>
            <a:noFill/>
            <a:ln w="28575">
              <a:solidFill>
                <a:srgbClr val="0000FF"/>
              </a:solidFill>
              <a:prstDash val="sysDot"/>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11151" name="Text Box 15"/>
            <p:cNvSpPr txBox="1">
              <a:spLocks noChangeArrowheads="1"/>
            </p:cNvSpPr>
            <p:nvPr/>
          </p:nvSpPr>
          <p:spPr bwMode="auto">
            <a:xfrm>
              <a:off x="5135" y="2582"/>
              <a:ext cx="558" cy="576"/>
            </a:xfrm>
            <a:prstGeom prst="rect">
              <a:avLst/>
            </a:prstGeom>
            <a:gradFill rotWithShape="1">
              <a:gsLst>
                <a:gs pos="0">
                  <a:srgbClr val="000080"/>
                </a:gs>
                <a:gs pos="50000">
                  <a:srgbClr val="000080">
                    <a:gamma/>
                    <a:tint val="48627"/>
                    <a:invGamma/>
                  </a:srgbClr>
                </a:gs>
                <a:gs pos="100000">
                  <a:srgbClr val="000080"/>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b="1">
                  <a:solidFill>
                    <a:schemeClr val="bg1"/>
                  </a:solidFill>
                </a:rPr>
                <a:t>62% </a:t>
              </a:r>
              <a:r>
                <a:rPr lang="es-ES_tradnl" altLang="es-CL" sz="2400" b="1">
                  <a:solidFill>
                    <a:schemeClr val="bg1"/>
                  </a:solidFill>
                </a:rPr>
                <a:t>*</a:t>
              </a:r>
            </a:p>
            <a:p>
              <a:pPr>
                <a:spcBef>
                  <a:spcPct val="50000"/>
                </a:spcBef>
              </a:pPr>
              <a:r>
                <a:rPr lang="es-ES_tradnl" altLang="es-CL" b="1">
                  <a:solidFill>
                    <a:schemeClr val="bg1"/>
                  </a:solidFill>
                </a:rPr>
                <a:t>Evaluación Positiva</a:t>
              </a:r>
            </a:p>
          </p:txBody>
        </p:sp>
      </p:grpSp>
      <p:sp>
        <p:nvSpPr>
          <p:cNvPr id="2011153" name="Text Box 17"/>
          <p:cNvSpPr txBox="1">
            <a:spLocks noChangeArrowheads="1"/>
          </p:cNvSpPr>
          <p:nvPr/>
        </p:nvSpPr>
        <p:spPr bwMode="auto">
          <a:xfrm>
            <a:off x="6732588" y="6508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0356" name="Object 4"/>
          <p:cNvGraphicFramePr>
            <a:graphicFrameLocks noChangeAspect="1"/>
          </p:cNvGraphicFramePr>
          <p:nvPr/>
        </p:nvGraphicFramePr>
        <p:xfrm>
          <a:off x="684213" y="1125538"/>
          <a:ext cx="7789862" cy="4548187"/>
        </p:xfrm>
        <a:graphic>
          <a:graphicData uri="http://schemas.openxmlformats.org/presentationml/2006/ole">
            <mc:AlternateContent xmlns:mc="http://schemas.openxmlformats.org/markup-compatibility/2006">
              <mc:Choice xmlns:v="urn:schemas-microsoft-com:vml" Requires="v">
                <p:oleObj spid="_x0000_s2020378" name="Gráfico" r:id="rId3" imgW="6124651" imgH="3571951" progId="MSGraph.Chart.8">
                  <p:embed followColorScheme="full"/>
                </p:oleObj>
              </mc:Choice>
              <mc:Fallback>
                <p:oleObj name="Gráfico" r:id="rId3" imgW="6124651" imgH="3571951" progId="MSGraph.Chart.8">
                  <p:embed followColorScheme="full"/>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125538"/>
                        <a:ext cx="7789862" cy="454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0357" name="Rectangle 5"/>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0358" name="Rectangle 6"/>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ATENCIÓN DE CARABINEROS</a:t>
            </a:r>
            <a:endParaRPr lang="es-ES" altLang="es-CL" sz="1600" b="1">
              <a:solidFill>
                <a:srgbClr val="FF9900"/>
              </a:solidFill>
              <a:latin typeface="Arial Narrow" pitchFamily="34" charset="0"/>
            </a:endParaRPr>
          </a:p>
        </p:txBody>
      </p:sp>
      <p:sp>
        <p:nvSpPr>
          <p:cNvPr id="2020359" name="Rectangle 7"/>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evaluaría en términos generales la atención que usted recibió por parte del personal de Carabineros?</a:t>
            </a:r>
          </a:p>
          <a:p>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 Quienes han tenido contacto personal con Carabineros</a:t>
            </a:r>
            <a:r>
              <a:rPr lang="es-ES" altLang="es-CL" sz="1400">
                <a:solidFill>
                  <a:srgbClr val="000099"/>
                </a:solidFill>
                <a:latin typeface="Arial Narrow" pitchFamily="34" charset="0"/>
              </a:rPr>
              <a:t>) Según Prefectura</a:t>
            </a:r>
          </a:p>
        </p:txBody>
      </p:sp>
      <p:sp>
        <p:nvSpPr>
          <p:cNvPr id="2020361" name="Text Box 9"/>
          <p:cNvSpPr txBox="1">
            <a:spLocks noChangeArrowheads="1"/>
          </p:cNvSpPr>
          <p:nvPr/>
        </p:nvSpPr>
        <p:spPr bwMode="auto">
          <a:xfrm>
            <a:off x="3581400" y="153035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grpSp>
        <p:nvGrpSpPr>
          <p:cNvPr id="2020369" name="Group 17"/>
          <p:cNvGrpSpPr>
            <a:grpSpLocks/>
          </p:cNvGrpSpPr>
          <p:nvPr/>
        </p:nvGrpSpPr>
        <p:grpSpPr bwMode="auto">
          <a:xfrm>
            <a:off x="2411413" y="6453188"/>
            <a:ext cx="6192837" cy="274637"/>
            <a:chOff x="1519" y="4065"/>
            <a:chExt cx="3901" cy="173"/>
          </a:xfrm>
        </p:grpSpPr>
        <p:sp>
          <p:nvSpPr>
            <p:cNvPr id="2020365" name="Rectangle 13"/>
            <p:cNvSpPr>
              <a:spLocks noChangeArrowheads="1"/>
            </p:cNvSpPr>
            <p:nvPr/>
          </p:nvSpPr>
          <p:spPr bwMode="auto">
            <a:xfrm>
              <a:off x="3560" y="4083"/>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20366" name="Text Box 14"/>
            <p:cNvSpPr txBox="1">
              <a:spLocks noChangeArrowheads="1"/>
            </p:cNvSpPr>
            <p:nvPr/>
          </p:nvSpPr>
          <p:spPr bwMode="auto">
            <a:xfrm>
              <a:off x="3780" y="4065"/>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2020367" name="Rectangle 15"/>
            <p:cNvSpPr>
              <a:spLocks noChangeArrowheads="1"/>
            </p:cNvSpPr>
            <p:nvPr/>
          </p:nvSpPr>
          <p:spPr bwMode="auto">
            <a:xfrm>
              <a:off x="1519" y="4083"/>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20368" name="Text Box 16"/>
            <p:cNvSpPr txBox="1">
              <a:spLocks noChangeArrowheads="1"/>
            </p:cNvSpPr>
            <p:nvPr/>
          </p:nvSpPr>
          <p:spPr bwMode="auto">
            <a:xfrm>
              <a:off x="1739" y="4065"/>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graphicFrame>
        <p:nvGraphicFramePr>
          <p:cNvPr id="2020374" name="Object 22"/>
          <p:cNvGraphicFramePr>
            <a:graphicFrameLocks noGrp="1" noChangeAspect="1"/>
          </p:cNvGraphicFramePr>
          <p:nvPr>
            <p:ph/>
          </p:nvPr>
        </p:nvGraphicFramePr>
        <p:xfrm>
          <a:off x="633413" y="5227638"/>
          <a:ext cx="8331200" cy="820737"/>
        </p:xfrm>
        <a:graphic>
          <a:graphicData uri="http://schemas.openxmlformats.org/presentationml/2006/ole">
            <mc:AlternateContent xmlns:mc="http://schemas.openxmlformats.org/markup-compatibility/2006">
              <mc:Choice xmlns:v="urn:schemas-microsoft-com:vml" Requires="v">
                <p:oleObj spid="_x0000_s2020379" name="Hoja de cálculo" r:id="rId6" imgW="6772351" imgH="666902" progId="Excel.Sheet.8">
                  <p:embed/>
                </p:oleObj>
              </mc:Choice>
              <mc:Fallback>
                <p:oleObj name="Hoja de cálculo" r:id="rId6" imgW="6772351" imgH="666902" progId="Excel.Sheet.8">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3413" y="5227638"/>
                        <a:ext cx="8331200" cy="820737"/>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1378" name="Rectangle 2"/>
          <p:cNvSpPr>
            <a:spLocks noChangeArrowheads="1"/>
          </p:cNvSpPr>
          <p:nvPr/>
        </p:nvSpPr>
        <p:spPr bwMode="auto">
          <a:xfrm>
            <a:off x="4343400" y="2060575"/>
            <a:ext cx="1524000" cy="360045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21379" name="Rectangle 3"/>
          <p:cNvSpPr>
            <a:spLocks noChangeArrowheads="1"/>
          </p:cNvSpPr>
          <p:nvPr/>
        </p:nvSpPr>
        <p:spPr bwMode="auto">
          <a:xfrm>
            <a:off x="971550" y="2060575"/>
            <a:ext cx="3371850" cy="3600450"/>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21380" name="Rectangle 4"/>
          <p:cNvSpPr>
            <a:spLocks noChangeArrowheads="1"/>
          </p:cNvSpPr>
          <p:nvPr/>
        </p:nvSpPr>
        <p:spPr bwMode="auto">
          <a:xfrm>
            <a:off x="5867400" y="2060575"/>
            <a:ext cx="2971800" cy="3600450"/>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21381" name="Object 5"/>
          <p:cNvGraphicFramePr>
            <a:graphicFrameLocks noChangeAspect="1"/>
          </p:cNvGraphicFramePr>
          <p:nvPr/>
        </p:nvGraphicFramePr>
        <p:xfrm>
          <a:off x="207963" y="1268413"/>
          <a:ext cx="8572500" cy="5005387"/>
        </p:xfrm>
        <a:graphic>
          <a:graphicData uri="http://schemas.openxmlformats.org/presentationml/2006/ole">
            <mc:AlternateContent xmlns:mc="http://schemas.openxmlformats.org/markup-compatibility/2006">
              <mc:Choice xmlns:v="urn:schemas-microsoft-com:vml" Requires="v">
                <p:oleObj spid="_x0000_s2021389" name="Gráfico" r:id="rId3" imgW="6124651" imgH="3571951" progId="MSGraph.Chart.8">
                  <p:embed followColorScheme="full"/>
                </p:oleObj>
              </mc:Choice>
              <mc:Fallback>
                <p:oleObj name="Gráfico" r:id="rId3" imgW="6124651" imgH="3571951" progId="MSGraph.Chart.8">
                  <p:embed followColorScheme="full"/>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963" y="1268413"/>
                        <a:ext cx="8572500" cy="5005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1382" name="Rectangle 6"/>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1383" name="Rectangle 7"/>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ATENCIÓN DE CARABINEROS</a:t>
            </a:r>
            <a:endParaRPr lang="es-ES" altLang="es-CL" sz="1600" b="1">
              <a:solidFill>
                <a:srgbClr val="FF9900"/>
              </a:solidFill>
              <a:latin typeface="Arial Narrow" pitchFamily="34" charset="0"/>
            </a:endParaRPr>
          </a:p>
        </p:txBody>
      </p:sp>
      <p:sp>
        <p:nvSpPr>
          <p:cNvPr id="2021384" name="Rectangle 8"/>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evaluaría en términos generales la atención que usted recibió por parte del personal de Carabineros?</a:t>
            </a:r>
          </a:p>
          <a:p>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 Quienes han tenido contacto personal con Carabineros</a:t>
            </a:r>
            <a:r>
              <a:rPr lang="es-ES" altLang="es-CL" sz="1400">
                <a:solidFill>
                  <a:srgbClr val="000099"/>
                </a:solidFill>
                <a:latin typeface="Arial Narrow" pitchFamily="34" charset="0"/>
              </a:rPr>
              <a:t>) Según GSE, Sexo y Tramo Etareo</a:t>
            </a:r>
          </a:p>
        </p:txBody>
      </p:sp>
      <p:sp>
        <p:nvSpPr>
          <p:cNvPr id="2021385" name="Text Box 9"/>
          <p:cNvSpPr txBox="1">
            <a:spLocks noChangeArrowheads="1"/>
          </p:cNvSpPr>
          <p:nvPr/>
        </p:nvSpPr>
        <p:spPr bwMode="auto">
          <a:xfrm>
            <a:off x="2057400" y="1611313"/>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21386" name="Text Box 10"/>
          <p:cNvSpPr txBox="1">
            <a:spLocks noChangeArrowheads="1"/>
          </p:cNvSpPr>
          <p:nvPr/>
        </p:nvSpPr>
        <p:spPr bwMode="auto">
          <a:xfrm>
            <a:off x="4572000" y="1611313"/>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21387" name="Text Box 11"/>
          <p:cNvSpPr txBox="1">
            <a:spLocks noChangeArrowheads="1"/>
          </p:cNvSpPr>
          <p:nvPr/>
        </p:nvSpPr>
        <p:spPr bwMode="auto">
          <a:xfrm>
            <a:off x="6629400" y="1609725"/>
            <a:ext cx="15240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2409" name="Object 9"/>
          <p:cNvGraphicFramePr>
            <a:graphicFrameLocks noChangeAspect="1"/>
          </p:cNvGraphicFramePr>
          <p:nvPr/>
        </p:nvGraphicFramePr>
        <p:xfrm>
          <a:off x="539750" y="-387350"/>
          <a:ext cx="8432800" cy="5122863"/>
        </p:xfrm>
        <a:graphic>
          <a:graphicData uri="http://schemas.openxmlformats.org/presentationml/2006/ole">
            <mc:AlternateContent xmlns:mc="http://schemas.openxmlformats.org/markup-compatibility/2006">
              <mc:Choice xmlns:v="urn:schemas-microsoft-com:vml" Requires="v">
                <p:oleObj spid="_x0000_s2022429" name="Gráfico" r:id="rId3" imgW="5886602" imgH="3581400" progId="MSGraph.Chart.8">
                  <p:embed followColorScheme="full"/>
                </p:oleObj>
              </mc:Choice>
              <mc:Fallback>
                <p:oleObj name="Gráfico" r:id="rId3" imgW="5886602" imgH="3581400" progId="MSGraph.Chart.8">
                  <p:embed followColorScheme="full"/>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87350"/>
                        <a:ext cx="8432800" cy="5122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2403"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2404"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EVALUACIÓN DE PRÁCTICA PROFESIONAL DE CARABINEROS</a:t>
            </a:r>
            <a:endParaRPr lang="es-ES" altLang="es-CL" sz="1600" b="1">
              <a:solidFill>
                <a:srgbClr val="FF9900"/>
              </a:solidFill>
              <a:latin typeface="Arial Narrow" pitchFamily="34" charset="0"/>
            </a:endParaRPr>
          </a:p>
        </p:txBody>
      </p:sp>
      <p:sp>
        <p:nvSpPr>
          <p:cNvPr id="2022405" name="Rectangle 5"/>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evalúa usted el desempeño del personal de Carabineros en los siguientes aspectos? </a:t>
            </a:r>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Quienes han tenido contacto personal con Carabineros</a:t>
            </a:r>
            <a:r>
              <a:rPr lang="es-ES" altLang="es-CL" sz="1400">
                <a:solidFill>
                  <a:srgbClr val="000099"/>
                </a:solidFill>
                <a:latin typeface="Arial Narrow" pitchFamily="34" charset="0"/>
              </a:rPr>
              <a:t>)</a:t>
            </a:r>
          </a:p>
        </p:txBody>
      </p:sp>
      <p:sp>
        <p:nvSpPr>
          <p:cNvPr id="2022413" name="Text Box 13"/>
          <p:cNvSpPr txBox="1">
            <a:spLocks noChangeArrowheads="1"/>
          </p:cNvSpPr>
          <p:nvPr/>
        </p:nvSpPr>
        <p:spPr bwMode="auto">
          <a:xfrm>
            <a:off x="3779838" y="1557338"/>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(B:2260)</a:t>
            </a:r>
            <a:endParaRPr lang="es-ES" altLang="es-CL" b="1">
              <a:solidFill>
                <a:srgbClr val="FF9933"/>
              </a:solidFill>
            </a:endParaRPr>
          </a:p>
        </p:txBody>
      </p:sp>
      <p:grpSp>
        <p:nvGrpSpPr>
          <p:cNvPr id="2022421" name="Group 21"/>
          <p:cNvGrpSpPr>
            <a:grpSpLocks/>
          </p:cNvGrpSpPr>
          <p:nvPr/>
        </p:nvGrpSpPr>
        <p:grpSpPr bwMode="auto">
          <a:xfrm>
            <a:off x="2411413" y="6453188"/>
            <a:ext cx="6192837" cy="274637"/>
            <a:chOff x="1519" y="4065"/>
            <a:chExt cx="3901" cy="173"/>
          </a:xfrm>
        </p:grpSpPr>
        <p:sp>
          <p:nvSpPr>
            <p:cNvPr id="2022422" name="Rectangle 22"/>
            <p:cNvSpPr>
              <a:spLocks noChangeArrowheads="1"/>
            </p:cNvSpPr>
            <p:nvPr/>
          </p:nvSpPr>
          <p:spPr bwMode="auto">
            <a:xfrm>
              <a:off x="3560" y="4083"/>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22423" name="Text Box 23"/>
            <p:cNvSpPr txBox="1">
              <a:spLocks noChangeArrowheads="1"/>
            </p:cNvSpPr>
            <p:nvPr/>
          </p:nvSpPr>
          <p:spPr bwMode="auto">
            <a:xfrm>
              <a:off x="3780" y="4065"/>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2022424" name="Rectangle 24"/>
            <p:cNvSpPr>
              <a:spLocks noChangeArrowheads="1"/>
            </p:cNvSpPr>
            <p:nvPr/>
          </p:nvSpPr>
          <p:spPr bwMode="auto">
            <a:xfrm>
              <a:off x="1519" y="4083"/>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22425" name="Text Box 25"/>
            <p:cNvSpPr txBox="1">
              <a:spLocks noChangeArrowheads="1"/>
            </p:cNvSpPr>
            <p:nvPr/>
          </p:nvSpPr>
          <p:spPr bwMode="auto">
            <a:xfrm>
              <a:off x="1739" y="4065"/>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graphicFrame>
        <p:nvGraphicFramePr>
          <p:cNvPr id="2022426" name="Object 26"/>
          <p:cNvGraphicFramePr>
            <a:graphicFrameLocks noChangeAspect="1"/>
          </p:cNvGraphicFramePr>
          <p:nvPr/>
        </p:nvGraphicFramePr>
        <p:xfrm>
          <a:off x="684213" y="4868863"/>
          <a:ext cx="8281987" cy="957262"/>
        </p:xfrm>
        <a:graphic>
          <a:graphicData uri="http://schemas.openxmlformats.org/presentationml/2006/ole">
            <mc:AlternateContent xmlns:mc="http://schemas.openxmlformats.org/markup-compatibility/2006">
              <mc:Choice xmlns:v="urn:schemas-microsoft-com:vml" Requires="v">
                <p:oleObj spid="_x0000_s2022430" name="Hoja de cálculo" r:id="rId6" imgW="6667500" imgH="771449" progId="Excel.Sheet.8">
                  <p:embed/>
                </p:oleObj>
              </mc:Choice>
              <mc:Fallback>
                <p:oleObj name="Hoja de cálculo" r:id="rId6" imgW="6667500" imgH="771449" progId="Excel.Sheet.8">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4868863"/>
                        <a:ext cx="8281987" cy="957262"/>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3426"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3427"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EVALUACIÓN DE PRÁCTICA PROFESIONAL DE CARABINEROS</a:t>
            </a:r>
            <a:endParaRPr lang="es-ES" altLang="es-CL" sz="1600" b="1">
              <a:solidFill>
                <a:srgbClr val="FF9900"/>
              </a:solidFill>
              <a:latin typeface="Arial Narrow" pitchFamily="34" charset="0"/>
            </a:endParaRPr>
          </a:p>
        </p:txBody>
      </p:sp>
      <p:sp>
        <p:nvSpPr>
          <p:cNvPr id="2023428" name="Rectangle 4"/>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evalúa usted el desempeño del personal de Carabineros en los siguientes aspectos? </a:t>
            </a:r>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 Quienes han tenido contacto personal con Carabineros</a:t>
            </a:r>
            <a:r>
              <a:rPr lang="es-ES" altLang="es-CL" sz="1400">
                <a:solidFill>
                  <a:srgbClr val="000099"/>
                </a:solidFill>
                <a:latin typeface="Arial Narrow" pitchFamily="34" charset="0"/>
              </a:rPr>
              <a:t>) </a:t>
            </a:r>
            <a:r>
              <a:rPr lang="es-ES_tradnl" altLang="es-CL" sz="1400">
                <a:solidFill>
                  <a:srgbClr val="000099"/>
                </a:solidFill>
                <a:latin typeface="Arial Narrow" pitchFamily="34" charset="0"/>
              </a:rPr>
              <a:t>% Evaluación Neta,</a:t>
            </a:r>
            <a:r>
              <a:rPr lang="es-ES_tradnl" altLang="es-CL" sz="1400">
                <a:solidFill>
                  <a:srgbClr val="333399"/>
                </a:solidFill>
                <a:latin typeface="Arial Narrow" pitchFamily="34" charset="0"/>
              </a:rPr>
              <a:t> según</a:t>
            </a:r>
            <a:r>
              <a:rPr lang="es-ES_tradnl" altLang="es-CL" sz="1200">
                <a:solidFill>
                  <a:srgbClr val="333399"/>
                </a:solidFill>
                <a:latin typeface="Arial Narrow" pitchFamily="34" charset="0"/>
              </a:rPr>
              <a:t> </a:t>
            </a:r>
            <a:r>
              <a:rPr lang="es-ES" altLang="es-CL" sz="1400">
                <a:solidFill>
                  <a:srgbClr val="000099"/>
                </a:solidFill>
                <a:latin typeface="Arial Narrow" pitchFamily="34" charset="0"/>
              </a:rPr>
              <a:t>Prefectura</a:t>
            </a:r>
          </a:p>
        </p:txBody>
      </p:sp>
      <p:graphicFrame>
        <p:nvGraphicFramePr>
          <p:cNvPr id="2023433" name="Object 9"/>
          <p:cNvGraphicFramePr>
            <a:graphicFrameLocks noChangeAspect="1"/>
          </p:cNvGraphicFramePr>
          <p:nvPr/>
        </p:nvGraphicFramePr>
        <p:xfrm>
          <a:off x="696913" y="1611313"/>
          <a:ext cx="8128000" cy="4064000"/>
        </p:xfrm>
        <a:graphic>
          <a:graphicData uri="http://schemas.openxmlformats.org/presentationml/2006/ole">
            <mc:AlternateContent xmlns:mc="http://schemas.openxmlformats.org/markup-compatibility/2006">
              <mc:Choice xmlns:v="urn:schemas-microsoft-com:vml" Requires="v">
                <p:oleObj spid="_x0000_s2023440" name="Hoja de cálculo" r:id="rId4" imgW="7372502" imgH="3733800" progId="Excel.Sheet.8">
                  <p:embed/>
                </p:oleObj>
              </mc:Choice>
              <mc:Fallback>
                <p:oleObj name="Hoja de cálculo" r:id="rId4" imgW="7372502" imgH="3733800" progId="Excel.Sheet.8">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913" y="1611313"/>
                        <a:ext cx="8128000" cy="406400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023434" name="Group 10"/>
          <p:cNvGrpSpPr>
            <a:grpSpLocks/>
          </p:cNvGrpSpPr>
          <p:nvPr/>
        </p:nvGrpSpPr>
        <p:grpSpPr bwMode="auto">
          <a:xfrm>
            <a:off x="5651500" y="5949950"/>
            <a:ext cx="2952750" cy="563563"/>
            <a:chOff x="3560" y="3838"/>
            <a:chExt cx="1860" cy="355"/>
          </a:xfrm>
        </p:grpSpPr>
        <p:sp>
          <p:nvSpPr>
            <p:cNvPr id="2023435" name="Rectangle 11"/>
            <p:cNvSpPr>
              <a:spLocks noChangeArrowheads="1"/>
            </p:cNvSpPr>
            <p:nvPr/>
          </p:nvSpPr>
          <p:spPr bwMode="auto">
            <a:xfrm>
              <a:off x="3560" y="4020"/>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23436" name="Text Box 12"/>
            <p:cNvSpPr txBox="1">
              <a:spLocks noChangeArrowheads="1"/>
            </p:cNvSpPr>
            <p:nvPr/>
          </p:nvSpPr>
          <p:spPr bwMode="auto">
            <a:xfrm>
              <a:off x="3780" y="4020"/>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2023437" name="Rectangle 13"/>
            <p:cNvSpPr>
              <a:spLocks noChangeArrowheads="1"/>
            </p:cNvSpPr>
            <p:nvPr/>
          </p:nvSpPr>
          <p:spPr bwMode="auto">
            <a:xfrm>
              <a:off x="3560" y="3838"/>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23438" name="Text Box 14"/>
            <p:cNvSpPr txBox="1">
              <a:spLocks noChangeArrowheads="1"/>
            </p:cNvSpPr>
            <p:nvPr/>
          </p:nvSpPr>
          <p:spPr bwMode="auto">
            <a:xfrm>
              <a:off x="3780" y="3838"/>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4450"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4451"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EVALUACIÓN DE PRÁCTICA PROFESIONAL DE CARABINEROS</a:t>
            </a:r>
            <a:endParaRPr lang="es-ES" altLang="es-CL" sz="1600" b="1">
              <a:solidFill>
                <a:srgbClr val="FF9900"/>
              </a:solidFill>
              <a:latin typeface="Arial Narrow" pitchFamily="34" charset="0"/>
            </a:endParaRPr>
          </a:p>
        </p:txBody>
      </p:sp>
      <p:sp>
        <p:nvSpPr>
          <p:cNvPr id="2024452" name="Rectangle 4"/>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evalúa usted el desempeño del personal de Carabineros en los siguientes aspectos? </a:t>
            </a:r>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Quienes han tenido contacto personal con Carabineros</a:t>
            </a:r>
            <a:r>
              <a:rPr lang="es-ES" altLang="es-CL" sz="1400">
                <a:solidFill>
                  <a:srgbClr val="000099"/>
                </a:solidFill>
                <a:latin typeface="Arial Narrow" pitchFamily="34" charset="0"/>
              </a:rPr>
              <a:t>) </a:t>
            </a:r>
            <a:r>
              <a:rPr lang="es-ES_tradnl" altLang="es-CL" sz="1400">
                <a:solidFill>
                  <a:srgbClr val="000099"/>
                </a:solidFill>
                <a:latin typeface="Arial Narrow" pitchFamily="34" charset="0"/>
              </a:rPr>
              <a:t>% Evaluación Neta,</a:t>
            </a:r>
            <a:r>
              <a:rPr lang="es-ES_tradnl" altLang="es-CL" sz="1400">
                <a:solidFill>
                  <a:srgbClr val="333399"/>
                </a:solidFill>
                <a:latin typeface="Arial Narrow" pitchFamily="34" charset="0"/>
              </a:rPr>
              <a:t> según</a:t>
            </a:r>
            <a:r>
              <a:rPr lang="es-ES_tradnl" altLang="es-CL" sz="1200">
                <a:solidFill>
                  <a:srgbClr val="333399"/>
                </a:solidFill>
                <a:latin typeface="Arial Narrow" pitchFamily="34" charset="0"/>
              </a:rPr>
              <a:t> </a:t>
            </a:r>
            <a:r>
              <a:rPr lang="es-ES" altLang="es-CL" sz="1400">
                <a:solidFill>
                  <a:srgbClr val="000099"/>
                </a:solidFill>
                <a:latin typeface="Arial Narrow" pitchFamily="34" charset="0"/>
              </a:rPr>
              <a:t>GSE, Sexo y Tramo Etareo</a:t>
            </a:r>
          </a:p>
        </p:txBody>
      </p:sp>
      <p:graphicFrame>
        <p:nvGraphicFramePr>
          <p:cNvPr id="2024455" name="Object 7"/>
          <p:cNvGraphicFramePr>
            <a:graphicFrameLocks noChangeAspect="1"/>
          </p:cNvGraphicFramePr>
          <p:nvPr/>
        </p:nvGraphicFramePr>
        <p:xfrm>
          <a:off x="1697038" y="1628775"/>
          <a:ext cx="5827712" cy="4687888"/>
        </p:xfrm>
        <a:graphic>
          <a:graphicData uri="http://schemas.openxmlformats.org/presentationml/2006/ole">
            <mc:AlternateContent xmlns:mc="http://schemas.openxmlformats.org/markup-compatibility/2006">
              <mc:Choice xmlns:v="urn:schemas-microsoft-com:vml" Requires="v">
                <p:oleObj spid="_x0000_s2024457" name="Hoja de cálculo" r:id="rId4" imgW="4686300" imgH="3753002" progId="Excel.Sheet.8">
                  <p:embed/>
                </p:oleObj>
              </mc:Choice>
              <mc:Fallback>
                <p:oleObj name="Hoja de cálculo" r:id="rId4" imgW="4686300" imgH="3753002" progId="Excel.Sheet.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7038" y="1628775"/>
                        <a:ext cx="5827712" cy="4687888"/>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5480" name="Object 8"/>
          <p:cNvGraphicFramePr>
            <a:graphicFrameLocks noChangeAspect="1"/>
          </p:cNvGraphicFramePr>
          <p:nvPr/>
        </p:nvGraphicFramePr>
        <p:xfrm>
          <a:off x="4038600" y="2997200"/>
          <a:ext cx="4495800" cy="2913063"/>
        </p:xfrm>
        <a:graphic>
          <a:graphicData uri="http://schemas.openxmlformats.org/presentationml/2006/ole">
            <mc:AlternateContent xmlns:mc="http://schemas.openxmlformats.org/markup-compatibility/2006">
              <mc:Choice xmlns:v="urn:schemas-microsoft-com:vml" Requires="v">
                <p:oleObj spid="_x0000_s2025486" name="Gráfico" r:id="rId3" imgW="10658551" imgH="6896100" progId="MSGraph.Chart.8">
                  <p:embed followColorScheme="full"/>
                </p:oleObj>
              </mc:Choice>
              <mc:Fallback>
                <p:oleObj name="Gráfico" r:id="rId3" imgW="10658551" imgH="6896100" progId="MSGraph.Chart.8">
                  <p:embed followColorScheme="full"/>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997200"/>
                        <a:ext cx="4495800" cy="291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5474" name="Object 2"/>
          <p:cNvGraphicFramePr>
            <a:graphicFrameLocks noChangeAspect="1"/>
          </p:cNvGraphicFramePr>
          <p:nvPr/>
        </p:nvGraphicFramePr>
        <p:xfrm>
          <a:off x="652463" y="1524000"/>
          <a:ext cx="4495800" cy="2913063"/>
        </p:xfrm>
        <a:graphic>
          <a:graphicData uri="http://schemas.openxmlformats.org/presentationml/2006/ole">
            <mc:AlternateContent xmlns:mc="http://schemas.openxmlformats.org/markup-compatibility/2006">
              <mc:Choice xmlns:v="urn:schemas-microsoft-com:vml" Requires="v">
                <p:oleObj spid="_x0000_s2025487" name="Gráfico" r:id="rId5" imgW="10658551" imgH="6896100" progId="MSGraph.Chart.8">
                  <p:embed followColorScheme="full"/>
                </p:oleObj>
              </mc:Choice>
              <mc:Fallback>
                <p:oleObj name="Gráfico" r:id="rId5" imgW="10658551" imgH="6896100" progId="MSGraph.Chart.8">
                  <p:embed followColorScheme="full"/>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463" y="1524000"/>
                        <a:ext cx="4495800" cy="291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5475"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5476"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CONTACTO CON CUARTEL DE CARABINEROS</a:t>
            </a:r>
            <a:endParaRPr lang="es-ES" altLang="es-CL" sz="1600" b="1">
              <a:solidFill>
                <a:srgbClr val="FF9900"/>
              </a:solidFill>
              <a:latin typeface="Arial Narrow" pitchFamily="34" charset="0"/>
            </a:endParaRPr>
          </a:p>
        </p:txBody>
      </p:sp>
      <p:sp>
        <p:nvSpPr>
          <p:cNvPr id="2025477" name="Rectangle 5"/>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Durante los últimos 12 meses, ¿Usted ha acudido a un Cuartel o Unidad de Carabineros?</a:t>
            </a:r>
            <a:endParaRPr lang="es-ES" altLang="es-CL" sz="1400">
              <a:solidFill>
                <a:srgbClr val="000099"/>
              </a:solidFill>
              <a:latin typeface="Arial Narrow" pitchFamily="34" charset="0"/>
            </a:endParaRPr>
          </a:p>
        </p:txBody>
      </p:sp>
      <p:sp>
        <p:nvSpPr>
          <p:cNvPr id="2025478" name="Text Box 6"/>
          <p:cNvSpPr txBox="1">
            <a:spLocks noChangeArrowheads="1"/>
          </p:cNvSpPr>
          <p:nvPr/>
        </p:nvSpPr>
        <p:spPr bwMode="auto">
          <a:xfrm>
            <a:off x="2103438" y="170656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(B:5544)</a:t>
            </a:r>
            <a:endParaRPr lang="es-ES" altLang="es-CL" b="1">
              <a:solidFill>
                <a:srgbClr val="FF9933"/>
              </a:solidFill>
            </a:endParaRPr>
          </a:p>
        </p:txBody>
      </p:sp>
      <p:sp>
        <p:nvSpPr>
          <p:cNvPr id="2025479" name="Text Box 7"/>
          <p:cNvSpPr txBox="1">
            <a:spLocks noChangeArrowheads="1"/>
          </p:cNvSpPr>
          <p:nvPr/>
        </p:nvSpPr>
        <p:spPr bwMode="auto">
          <a:xfrm>
            <a:off x="5715000" y="3302000"/>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(B:6048)</a:t>
            </a:r>
            <a:endParaRPr lang="es-ES" altLang="es-CL" b="1">
              <a:solidFill>
                <a:srgbClr val="FF9933"/>
              </a:solidFill>
            </a:endParaRPr>
          </a:p>
        </p:txBody>
      </p:sp>
      <p:sp>
        <p:nvSpPr>
          <p:cNvPr id="2025481" name="Text Box 9"/>
          <p:cNvSpPr txBox="1">
            <a:spLocks noChangeArrowheads="1"/>
          </p:cNvSpPr>
          <p:nvPr/>
        </p:nvSpPr>
        <p:spPr bwMode="auto">
          <a:xfrm>
            <a:off x="1474788" y="39338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25482" name="Text Box 10"/>
          <p:cNvSpPr txBox="1">
            <a:spLocks noChangeArrowheads="1"/>
          </p:cNvSpPr>
          <p:nvPr/>
        </p:nvSpPr>
        <p:spPr bwMode="auto">
          <a:xfrm>
            <a:off x="5075238" y="551021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25483" name="Text Box 11"/>
          <p:cNvSpPr txBox="1">
            <a:spLocks noChangeArrowheads="1"/>
          </p:cNvSpPr>
          <p:nvPr/>
        </p:nvSpPr>
        <p:spPr bwMode="auto">
          <a:xfrm>
            <a:off x="6732588" y="6381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6498" name="Object 2"/>
          <p:cNvGraphicFramePr>
            <a:graphicFrameLocks noChangeAspect="1"/>
          </p:cNvGraphicFramePr>
          <p:nvPr/>
        </p:nvGraphicFramePr>
        <p:xfrm>
          <a:off x="-533400" y="1143000"/>
          <a:ext cx="9613900" cy="5181600"/>
        </p:xfrm>
        <a:graphic>
          <a:graphicData uri="http://schemas.openxmlformats.org/presentationml/2006/ole">
            <mc:AlternateContent xmlns:mc="http://schemas.openxmlformats.org/markup-compatibility/2006">
              <mc:Choice xmlns:v="urn:schemas-microsoft-com:vml" Requires="v">
                <p:oleObj spid="_x0000_s2026512" name="Gráfico" r:id="rId3" imgW="8401202" imgH="4524451" progId="MSGraph.Chart.8">
                  <p:embed followColorScheme="full"/>
                </p:oleObj>
              </mc:Choice>
              <mc:Fallback>
                <p:oleObj name="Gráfico" r:id="rId3" imgW="8401202" imgH="4524451"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143000"/>
                        <a:ext cx="96139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6499" name="Object 3"/>
          <p:cNvGraphicFramePr>
            <a:graphicFrameLocks noChangeAspect="1"/>
          </p:cNvGraphicFramePr>
          <p:nvPr/>
        </p:nvGraphicFramePr>
        <p:xfrm>
          <a:off x="-533400" y="-1371600"/>
          <a:ext cx="9613900" cy="5181600"/>
        </p:xfrm>
        <a:graphic>
          <a:graphicData uri="http://schemas.openxmlformats.org/presentationml/2006/ole">
            <mc:AlternateContent xmlns:mc="http://schemas.openxmlformats.org/markup-compatibility/2006">
              <mc:Choice xmlns:v="urn:schemas-microsoft-com:vml" Requires="v">
                <p:oleObj spid="_x0000_s2026513" name="Gráfico" r:id="rId5" imgW="8401202" imgH="4524451" progId="MSGraph.Chart.8">
                  <p:embed followColorScheme="full"/>
                </p:oleObj>
              </mc:Choice>
              <mc:Fallback>
                <p:oleObj name="Gráfico" r:id="rId5" imgW="8401202" imgH="4524451" progId="MSGraph.Chart.8">
                  <p:embed followColorScheme="full"/>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371600"/>
                        <a:ext cx="96139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6500"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6501" name="Rectangle 5"/>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Durante los últimos 12 meses, ¿Usted ha acudido a un Cuartel o Unidad de Carabineros? % Sí, según </a:t>
            </a:r>
            <a:r>
              <a:rPr lang="es-ES" altLang="es-CL" sz="1400">
                <a:solidFill>
                  <a:srgbClr val="000099"/>
                </a:solidFill>
                <a:latin typeface="Arial Narrow" pitchFamily="34" charset="0"/>
              </a:rPr>
              <a:t>Prefectura</a:t>
            </a:r>
          </a:p>
          <a:p>
            <a:pPr algn="ctr"/>
            <a:endParaRPr lang="es-ES" altLang="es-CL" sz="1400">
              <a:solidFill>
                <a:srgbClr val="000099"/>
              </a:solidFill>
              <a:latin typeface="Arial Narrow" pitchFamily="34" charset="0"/>
            </a:endParaRPr>
          </a:p>
        </p:txBody>
      </p:sp>
      <p:sp>
        <p:nvSpPr>
          <p:cNvPr id="2026502" name="Text Box 6"/>
          <p:cNvSpPr txBox="1">
            <a:spLocks noChangeArrowheads="1"/>
          </p:cNvSpPr>
          <p:nvPr/>
        </p:nvSpPr>
        <p:spPr bwMode="auto">
          <a:xfrm>
            <a:off x="3419475" y="1468438"/>
            <a:ext cx="22098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2003</a:t>
            </a:r>
            <a:endParaRPr lang="es-ES" altLang="es-CL" b="1">
              <a:solidFill>
                <a:srgbClr val="FF9933"/>
              </a:solidFill>
              <a:latin typeface="Arial" charset="0"/>
            </a:endParaRPr>
          </a:p>
        </p:txBody>
      </p:sp>
      <p:sp>
        <p:nvSpPr>
          <p:cNvPr id="2026503" name="Text Box 7"/>
          <p:cNvSpPr txBox="1">
            <a:spLocks noChangeArrowheads="1"/>
          </p:cNvSpPr>
          <p:nvPr/>
        </p:nvSpPr>
        <p:spPr bwMode="auto">
          <a:xfrm>
            <a:off x="3441700" y="3983038"/>
            <a:ext cx="22098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
        <p:nvSpPr>
          <p:cNvPr id="2026504" name="Rectangle 8"/>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CONTACTO CON CUARTEL DE CARABINEROS</a:t>
            </a:r>
            <a:endParaRPr lang="es-ES" altLang="es-CL" sz="1600" b="1">
              <a:solidFill>
                <a:srgbClr val="FF9900"/>
              </a:solidFill>
              <a:latin typeface="Arial Narrow" pitchFamily="34" charset="0"/>
            </a:endParaRPr>
          </a:p>
        </p:txBody>
      </p:sp>
      <p:sp>
        <p:nvSpPr>
          <p:cNvPr id="2026505" name="Text Box 9"/>
          <p:cNvSpPr txBox="1">
            <a:spLocks noChangeArrowheads="1"/>
          </p:cNvSpPr>
          <p:nvPr/>
        </p:nvSpPr>
        <p:spPr bwMode="auto">
          <a:xfrm>
            <a:off x="1042988" y="191611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26506" name="Text Box 10"/>
          <p:cNvSpPr txBox="1">
            <a:spLocks noChangeArrowheads="1"/>
          </p:cNvSpPr>
          <p:nvPr/>
        </p:nvSpPr>
        <p:spPr bwMode="auto">
          <a:xfrm>
            <a:off x="971550" y="45815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26507" name="Text Box 11"/>
          <p:cNvSpPr txBox="1">
            <a:spLocks noChangeArrowheads="1"/>
          </p:cNvSpPr>
          <p:nvPr/>
        </p:nvSpPr>
        <p:spPr bwMode="auto">
          <a:xfrm>
            <a:off x="6732588" y="6381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sp>
        <p:nvSpPr>
          <p:cNvPr id="2026508" name="Text Box 12"/>
          <p:cNvSpPr txBox="1">
            <a:spLocks noChangeArrowheads="1"/>
          </p:cNvSpPr>
          <p:nvPr/>
        </p:nvSpPr>
        <p:spPr bwMode="auto">
          <a:xfrm>
            <a:off x="5507038" y="19812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26509" name="Text Box 13"/>
          <p:cNvSpPr txBox="1">
            <a:spLocks noChangeArrowheads="1"/>
          </p:cNvSpPr>
          <p:nvPr/>
        </p:nvSpPr>
        <p:spPr bwMode="auto">
          <a:xfrm>
            <a:off x="5076825" y="45085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22" name="Rectangle 2"/>
          <p:cNvSpPr>
            <a:spLocks noChangeArrowheads="1"/>
          </p:cNvSpPr>
          <p:nvPr/>
        </p:nvSpPr>
        <p:spPr bwMode="auto">
          <a:xfrm>
            <a:off x="685800" y="4508500"/>
            <a:ext cx="2667000" cy="1728788"/>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27523" name="Rectangle 3"/>
          <p:cNvSpPr>
            <a:spLocks noChangeArrowheads="1"/>
          </p:cNvSpPr>
          <p:nvPr/>
        </p:nvSpPr>
        <p:spPr bwMode="auto">
          <a:xfrm>
            <a:off x="3352800" y="4508500"/>
            <a:ext cx="5486400" cy="1728788"/>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27524" name="Rectangle 4"/>
          <p:cNvSpPr>
            <a:spLocks noChangeArrowheads="1"/>
          </p:cNvSpPr>
          <p:nvPr/>
        </p:nvSpPr>
        <p:spPr bwMode="auto">
          <a:xfrm>
            <a:off x="609600" y="1844675"/>
            <a:ext cx="8305800" cy="1673225"/>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27525" name="Object 5"/>
          <p:cNvGraphicFramePr>
            <a:graphicFrameLocks noChangeAspect="1"/>
          </p:cNvGraphicFramePr>
          <p:nvPr/>
        </p:nvGraphicFramePr>
        <p:xfrm>
          <a:off x="-546100" y="1066800"/>
          <a:ext cx="9613900" cy="5181600"/>
        </p:xfrm>
        <a:graphic>
          <a:graphicData uri="http://schemas.openxmlformats.org/presentationml/2006/ole">
            <mc:AlternateContent xmlns:mc="http://schemas.openxmlformats.org/markup-compatibility/2006">
              <mc:Choice xmlns:v="urn:schemas-microsoft-com:vml" Requires="v">
                <p:oleObj spid="_x0000_s2027535" name="Gráfico" r:id="rId3" imgW="8401202" imgH="4524451" progId="MSGraph.Chart.8">
                  <p:embed followColorScheme="full"/>
                </p:oleObj>
              </mc:Choice>
              <mc:Fallback>
                <p:oleObj name="Gráfico" r:id="rId3" imgW="8401202" imgH="4524451" progId="MSGraph.Chart.8">
                  <p:embed followColorScheme="full"/>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100" y="1066800"/>
                        <a:ext cx="96139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7526" name="Object 6"/>
          <p:cNvGraphicFramePr>
            <a:graphicFrameLocks noChangeAspect="1"/>
          </p:cNvGraphicFramePr>
          <p:nvPr/>
        </p:nvGraphicFramePr>
        <p:xfrm>
          <a:off x="-533400" y="-1676400"/>
          <a:ext cx="9613900" cy="5181600"/>
        </p:xfrm>
        <a:graphic>
          <a:graphicData uri="http://schemas.openxmlformats.org/presentationml/2006/ole">
            <mc:AlternateContent xmlns:mc="http://schemas.openxmlformats.org/markup-compatibility/2006">
              <mc:Choice xmlns:v="urn:schemas-microsoft-com:vml" Requires="v">
                <p:oleObj spid="_x0000_s2027536" name="Gráfico" r:id="rId5" imgW="8401202" imgH="4524451" progId="MSGraph.Chart.8">
                  <p:embed followColorScheme="full"/>
                </p:oleObj>
              </mc:Choice>
              <mc:Fallback>
                <p:oleObj name="Gráfico" r:id="rId5" imgW="8401202" imgH="4524451"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676400"/>
                        <a:ext cx="96139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527"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7528" name="Rectangle 8"/>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CONTACTO CON CUARTEL DE CARABINEROS</a:t>
            </a:r>
            <a:endParaRPr lang="es-ES" altLang="es-CL" sz="1600" b="1">
              <a:solidFill>
                <a:srgbClr val="FF9900"/>
              </a:solidFill>
              <a:latin typeface="Arial Narrow" pitchFamily="34" charset="0"/>
            </a:endParaRPr>
          </a:p>
        </p:txBody>
      </p:sp>
      <p:sp>
        <p:nvSpPr>
          <p:cNvPr id="2027529" name="Rectangle 9"/>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Durante los últimos 12 meses, ¿Usted ha acudido a un Cuartel o Unidad de Carabineros? % Sí, </a:t>
            </a:r>
            <a:r>
              <a:rPr lang="es-ES" altLang="es-CL" sz="1400">
                <a:solidFill>
                  <a:srgbClr val="000099"/>
                </a:solidFill>
                <a:latin typeface="Arial Narrow" pitchFamily="34" charset="0"/>
              </a:rPr>
              <a:t>según GSE, Sexo y Tramo Etareo</a:t>
            </a:r>
          </a:p>
          <a:p>
            <a:pPr algn="ctr"/>
            <a:endParaRPr lang="es-ES" altLang="es-CL" sz="1400">
              <a:solidFill>
                <a:srgbClr val="000099"/>
              </a:solidFill>
              <a:latin typeface="Arial Narrow" pitchFamily="34" charset="0"/>
            </a:endParaRPr>
          </a:p>
        </p:txBody>
      </p:sp>
      <p:sp>
        <p:nvSpPr>
          <p:cNvPr id="2027530" name="Text Box 10"/>
          <p:cNvSpPr txBox="1">
            <a:spLocks noChangeArrowheads="1"/>
          </p:cNvSpPr>
          <p:nvPr/>
        </p:nvSpPr>
        <p:spPr bwMode="auto">
          <a:xfrm>
            <a:off x="4114800" y="13716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27531" name="Text Box 11"/>
          <p:cNvSpPr txBox="1">
            <a:spLocks noChangeArrowheads="1"/>
          </p:cNvSpPr>
          <p:nvPr/>
        </p:nvSpPr>
        <p:spPr bwMode="auto">
          <a:xfrm>
            <a:off x="1600200" y="4087813"/>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27532" name="Text Box 12"/>
          <p:cNvSpPr txBox="1">
            <a:spLocks noChangeArrowheads="1"/>
          </p:cNvSpPr>
          <p:nvPr/>
        </p:nvSpPr>
        <p:spPr bwMode="auto">
          <a:xfrm>
            <a:off x="5410200" y="4087813"/>
            <a:ext cx="15240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8546" name="Object 2"/>
          <p:cNvGraphicFramePr>
            <a:graphicFrameLocks noChangeAspect="1"/>
          </p:cNvGraphicFramePr>
          <p:nvPr/>
        </p:nvGraphicFramePr>
        <p:xfrm>
          <a:off x="3059113" y="1916113"/>
          <a:ext cx="6769100" cy="4462462"/>
        </p:xfrm>
        <a:graphic>
          <a:graphicData uri="http://schemas.openxmlformats.org/presentationml/2006/ole">
            <mc:AlternateContent xmlns:mc="http://schemas.openxmlformats.org/markup-compatibility/2006">
              <mc:Choice xmlns:v="urn:schemas-microsoft-com:vml" Requires="v">
                <p:oleObj spid="_x0000_s2028555" name="Gráfico" r:id="rId3" imgW="10706100" imgH="7057949" progId="MSGraph.Chart.8">
                  <p:embed followColorScheme="full"/>
                </p:oleObj>
              </mc:Choice>
              <mc:Fallback>
                <p:oleObj name="Gráfico" r:id="rId3" imgW="10706100" imgH="7057949"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1916113"/>
                        <a:ext cx="6769100" cy="4462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8547" name="Object 3"/>
          <p:cNvGraphicFramePr>
            <a:graphicFrameLocks noChangeAspect="1"/>
          </p:cNvGraphicFramePr>
          <p:nvPr/>
        </p:nvGraphicFramePr>
        <p:xfrm>
          <a:off x="-823913" y="1989138"/>
          <a:ext cx="6691313" cy="4411662"/>
        </p:xfrm>
        <a:graphic>
          <a:graphicData uri="http://schemas.openxmlformats.org/presentationml/2006/ole">
            <mc:AlternateContent xmlns:mc="http://schemas.openxmlformats.org/markup-compatibility/2006">
              <mc:Choice xmlns:v="urn:schemas-microsoft-com:vml" Requires="v">
                <p:oleObj spid="_x0000_s2028556" name="Gráfico" r:id="rId5" imgW="10706100" imgH="7057949" progId="MSGraph.Chart.8">
                  <p:embed followColorScheme="full"/>
                </p:oleObj>
              </mc:Choice>
              <mc:Fallback>
                <p:oleObj name="Gráfico" r:id="rId5" imgW="10706100" imgH="7057949" progId="MSGraph.Chart.8">
                  <p:embed followColorScheme="full"/>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3913" y="1989138"/>
                        <a:ext cx="6691313" cy="441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8548"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MOTIVO DEL CONTACTO </a:t>
            </a:r>
            <a:endParaRPr lang="es-ES" altLang="es-CL" sz="1600" b="1">
              <a:solidFill>
                <a:srgbClr val="FF9900"/>
              </a:solidFill>
              <a:latin typeface="Arial Narrow" pitchFamily="34" charset="0"/>
            </a:endParaRPr>
          </a:p>
        </p:txBody>
      </p:sp>
      <p:sp>
        <p:nvSpPr>
          <p:cNvPr id="2028549" name="Rectangle 5"/>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8550" name="Rectangle 6"/>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¿Cuál fue el (los) motivo(s) por el cual usted concurrió o fue trasladado a un Cuartel o Unidad de Carabineros durante los últimos 12 meses? </a:t>
            </a:r>
            <a:r>
              <a:rPr lang="es-ES" altLang="es-CL" sz="1200">
                <a:solidFill>
                  <a:srgbClr val="000099"/>
                </a:solidFill>
                <a:latin typeface="Arial Narrow" pitchFamily="34" charset="0"/>
              </a:rPr>
              <a:t>(B:</a:t>
            </a:r>
            <a:r>
              <a:rPr lang="es-ES_tradnl" altLang="es-CL" sz="1200">
                <a:solidFill>
                  <a:srgbClr val="000099"/>
                </a:solidFill>
                <a:latin typeface="Arial Narrow" pitchFamily="34" charset="0"/>
              </a:rPr>
              <a:t>Quienes han tenido contacto personal con Carabineros)</a:t>
            </a:r>
            <a:endParaRPr lang="es-ES" altLang="es-CL" sz="1200">
              <a:solidFill>
                <a:srgbClr val="000099"/>
              </a:solidFill>
              <a:latin typeface="Arial Narrow" pitchFamily="34" charset="0"/>
            </a:endParaRPr>
          </a:p>
        </p:txBody>
      </p:sp>
      <p:sp>
        <p:nvSpPr>
          <p:cNvPr id="2028551" name="Text Box 7"/>
          <p:cNvSpPr txBox="1">
            <a:spLocks noChangeArrowheads="1"/>
          </p:cNvSpPr>
          <p:nvPr/>
        </p:nvSpPr>
        <p:spPr bwMode="auto">
          <a:xfrm>
            <a:off x="2484438" y="1620838"/>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 1301 )</a:t>
            </a:r>
            <a:endParaRPr lang="es-ES" altLang="es-CL" b="1">
              <a:solidFill>
                <a:srgbClr val="FF9933"/>
              </a:solidFill>
            </a:endParaRPr>
          </a:p>
        </p:txBody>
      </p:sp>
      <p:sp>
        <p:nvSpPr>
          <p:cNvPr id="2028552" name="Text Box 8"/>
          <p:cNvSpPr txBox="1">
            <a:spLocks noChangeArrowheads="1"/>
          </p:cNvSpPr>
          <p:nvPr/>
        </p:nvSpPr>
        <p:spPr bwMode="auto">
          <a:xfrm>
            <a:off x="5945188" y="1620838"/>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(B:1351)</a:t>
            </a:r>
            <a:endParaRPr lang="es-ES" altLang="es-CL" b="1">
              <a:solidFill>
                <a:srgbClr val="FF9933"/>
              </a:solidFill>
            </a:endParaRPr>
          </a:p>
        </p:txBody>
      </p:sp>
    </p:spTree>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9576" name="Object 8"/>
          <p:cNvGraphicFramePr>
            <a:graphicFrameLocks noChangeAspect="1"/>
          </p:cNvGraphicFramePr>
          <p:nvPr/>
        </p:nvGraphicFramePr>
        <p:xfrm>
          <a:off x="250825" y="1700213"/>
          <a:ext cx="8964613" cy="5014912"/>
        </p:xfrm>
        <a:graphic>
          <a:graphicData uri="http://schemas.openxmlformats.org/presentationml/2006/ole">
            <mc:AlternateContent xmlns:mc="http://schemas.openxmlformats.org/markup-compatibility/2006">
              <mc:Choice xmlns:v="urn:schemas-microsoft-com:vml" Requires="v">
                <p:oleObj spid="_x0000_s2029581" name="Gráfico" r:id="rId3" imgW="8334451" imgH="4676851" progId="MSGraph.Chart.8">
                  <p:embed followColorScheme="full"/>
                </p:oleObj>
              </mc:Choice>
              <mc:Fallback>
                <p:oleObj name="Gráfico" r:id="rId3" imgW="8334451" imgH="4676851" progId="MSGraph.Chart.8">
                  <p:embed followColorScheme="full"/>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700213"/>
                        <a:ext cx="8964613" cy="5014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29577" name="Object 9"/>
          <p:cNvGraphicFramePr>
            <a:graphicFrameLocks noChangeAspect="1"/>
          </p:cNvGraphicFramePr>
          <p:nvPr/>
        </p:nvGraphicFramePr>
        <p:xfrm>
          <a:off x="287338" y="-315913"/>
          <a:ext cx="8964612" cy="5014913"/>
        </p:xfrm>
        <a:graphic>
          <a:graphicData uri="http://schemas.openxmlformats.org/presentationml/2006/ole">
            <mc:AlternateContent xmlns:mc="http://schemas.openxmlformats.org/markup-compatibility/2006">
              <mc:Choice xmlns:v="urn:schemas-microsoft-com:vml" Requires="v">
                <p:oleObj spid="_x0000_s2029582" name="Gráfico" r:id="rId5" imgW="8334451" imgH="4676851" progId="MSGraph.Chart.8">
                  <p:embed followColorScheme="full"/>
                </p:oleObj>
              </mc:Choice>
              <mc:Fallback>
                <p:oleObj name="Gráfico" r:id="rId5" imgW="8334451" imgH="4676851" progId="MSGraph.Chart.8">
                  <p:embed followColorScheme="full"/>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38" y="-315913"/>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9570" name="Rectangle 2"/>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MOTIVO DEL CONTACTO </a:t>
            </a:r>
            <a:endParaRPr lang="es-ES" altLang="es-CL" sz="1600" b="1">
              <a:solidFill>
                <a:srgbClr val="FF9900"/>
              </a:solidFill>
              <a:latin typeface="Arial Narrow" pitchFamily="34" charset="0"/>
            </a:endParaRPr>
          </a:p>
        </p:txBody>
      </p:sp>
      <p:sp>
        <p:nvSpPr>
          <p:cNvPr id="2029571"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29572" name="Rectangle 4"/>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¿Cuál fue el (los) motivo(s) por el cual usted concurrió o fue trasladado a un Cuartel o Unidad de Carabineros durante los últimos 12 meses? Según Prefectura</a:t>
            </a:r>
            <a:endParaRPr lang="es-ES" altLang="es-CL" sz="1400">
              <a:solidFill>
                <a:srgbClr val="000099"/>
              </a:solidFill>
              <a:latin typeface="Arial Narrow" pitchFamily="34" charset="0"/>
            </a:endParaRPr>
          </a:p>
        </p:txBody>
      </p:sp>
      <p:sp>
        <p:nvSpPr>
          <p:cNvPr id="2029578" name="Text Box 10"/>
          <p:cNvSpPr txBox="1">
            <a:spLocks noChangeArrowheads="1"/>
          </p:cNvSpPr>
          <p:nvPr/>
        </p:nvSpPr>
        <p:spPr bwMode="auto">
          <a:xfrm>
            <a:off x="3581400" y="1558925"/>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0601" name="Rectangle 9"/>
          <p:cNvSpPr>
            <a:spLocks noChangeArrowheads="1"/>
          </p:cNvSpPr>
          <p:nvPr/>
        </p:nvSpPr>
        <p:spPr bwMode="auto">
          <a:xfrm>
            <a:off x="684213" y="4149725"/>
            <a:ext cx="2735262" cy="172720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30602" name="Rectangle 10"/>
          <p:cNvSpPr>
            <a:spLocks noChangeArrowheads="1"/>
          </p:cNvSpPr>
          <p:nvPr/>
        </p:nvSpPr>
        <p:spPr bwMode="auto">
          <a:xfrm>
            <a:off x="3419475" y="4149725"/>
            <a:ext cx="5329238" cy="1727200"/>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30599" name="Rectangle 7"/>
          <p:cNvSpPr>
            <a:spLocks noChangeArrowheads="1"/>
          </p:cNvSpPr>
          <p:nvPr/>
        </p:nvSpPr>
        <p:spPr bwMode="auto">
          <a:xfrm>
            <a:off x="684213" y="1844675"/>
            <a:ext cx="8078787" cy="1741488"/>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30600" name="Object 8"/>
          <p:cNvGraphicFramePr>
            <a:graphicFrameLocks noChangeAspect="1"/>
          </p:cNvGraphicFramePr>
          <p:nvPr/>
        </p:nvGraphicFramePr>
        <p:xfrm>
          <a:off x="103188" y="-304800"/>
          <a:ext cx="8964612" cy="5014913"/>
        </p:xfrm>
        <a:graphic>
          <a:graphicData uri="http://schemas.openxmlformats.org/presentationml/2006/ole">
            <mc:AlternateContent xmlns:mc="http://schemas.openxmlformats.org/markup-compatibility/2006">
              <mc:Choice xmlns:v="urn:schemas-microsoft-com:vml" Requires="v">
                <p:oleObj spid="_x0000_s2030609" name="Gráfico" r:id="rId3" imgW="8334451" imgH="4676851" progId="MSGraph.Chart.8">
                  <p:embed followColorScheme="full"/>
                </p:oleObj>
              </mc:Choice>
              <mc:Fallback>
                <p:oleObj name="Gráfico" r:id="rId3" imgW="8334451" imgH="4676851" progId="MSGraph.Chart.8">
                  <p:embed followColorScheme="full"/>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88" y="-304800"/>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0603" name="Object 11"/>
          <p:cNvGraphicFramePr>
            <a:graphicFrameLocks noChangeAspect="1"/>
          </p:cNvGraphicFramePr>
          <p:nvPr/>
        </p:nvGraphicFramePr>
        <p:xfrm>
          <a:off x="152400" y="1844675"/>
          <a:ext cx="8964613" cy="5014913"/>
        </p:xfrm>
        <a:graphic>
          <a:graphicData uri="http://schemas.openxmlformats.org/presentationml/2006/ole">
            <mc:AlternateContent xmlns:mc="http://schemas.openxmlformats.org/markup-compatibility/2006">
              <mc:Choice xmlns:v="urn:schemas-microsoft-com:vml" Requires="v">
                <p:oleObj spid="_x0000_s2030610" name="Gráfico" r:id="rId5" imgW="8334451" imgH="4676851" progId="MSGraph.Chart.8">
                  <p:embed followColorScheme="full"/>
                </p:oleObj>
              </mc:Choice>
              <mc:Fallback>
                <p:oleObj name="Gráfico" r:id="rId5" imgW="8334451" imgH="4676851" progId="MSGraph.Chart.8">
                  <p:embed followColorScheme="full"/>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1844675"/>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0594" name="Rectangle 2"/>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MOTIVO DEL CONTACTO </a:t>
            </a:r>
            <a:endParaRPr lang="es-ES" altLang="es-CL" sz="1600" b="1">
              <a:solidFill>
                <a:srgbClr val="FF9900"/>
              </a:solidFill>
              <a:latin typeface="Arial Narrow" pitchFamily="34" charset="0"/>
            </a:endParaRPr>
          </a:p>
        </p:txBody>
      </p:sp>
      <p:sp>
        <p:nvSpPr>
          <p:cNvPr id="2030595"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30596" name="Rectangle 4"/>
          <p:cNvSpPr>
            <a:spLocks noChangeArrowheads="1"/>
          </p:cNvSpPr>
          <p:nvPr/>
        </p:nvSpPr>
        <p:spPr bwMode="auto">
          <a:xfrm>
            <a:off x="609600" y="914400"/>
            <a:ext cx="80121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¿Cuál fue el (los) motivo(s) por el cual usted concurrió o fue trasladado a un Cuartel o Unidad de Carabineros durante los últimos 12 meses? Según GSE, Sexo y Tramo Etareo.  </a:t>
            </a:r>
            <a:endParaRPr lang="es-ES" altLang="es-CL" sz="1400">
              <a:solidFill>
                <a:srgbClr val="000099"/>
              </a:solidFill>
              <a:latin typeface="Arial Narrow" pitchFamily="34" charset="0"/>
            </a:endParaRPr>
          </a:p>
        </p:txBody>
      </p:sp>
      <p:sp>
        <p:nvSpPr>
          <p:cNvPr id="2030604" name="Text Box 12"/>
          <p:cNvSpPr txBox="1">
            <a:spLocks noChangeArrowheads="1"/>
          </p:cNvSpPr>
          <p:nvPr/>
        </p:nvSpPr>
        <p:spPr bwMode="auto">
          <a:xfrm>
            <a:off x="4114800" y="14478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30605" name="Text Box 13"/>
          <p:cNvSpPr txBox="1">
            <a:spLocks noChangeArrowheads="1"/>
          </p:cNvSpPr>
          <p:nvPr/>
        </p:nvSpPr>
        <p:spPr bwMode="auto">
          <a:xfrm>
            <a:off x="1600200" y="3789363"/>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30606" name="Text Box 14"/>
          <p:cNvSpPr txBox="1">
            <a:spLocks noChangeArrowheads="1"/>
          </p:cNvSpPr>
          <p:nvPr/>
        </p:nvSpPr>
        <p:spPr bwMode="auto">
          <a:xfrm>
            <a:off x="5410200" y="3789363"/>
            <a:ext cx="15240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Tree>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1619"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Nº DE VECES QUE CONCURRIÓ AL CUARTEL </a:t>
            </a:r>
            <a:endParaRPr lang="es-ES" altLang="es-CL" sz="1600" b="1">
              <a:solidFill>
                <a:srgbClr val="FF9900"/>
              </a:solidFill>
              <a:latin typeface="Arial Narrow" pitchFamily="34" charset="0"/>
            </a:endParaRPr>
          </a:p>
        </p:txBody>
      </p:sp>
      <p:sp>
        <p:nvSpPr>
          <p:cNvPr id="2031620"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31621"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¿Cuántas veces usted acudió a un Cuartel o Unidad de Carabineros durante los últimos 12 meses por algún(os) de estos motivos? </a:t>
            </a:r>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Quienes acudieron a un Cuartel o Unidad de Carabineros</a:t>
            </a:r>
            <a:r>
              <a:rPr lang="es-ES" altLang="es-CL" sz="1400">
                <a:solidFill>
                  <a:srgbClr val="000099"/>
                </a:solidFill>
                <a:latin typeface="Arial Narrow" pitchFamily="34" charset="0"/>
              </a:rPr>
              <a:t>)</a:t>
            </a: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graphicFrame>
        <p:nvGraphicFramePr>
          <p:cNvPr id="2031638" name="Object 22"/>
          <p:cNvGraphicFramePr>
            <a:graphicFrameLocks noGrp="1" noChangeAspect="1"/>
          </p:cNvGraphicFramePr>
          <p:nvPr>
            <p:ph/>
          </p:nvPr>
        </p:nvGraphicFramePr>
        <p:xfrm>
          <a:off x="1042988" y="2203450"/>
          <a:ext cx="7416800" cy="2305050"/>
        </p:xfrm>
        <a:graphic>
          <a:graphicData uri="http://schemas.openxmlformats.org/presentationml/2006/ole">
            <mc:AlternateContent xmlns:mc="http://schemas.openxmlformats.org/markup-compatibility/2006">
              <mc:Choice xmlns:v="urn:schemas-microsoft-com:vml" Requires="v">
                <p:oleObj spid="_x0000_s2031641" name="Hoja de cálculo" r:id="rId4" imgW="4049445" imgH="1258962" progId="Excel.Sheet.8">
                  <p:embed/>
                </p:oleObj>
              </mc:Choice>
              <mc:Fallback>
                <p:oleObj name="Hoja de cálculo" r:id="rId4" imgW="4049445" imgH="1258962" progId="Excel.Sheet.8">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2203450"/>
                        <a:ext cx="7416800" cy="230505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4690"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34691"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ATENCIÓN DE CARABINEROS</a:t>
            </a:r>
            <a:endParaRPr lang="es-ES" altLang="es-CL" sz="1600" b="1">
              <a:solidFill>
                <a:srgbClr val="FF9900"/>
              </a:solidFill>
              <a:latin typeface="Arial Narrow" pitchFamily="34" charset="0"/>
            </a:endParaRPr>
          </a:p>
        </p:txBody>
      </p:sp>
      <p:sp>
        <p:nvSpPr>
          <p:cNvPr id="2034692"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Considerando la siguiente escala, ¿cómo evaluaría en los siguientes aspectos la atención recibida en el Cuartel o Unidad de Carabineros? </a:t>
            </a:r>
            <a:r>
              <a:rPr lang="es-ES" altLang="es-CL" sz="1400">
                <a:solidFill>
                  <a:srgbClr val="000099"/>
                </a:solidFill>
                <a:latin typeface="Arial Narrow" pitchFamily="34" charset="0"/>
              </a:rPr>
              <a:t>(B: </a:t>
            </a:r>
            <a:r>
              <a:rPr lang="es-ES_tradnl" altLang="es-CL" sz="1400">
                <a:solidFill>
                  <a:srgbClr val="000099"/>
                </a:solidFill>
                <a:latin typeface="Arial Narrow" pitchFamily="34" charset="0"/>
              </a:rPr>
              <a:t>Quienes acudieron a un Cuartel o Unidad de Carabineros</a:t>
            </a:r>
            <a:r>
              <a:rPr lang="es-ES" altLang="es-CL" sz="1200">
                <a:solidFill>
                  <a:srgbClr val="003366"/>
                </a:solidFill>
                <a:latin typeface="Verdana" pitchFamily="34" charset="0"/>
              </a:rPr>
              <a:t>)</a:t>
            </a: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graphicFrame>
        <p:nvGraphicFramePr>
          <p:cNvPr id="2034693" name="Object 5"/>
          <p:cNvGraphicFramePr>
            <a:graphicFrameLocks noChangeAspect="1"/>
          </p:cNvGraphicFramePr>
          <p:nvPr/>
        </p:nvGraphicFramePr>
        <p:xfrm>
          <a:off x="377825" y="1592263"/>
          <a:ext cx="8461375" cy="2844800"/>
        </p:xfrm>
        <a:graphic>
          <a:graphicData uri="http://schemas.openxmlformats.org/presentationml/2006/ole">
            <mc:AlternateContent xmlns:mc="http://schemas.openxmlformats.org/markup-compatibility/2006">
              <mc:Choice xmlns:v="urn:schemas-microsoft-com:vml" Requires="v">
                <p:oleObj spid="_x0000_s2034697" name="Gráfico" r:id="rId3" imgW="6238951" imgH="2095500" progId="MSGraph.Chart.8">
                  <p:embed followColorScheme="full"/>
                </p:oleObj>
              </mc:Choice>
              <mc:Fallback>
                <p:oleObj name="Gráfico" r:id="rId3" imgW="6238951" imgH="2095500" progId="MSGraph.Chart.8">
                  <p:embed followColorScheme="full"/>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825" y="1592263"/>
                        <a:ext cx="8461375" cy="284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4694" name="Object 6"/>
          <p:cNvGraphicFramePr>
            <a:graphicFrameLocks noChangeAspect="1"/>
          </p:cNvGraphicFramePr>
          <p:nvPr/>
        </p:nvGraphicFramePr>
        <p:xfrm>
          <a:off x="358775" y="3644900"/>
          <a:ext cx="8461375" cy="2844800"/>
        </p:xfrm>
        <a:graphic>
          <a:graphicData uri="http://schemas.openxmlformats.org/presentationml/2006/ole">
            <mc:AlternateContent xmlns:mc="http://schemas.openxmlformats.org/markup-compatibility/2006">
              <mc:Choice xmlns:v="urn:schemas-microsoft-com:vml" Requires="v">
                <p:oleObj spid="_x0000_s2034698" name="Gráfico" r:id="rId5" imgW="6238951" imgH="2095500" progId="MSGraph.Chart.8">
                  <p:embed followColorScheme="full"/>
                </p:oleObj>
              </mc:Choice>
              <mc:Fallback>
                <p:oleObj name="Gráfico" r:id="rId5" imgW="6238951" imgH="2095500"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775" y="3644900"/>
                        <a:ext cx="8461375" cy="284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5714"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35715"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EVALUACIÓN DE INFRAESTRUCTURA DE CUARTELES O UNIDADES</a:t>
            </a:r>
            <a:endParaRPr lang="es-ES" altLang="es-CL" sz="1600" b="1">
              <a:solidFill>
                <a:srgbClr val="FF9900"/>
              </a:solidFill>
              <a:latin typeface="Arial Narrow" pitchFamily="34" charset="0"/>
            </a:endParaRPr>
          </a:p>
        </p:txBody>
      </p:sp>
      <p:sp>
        <p:nvSpPr>
          <p:cNvPr id="2035716"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Considerando la siguiente escala, ¿cómo evaluaría en los siguientes aspectos la atención recibida en el Cuartel o Unidad de Carabineros? </a:t>
            </a:r>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Quienes acudieron a un Cuartel o Unidad de Carabineros</a:t>
            </a:r>
            <a:r>
              <a:rPr lang="es-ES" altLang="es-CL" sz="1400">
                <a:solidFill>
                  <a:srgbClr val="000099"/>
                </a:solidFill>
                <a:latin typeface="Arial Narrow" pitchFamily="34" charset="0"/>
              </a:rPr>
              <a:t>) </a:t>
            </a:r>
            <a:r>
              <a:rPr lang="es-ES_tradnl" altLang="es-CL" sz="1400">
                <a:solidFill>
                  <a:srgbClr val="000099"/>
                </a:solidFill>
                <a:latin typeface="Arial Narrow" pitchFamily="34" charset="0"/>
              </a:rPr>
              <a:t>% Evaluación Neta</a:t>
            </a:r>
            <a:r>
              <a:rPr lang="es-ES_tradnl" altLang="es-CL" sz="1400">
                <a:solidFill>
                  <a:srgbClr val="333399"/>
                </a:solidFill>
                <a:latin typeface="Arial Narrow" pitchFamily="34" charset="0"/>
              </a:rPr>
              <a:t> según</a:t>
            </a:r>
            <a:r>
              <a:rPr lang="es-ES" altLang="es-CL" sz="1400">
                <a:solidFill>
                  <a:srgbClr val="000099"/>
                </a:solidFill>
                <a:latin typeface="Arial Narrow" pitchFamily="34" charset="0"/>
              </a:rPr>
              <a:t> Prefectura</a:t>
            </a: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graphicFrame>
        <p:nvGraphicFramePr>
          <p:cNvPr id="2035721" name="Object 9"/>
          <p:cNvGraphicFramePr>
            <a:graphicFrameLocks noChangeAspect="1"/>
          </p:cNvGraphicFramePr>
          <p:nvPr/>
        </p:nvGraphicFramePr>
        <p:xfrm>
          <a:off x="755650" y="1557338"/>
          <a:ext cx="8204200" cy="3987800"/>
        </p:xfrm>
        <a:graphic>
          <a:graphicData uri="http://schemas.openxmlformats.org/presentationml/2006/ole">
            <mc:AlternateContent xmlns:mc="http://schemas.openxmlformats.org/markup-compatibility/2006">
              <mc:Choice xmlns:v="urn:schemas-microsoft-com:vml" Requires="v">
                <p:oleObj spid="_x0000_s2035729" name="Hoja de cálculo" r:id="rId4" imgW="7000951" imgH="3410102" progId="Excel.Sheet.8">
                  <p:embed/>
                </p:oleObj>
              </mc:Choice>
              <mc:Fallback>
                <p:oleObj name="Hoja de cálculo" r:id="rId4" imgW="7000951" imgH="3410102" progId="Excel.Sheet.8">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1557338"/>
                        <a:ext cx="8204200" cy="398780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035727" name="Group 15"/>
          <p:cNvGrpSpPr>
            <a:grpSpLocks/>
          </p:cNvGrpSpPr>
          <p:nvPr/>
        </p:nvGrpSpPr>
        <p:grpSpPr bwMode="auto">
          <a:xfrm>
            <a:off x="5651500" y="5876925"/>
            <a:ext cx="2952750" cy="644525"/>
            <a:chOff x="3560" y="3841"/>
            <a:chExt cx="1860" cy="406"/>
          </a:xfrm>
        </p:grpSpPr>
        <p:sp>
          <p:nvSpPr>
            <p:cNvPr id="2035723" name="Rectangle 11"/>
            <p:cNvSpPr>
              <a:spLocks noChangeArrowheads="1"/>
            </p:cNvSpPr>
            <p:nvPr/>
          </p:nvSpPr>
          <p:spPr bwMode="auto">
            <a:xfrm>
              <a:off x="3560" y="4073"/>
              <a:ext cx="227" cy="174"/>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35724" name="Text Box 12"/>
            <p:cNvSpPr txBox="1">
              <a:spLocks noChangeArrowheads="1"/>
            </p:cNvSpPr>
            <p:nvPr/>
          </p:nvSpPr>
          <p:spPr bwMode="auto">
            <a:xfrm>
              <a:off x="3780" y="4073"/>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3 Aspectos mejor evaluados por Prefectura</a:t>
              </a:r>
              <a:endParaRPr lang="es-ES" altLang="es-CL">
                <a:solidFill>
                  <a:srgbClr val="FF3300"/>
                </a:solidFill>
              </a:endParaRPr>
            </a:p>
          </p:txBody>
        </p:sp>
        <p:sp>
          <p:nvSpPr>
            <p:cNvPr id="2035725" name="Rectangle 13"/>
            <p:cNvSpPr>
              <a:spLocks noChangeArrowheads="1"/>
            </p:cNvSpPr>
            <p:nvPr/>
          </p:nvSpPr>
          <p:spPr bwMode="auto">
            <a:xfrm>
              <a:off x="3560" y="3841"/>
              <a:ext cx="227" cy="174"/>
            </a:xfrm>
            <a:prstGeom prst="rect">
              <a:avLst/>
            </a:prstGeom>
            <a:solidFill>
              <a:srgbClr val="FF99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35726" name="Text Box 14"/>
            <p:cNvSpPr txBox="1">
              <a:spLocks noChangeArrowheads="1"/>
            </p:cNvSpPr>
            <p:nvPr/>
          </p:nvSpPr>
          <p:spPr bwMode="auto">
            <a:xfrm>
              <a:off x="3780" y="3841"/>
              <a:ext cx="164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Evaluación Neta negativa</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6738"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36739"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EVALUACIÓN DE INFRAESTRUCTURA DE CUARTELES O UNIDADES</a:t>
            </a:r>
            <a:endParaRPr lang="es-ES" altLang="es-CL" sz="1600" b="1">
              <a:solidFill>
                <a:srgbClr val="FF9900"/>
              </a:solidFill>
              <a:latin typeface="Arial Narrow" pitchFamily="34" charset="0"/>
            </a:endParaRPr>
          </a:p>
        </p:txBody>
      </p:sp>
      <p:sp>
        <p:nvSpPr>
          <p:cNvPr id="2036740"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Considerando la siguiente escala, ¿cómo evaluaría en los siguientes aspectos la atención recibida en el Cuartel o Unidad de Carabineros? </a:t>
            </a:r>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 Quienes acudieron a un Cuartel o Unidad de Carabineros</a:t>
            </a:r>
            <a:r>
              <a:rPr lang="es-ES" altLang="es-CL" sz="1400">
                <a:solidFill>
                  <a:srgbClr val="000099"/>
                </a:solidFill>
                <a:latin typeface="Arial Narrow" pitchFamily="34" charset="0"/>
              </a:rPr>
              <a:t>) </a:t>
            </a:r>
            <a:r>
              <a:rPr lang="es-ES_tradnl" altLang="es-CL" sz="1200">
                <a:solidFill>
                  <a:srgbClr val="000099"/>
                </a:solidFill>
                <a:latin typeface="Arial Narrow" pitchFamily="34" charset="0"/>
              </a:rPr>
              <a:t>% Evaluación Neta</a:t>
            </a:r>
            <a:r>
              <a:rPr lang="es-ES_tradnl" altLang="es-CL" sz="1200">
                <a:solidFill>
                  <a:srgbClr val="333399"/>
                </a:solidFill>
                <a:latin typeface="Arial Narrow" pitchFamily="34" charset="0"/>
              </a:rPr>
              <a:t> según</a:t>
            </a:r>
            <a:r>
              <a:rPr lang="es-ES" altLang="es-CL" sz="1400">
                <a:solidFill>
                  <a:srgbClr val="000099"/>
                </a:solidFill>
                <a:latin typeface="Arial Narrow" pitchFamily="34" charset="0"/>
              </a:rPr>
              <a:t> GSE, Sexo y Tramo Etareo</a:t>
            </a: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graphicFrame>
        <p:nvGraphicFramePr>
          <p:cNvPr id="2036743" name="Object 7"/>
          <p:cNvGraphicFramePr>
            <a:graphicFrameLocks noChangeAspect="1"/>
          </p:cNvGraphicFramePr>
          <p:nvPr/>
        </p:nvGraphicFramePr>
        <p:xfrm>
          <a:off x="844550" y="1644650"/>
          <a:ext cx="7975600" cy="4305300"/>
        </p:xfrm>
        <a:graphic>
          <a:graphicData uri="http://schemas.openxmlformats.org/presentationml/2006/ole">
            <mc:AlternateContent xmlns:mc="http://schemas.openxmlformats.org/markup-compatibility/2006">
              <mc:Choice xmlns:v="urn:schemas-microsoft-com:vml" Requires="v">
                <p:oleObj spid="_x0000_s2036750" name="Hoja de cálculo" r:id="rId4" imgW="6600749" imgH="3628949" progId="Excel.Sheet.8">
                  <p:embed/>
                </p:oleObj>
              </mc:Choice>
              <mc:Fallback>
                <p:oleObj name="Hoja de cálculo" r:id="rId4" imgW="6600749" imgH="3628949" progId="Excel.Sheet.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550" y="1644650"/>
                        <a:ext cx="7975600" cy="430530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036744" name="Group 8"/>
          <p:cNvGrpSpPr>
            <a:grpSpLocks/>
          </p:cNvGrpSpPr>
          <p:nvPr/>
        </p:nvGrpSpPr>
        <p:grpSpPr bwMode="auto">
          <a:xfrm>
            <a:off x="5651500" y="6097588"/>
            <a:ext cx="2952750" cy="644525"/>
            <a:chOff x="3560" y="3841"/>
            <a:chExt cx="1860" cy="406"/>
          </a:xfrm>
        </p:grpSpPr>
        <p:sp>
          <p:nvSpPr>
            <p:cNvPr id="2036745" name="Rectangle 9"/>
            <p:cNvSpPr>
              <a:spLocks noChangeArrowheads="1"/>
            </p:cNvSpPr>
            <p:nvPr/>
          </p:nvSpPr>
          <p:spPr bwMode="auto">
            <a:xfrm>
              <a:off x="3560" y="4073"/>
              <a:ext cx="227" cy="174"/>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36746" name="Text Box 10"/>
            <p:cNvSpPr txBox="1">
              <a:spLocks noChangeArrowheads="1"/>
            </p:cNvSpPr>
            <p:nvPr/>
          </p:nvSpPr>
          <p:spPr bwMode="auto">
            <a:xfrm>
              <a:off x="3780" y="4073"/>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3 Aspectos mejor evaluados por Segmento</a:t>
              </a:r>
              <a:endParaRPr lang="es-ES" altLang="es-CL">
                <a:solidFill>
                  <a:srgbClr val="FF3300"/>
                </a:solidFill>
              </a:endParaRPr>
            </a:p>
          </p:txBody>
        </p:sp>
        <p:sp>
          <p:nvSpPr>
            <p:cNvPr id="2036747" name="Rectangle 11"/>
            <p:cNvSpPr>
              <a:spLocks noChangeArrowheads="1"/>
            </p:cNvSpPr>
            <p:nvPr/>
          </p:nvSpPr>
          <p:spPr bwMode="auto">
            <a:xfrm>
              <a:off x="3560" y="3841"/>
              <a:ext cx="227" cy="174"/>
            </a:xfrm>
            <a:prstGeom prst="rect">
              <a:avLst/>
            </a:prstGeom>
            <a:solidFill>
              <a:srgbClr val="FF99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36748" name="Text Box 12"/>
            <p:cNvSpPr txBox="1">
              <a:spLocks noChangeArrowheads="1"/>
            </p:cNvSpPr>
            <p:nvPr/>
          </p:nvSpPr>
          <p:spPr bwMode="auto">
            <a:xfrm>
              <a:off x="3780" y="3841"/>
              <a:ext cx="164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Evaluación Neta negativa</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8418"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108419" name="Rectangle 3"/>
          <p:cNvSpPr>
            <a:spLocks noChangeArrowheads="1"/>
          </p:cNvSpPr>
          <p:nvPr/>
        </p:nvSpPr>
        <p:spPr bwMode="auto">
          <a:xfrm>
            <a:off x="609600" y="609600"/>
            <a:ext cx="6934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IMPORTANCIA DE CARACTERÍSTICAS CUARTEL</a:t>
            </a:r>
          </a:p>
        </p:txBody>
      </p:sp>
      <p:sp>
        <p:nvSpPr>
          <p:cNvPr id="2108420" name="Rectangle 4"/>
          <p:cNvSpPr>
            <a:spLocks noChangeArrowheads="1"/>
          </p:cNvSpPr>
          <p:nvPr/>
        </p:nvSpPr>
        <p:spPr bwMode="auto">
          <a:xfrm>
            <a:off x="609600" y="914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altLang="es-CL" sz="1400">
                <a:solidFill>
                  <a:srgbClr val="000099"/>
                </a:solidFill>
                <a:latin typeface="Arial Narrow" pitchFamily="34" charset="0"/>
              </a:rPr>
              <a:t>Si usted necesita acudir a un cuartel de Carabineros, de la siguiente lista de características, ¿cuáles son los tres aspectos más importantes para usted? (B:6048)</a:t>
            </a:r>
          </a:p>
        </p:txBody>
      </p:sp>
      <p:graphicFrame>
        <p:nvGraphicFramePr>
          <p:cNvPr id="2108421" name="Object 5"/>
          <p:cNvGraphicFramePr>
            <a:graphicFrameLocks noGrp="1" noChangeAspect="1"/>
          </p:cNvGraphicFramePr>
          <p:nvPr>
            <p:ph/>
          </p:nvPr>
        </p:nvGraphicFramePr>
        <p:xfrm>
          <a:off x="687388" y="1438275"/>
          <a:ext cx="6904037" cy="5281613"/>
        </p:xfrm>
        <a:graphic>
          <a:graphicData uri="http://schemas.openxmlformats.org/presentationml/2006/ole">
            <mc:AlternateContent xmlns:mc="http://schemas.openxmlformats.org/markup-compatibility/2006">
              <mc:Choice xmlns:v="urn:schemas-microsoft-com:vml" Requires="v">
                <p:oleObj spid="_x0000_s2108425" name="Gráfico" r:id="rId3" imgW="11792102" imgH="9020251" progId="MSGraph.Chart.8">
                  <p:embed followColorScheme="full"/>
                </p:oleObj>
              </mc:Choice>
              <mc:Fallback>
                <p:oleObj name="Gráfico" r:id="rId3" imgW="11792102" imgH="9020251" progId="MSGraph.Chart.8">
                  <p:embed followColorScheme="full"/>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388" y="1438275"/>
                        <a:ext cx="6904037" cy="5281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08422" name="Rectangle 6"/>
          <p:cNvSpPr>
            <a:spLocks noChangeArrowheads="1"/>
          </p:cNvSpPr>
          <p:nvPr/>
        </p:nvSpPr>
        <p:spPr bwMode="auto">
          <a:xfrm>
            <a:off x="1331913" y="1844675"/>
            <a:ext cx="6553200" cy="792163"/>
          </a:xfrm>
          <a:prstGeom prst="rect">
            <a:avLst/>
          </a:prstGeom>
          <a:noFill/>
          <a:ln w="28575">
            <a:solidFill>
              <a:srgbClr val="0000FF"/>
            </a:solidFill>
            <a:prstDash val="sysDot"/>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108423" name="Text Box 7"/>
          <p:cNvSpPr txBox="1">
            <a:spLocks noChangeArrowheads="1"/>
          </p:cNvSpPr>
          <p:nvPr/>
        </p:nvSpPr>
        <p:spPr bwMode="auto">
          <a:xfrm>
            <a:off x="7092950" y="1943100"/>
            <a:ext cx="1655763" cy="549275"/>
          </a:xfrm>
          <a:prstGeom prst="rect">
            <a:avLst/>
          </a:prstGeom>
          <a:gradFill rotWithShape="1">
            <a:gsLst>
              <a:gs pos="0">
                <a:srgbClr val="333399"/>
              </a:gs>
              <a:gs pos="50000">
                <a:srgbClr val="333399">
                  <a:gamma/>
                  <a:shade val="46275"/>
                  <a:invGamma/>
                </a:srgbClr>
              </a:gs>
              <a:gs pos="100000">
                <a:srgbClr val="333399"/>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solidFill>
                  <a:schemeClr val="bg1"/>
                </a:solidFill>
              </a:rPr>
              <a:t>29% 1era Mención</a:t>
            </a:r>
          </a:p>
          <a:p>
            <a:pPr>
              <a:spcBef>
                <a:spcPct val="50000"/>
              </a:spcBef>
            </a:pPr>
            <a:r>
              <a:rPr lang="es-ES_tradnl" altLang="es-CL">
                <a:solidFill>
                  <a:schemeClr val="bg1"/>
                </a:solidFill>
              </a:rPr>
              <a:t>Aspectos Emocionales</a:t>
            </a:r>
          </a:p>
        </p:txBody>
      </p:sp>
    </p:spTree>
  </p:cSld>
  <p:clrMapOvr>
    <a:masterClrMapping/>
  </p:clrMapOvr>
  <p:transition>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09442" name="Object 2"/>
          <p:cNvGraphicFramePr>
            <a:graphicFrameLocks noChangeAspect="1"/>
          </p:cNvGraphicFramePr>
          <p:nvPr/>
        </p:nvGraphicFramePr>
        <p:xfrm>
          <a:off x="152400" y="1628775"/>
          <a:ext cx="8964613" cy="5014913"/>
        </p:xfrm>
        <a:graphic>
          <a:graphicData uri="http://schemas.openxmlformats.org/presentationml/2006/ole">
            <mc:AlternateContent xmlns:mc="http://schemas.openxmlformats.org/markup-compatibility/2006">
              <mc:Choice xmlns:v="urn:schemas-microsoft-com:vml" Requires="v">
                <p:oleObj spid="_x0000_s2109450" name="Gráfico" r:id="rId3" imgW="8334451" imgH="4676851" progId="MSGraph.Chart.8">
                  <p:embed followColorScheme="full"/>
                </p:oleObj>
              </mc:Choice>
              <mc:Fallback>
                <p:oleObj name="Gráfico" r:id="rId3" imgW="8334451" imgH="4676851"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628775"/>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09443" name="Object 3"/>
          <p:cNvGraphicFramePr>
            <a:graphicFrameLocks noChangeAspect="1"/>
          </p:cNvGraphicFramePr>
          <p:nvPr/>
        </p:nvGraphicFramePr>
        <p:xfrm>
          <a:off x="103188" y="-290513"/>
          <a:ext cx="8964612" cy="5014913"/>
        </p:xfrm>
        <a:graphic>
          <a:graphicData uri="http://schemas.openxmlformats.org/presentationml/2006/ole">
            <mc:AlternateContent xmlns:mc="http://schemas.openxmlformats.org/markup-compatibility/2006">
              <mc:Choice xmlns:v="urn:schemas-microsoft-com:vml" Requires="v">
                <p:oleObj spid="_x0000_s2109451" name="Gráfico" r:id="rId5" imgW="8334451" imgH="4676851" progId="MSGraph.Chart.8">
                  <p:embed followColorScheme="full"/>
                </p:oleObj>
              </mc:Choice>
              <mc:Fallback>
                <p:oleObj name="Gráfico" r:id="rId5" imgW="8334451" imgH="4676851" progId="MSGraph.Chart.8">
                  <p:embed followColorScheme="full"/>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88" y="-290513"/>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09444"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109445" name="Rectangle 5"/>
          <p:cNvSpPr>
            <a:spLocks noChangeArrowheads="1"/>
          </p:cNvSpPr>
          <p:nvPr/>
        </p:nvSpPr>
        <p:spPr bwMode="auto">
          <a:xfrm>
            <a:off x="609600" y="609600"/>
            <a:ext cx="6934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IMPORTANCIA DE CARACTERÍSTICAS CUARTEL (1era Mención)</a:t>
            </a:r>
          </a:p>
        </p:txBody>
      </p:sp>
      <p:sp>
        <p:nvSpPr>
          <p:cNvPr id="2109446" name="Rectangle 6"/>
          <p:cNvSpPr>
            <a:spLocks noChangeArrowheads="1"/>
          </p:cNvSpPr>
          <p:nvPr/>
        </p:nvSpPr>
        <p:spPr bwMode="auto">
          <a:xfrm>
            <a:off x="609600" y="914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altLang="es-CL" sz="1400">
                <a:solidFill>
                  <a:srgbClr val="000099"/>
                </a:solidFill>
                <a:latin typeface="Arial Narrow" pitchFamily="34" charset="0"/>
              </a:rPr>
              <a:t>Si usted necesita acudir a un cuartel de Carabineros, de la siguiente lista de características, ¿cuáles son los tres aspectos más importantes para usted?  Según Prefectura.</a:t>
            </a:r>
          </a:p>
        </p:txBody>
      </p:sp>
      <p:sp>
        <p:nvSpPr>
          <p:cNvPr id="2109447" name="Text Box 7"/>
          <p:cNvSpPr txBox="1">
            <a:spLocks noChangeArrowheads="1"/>
          </p:cNvSpPr>
          <p:nvPr/>
        </p:nvSpPr>
        <p:spPr bwMode="auto">
          <a:xfrm>
            <a:off x="3581400" y="153035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Tree>
  </p:cSld>
  <p:clrMapOvr>
    <a:masterClrMapping/>
  </p:clrMapOvr>
  <p:transition>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0466" name="Rectangle 2"/>
          <p:cNvSpPr>
            <a:spLocks noChangeArrowheads="1"/>
          </p:cNvSpPr>
          <p:nvPr/>
        </p:nvSpPr>
        <p:spPr bwMode="auto">
          <a:xfrm>
            <a:off x="755650" y="4221163"/>
            <a:ext cx="2736850" cy="1584325"/>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110467" name="Rectangle 3"/>
          <p:cNvSpPr>
            <a:spLocks noChangeArrowheads="1"/>
          </p:cNvSpPr>
          <p:nvPr/>
        </p:nvSpPr>
        <p:spPr bwMode="auto">
          <a:xfrm>
            <a:off x="3490913" y="4221163"/>
            <a:ext cx="5329237" cy="1584325"/>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110468" name="Rectangle 4"/>
          <p:cNvSpPr>
            <a:spLocks noChangeArrowheads="1"/>
          </p:cNvSpPr>
          <p:nvPr/>
        </p:nvSpPr>
        <p:spPr bwMode="auto">
          <a:xfrm>
            <a:off x="755650" y="1916113"/>
            <a:ext cx="8137525" cy="1741487"/>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110469" name="Object 5"/>
          <p:cNvGraphicFramePr>
            <a:graphicFrameLocks noChangeAspect="1"/>
          </p:cNvGraphicFramePr>
          <p:nvPr/>
        </p:nvGraphicFramePr>
        <p:xfrm>
          <a:off x="152400" y="1844675"/>
          <a:ext cx="8964613" cy="5014913"/>
        </p:xfrm>
        <a:graphic>
          <a:graphicData uri="http://schemas.openxmlformats.org/presentationml/2006/ole">
            <mc:AlternateContent xmlns:mc="http://schemas.openxmlformats.org/markup-compatibility/2006">
              <mc:Choice xmlns:v="urn:schemas-microsoft-com:vml" Requires="v">
                <p:oleObj spid="_x0000_s2110479" name="Gráfico" r:id="rId3" imgW="8334451" imgH="4676851" progId="MSGraph.Chart.8">
                  <p:embed followColorScheme="full"/>
                </p:oleObj>
              </mc:Choice>
              <mc:Fallback>
                <p:oleObj name="Gráfico" r:id="rId3" imgW="8334451" imgH="4676851" progId="MSGraph.Chart.8">
                  <p:embed followColorScheme="full"/>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844675"/>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10470" name="Object 6"/>
          <p:cNvGraphicFramePr>
            <a:graphicFrameLocks noChangeAspect="1"/>
          </p:cNvGraphicFramePr>
          <p:nvPr/>
        </p:nvGraphicFramePr>
        <p:xfrm>
          <a:off x="103188" y="-304800"/>
          <a:ext cx="8964612" cy="5014913"/>
        </p:xfrm>
        <a:graphic>
          <a:graphicData uri="http://schemas.openxmlformats.org/presentationml/2006/ole">
            <mc:AlternateContent xmlns:mc="http://schemas.openxmlformats.org/markup-compatibility/2006">
              <mc:Choice xmlns:v="urn:schemas-microsoft-com:vml" Requires="v">
                <p:oleObj spid="_x0000_s2110480" name="Gráfico" r:id="rId5" imgW="8334451" imgH="4676851" progId="MSGraph.Chart.8">
                  <p:embed followColorScheme="full"/>
                </p:oleObj>
              </mc:Choice>
              <mc:Fallback>
                <p:oleObj name="Gráfico" r:id="rId5" imgW="8334451" imgH="4676851"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88" y="-304800"/>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10471"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110472" name="Rectangle 8"/>
          <p:cNvSpPr>
            <a:spLocks noChangeArrowheads="1"/>
          </p:cNvSpPr>
          <p:nvPr/>
        </p:nvSpPr>
        <p:spPr bwMode="auto">
          <a:xfrm>
            <a:off x="609600" y="914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altLang="es-CL" sz="1400">
                <a:solidFill>
                  <a:srgbClr val="000099"/>
                </a:solidFill>
                <a:latin typeface="Arial Narrow" pitchFamily="34" charset="0"/>
              </a:rPr>
              <a:t>Si usted necesita acudir a un cuartel de Carabineros, de la siguiente lista de características, ¿cuáles son los tres aspectos más importantes para usted?. Según GSE, Sexo y Tramo Etareo. </a:t>
            </a:r>
          </a:p>
        </p:txBody>
      </p:sp>
      <p:sp>
        <p:nvSpPr>
          <p:cNvPr id="2110473" name="Rectangle 9"/>
          <p:cNvSpPr>
            <a:spLocks noChangeArrowheads="1"/>
          </p:cNvSpPr>
          <p:nvPr/>
        </p:nvSpPr>
        <p:spPr bwMode="auto">
          <a:xfrm>
            <a:off x="609600" y="609600"/>
            <a:ext cx="6934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IMPORTANCIA DE CARACTERÍSTICAS CUARTEL (1era Mención)</a:t>
            </a:r>
          </a:p>
        </p:txBody>
      </p:sp>
      <p:sp>
        <p:nvSpPr>
          <p:cNvPr id="2110474" name="Text Box 10"/>
          <p:cNvSpPr txBox="1">
            <a:spLocks noChangeArrowheads="1"/>
          </p:cNvSpPr>
          <p:nvPr/>
        </p:nvSpPr>
        <p:spPr bwMode="auto">
          <a:xfrm>
            <a:off x="4114800" y="1560513"/>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110475" name="Text Box 11"/>
          <p:cNvSpPr txBox="1">
            <a:spLocks noChangeArrowheads="1"/>
          </p:cNvSpPr>
          <p:nvPr/>
        </p:nvSpPr>
        <p:spPr bwMode="auto">
          <a:xfrm>
            <a:off x="1763713" y="3792538"/>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110476" name="Text Box 12"/>
          <p:cNvSpPr txBox="1">
            <a:spLocks noChangeArrowheads="1"/>
          </p:cNvSpPr>
          <p:nvPr/>
        </p:nvSpPr>
        <p:spPr bwMode="auto">
          <a:xfrm>
            <a:off x="5410200" y="3792538"/>
            <a:ext cx="15240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Tree>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37762" name="Object 2"/>
          <p:cNvGraphicFramePr>
            <a:graphicFrameLocks noChangeAspect="1"/>
          </p:cNvGraphicFramePr>
          <p:nvPr/>
        </p:nvGraphicFramePr>
        <p:xfrm>
          <a:off x="838200" y="1701800"/>
          <a:ext cx="3886200" cy="2519363"/>
        </p:xfrm>
        <a:graphic>
          <a:graphicData uri="http://schemas.openxmlformats.org/presentationml/2006/ole">
            <mc:AlternateContent xmlns:mc="http://schemas.openxmlformats.org/markup-compatibility/2006">
              <mc:Choice xmlns:v="urn:schemas-microsoft-com:vml" Requires="v">
                <p:oleObj spid="_x0000_s2037774" name="Gráfico" r:id="rId3" imgW="10658551" imgH="6896100" progId="MSGraph.Chart.8">
                  <p:embed followColorScheme="full"/>
                </p:oleObj>
              </mc:Choice>
              <mc:Fallback>
                <p:oleObj name="Gráfico" r:id="rId3" imgW="10658551" imgH="6896100"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701800"/>
                        <a:ext cx="3886200" cy="2519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7763"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37764"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LLAMADA AL FONO 133</a:t>
            </a:r>
            <a:endParaRPr lang="es-ES" altLang="es-CL" sz="1600" b="1">
              <a:solidFill>
                <a:srgbClr val="FF9900"/>
              </a:solidFill>
              <a:latin typeface="Arial Narrow" pitchFamily="34" charset="0"/>
            </a:endParaRPr>
          </a:p>
        </p:txBody>
      </p:sp>
      <p:sp>
        <p:nvSpPr>
          <p:cNvPr id="2037765"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¿Usted ha llamado al Fono 133 en los últimos 12 meses?</a:t>
            </a:r>
            <a:endParaRPr lang="es-ES" altLang="es-CL" sz="1400">
              <a:solidFill>
                <a:srgbClr val="000099"/>
              </a:solidFill>
              <a:latin typeface="Arial Narrow" pitchFamily="34" charset="0"/>
            </a:endParaRPr>
          </a:p>
        </p:txBody>
      </p:sp>
      <p:graphicFrame>
        <p:nvGraphicFramePr>
          <p:cNvPr id="2037766" name="Object 6"/>
          <p:cNvGraphicFramePr>
            <a:graphicFrameLocks noChangeAspect="1"/>
          </p:cNvGraphicFramePr>
          <p:nvPr/>
        </p:nvGraphicFramePr>
        <p:xfrm>
          <a:off x="4800600" y="3429000"/>
          <a:ext cx="3886200" cy="2519363"/>
        </p:xfrm>
        <a:graphic>
          <a:graphicData uri="http://schemas.openxmlformats.org/presentationml/2006/ole">
            <mc:AlternateContent xmlns:mc="http://schemas.openxmlformats.org/markup-compatibility/2006">
              <mc:Choice xmlns:v="urn:schemas-microsoft-com:vml" Requires="v">
                <p:oleObj spid="_x0000_s2037775" name="Gráfico" r:id="rId5" imgW="10658551" imgH="6896100" progId="MSGraph.Chart.8">
                  <p:embed followColorScheme="full"/>
                </p:oleObj>
              </mc:Choice>
              <mc:Fallback>
                <p:oleObj name="Gráfico" r:id="rId5" imgW="10658551" imgH="6896100"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3429000"/>
                        <a:ext cx="3886200" cy="2519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7767" name="Text Box 7"/>
          <p:cNvSpPr txBox="1">
            <a:spLocks noChangeArrowheads="1"/>
          </p:cNvSpPr>
          <p:nvPr/>
        </p:nvSpPr>
        <p:spPr bwMode="auto">
          <a:xfrm>
            <a:off x="2052638" y="1704975"/>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(B:5544)</a:t>
            </a:r>
            <a:endParaRPr lang="es-ES" altLang="es-CL" b="1">
              <a:solidFill>
                <a:srgbClr val="FF9933"/>
              </a:solidFill>
            </a:endParaRPr>
          </a:p>
        </p:txBody>
      </p:sp>
      <p:sp>
        <p:nvSpPr>
          <p:cNvPr id="2037768" name="Text Box 8"/>
          <p:cNvSpPr txBox="1">
            <a:spLocks noChangeArrowheads="1"/>
          </p:cNvSpPr>
          <p:nvPr/>
        </p:nvSpPr>
        <p:spPr bwMode="auto">
          <a:xfrm>
            <a:off x="6084888" y="3500438"/>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(B:6048)</a:t>
            </a:r>
            <a:endParaRPr lang="es-ES" altLang="es-CL" b="1">
              <a:solidFill>
                <a:srgbClr val="FF9933"/>
              </a:solidFill>
            </a:endParaRPr>
          </a:p>
        </p:txBody>
      </p:sp>
      <p:sp>
        <p:nvSpPr>
          <p:cNvPr id="2037769" name="Text Box 9"/>
          <p:cNvSpPr txBox="1">
            <a:spLocks noChangeArrowheads="1"/>
          </p:cNvSpPr>
          <p:nvPr/>
        </p:nvSpPr>
        <p:spPr bwMode="auto">
          <a:xfrm>
            <a:off x="1330325" y="385445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7770" name="Text Box 10"/>
          <p:cNvSpPr txBox="1">
            <a:spLocks noChangeArrowheads="1"/>
          </p:cNvSpPr>
          <p:nvPr/>
        </p:nvSpPr>
        <p:spPr bwMode="auto">
          <a:xfrm>
            <a:off x="5364163" y="551656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7771" name="Text Box 11"/>
          <p:cNvSpPr txBox="1">
            <a:spLocks noChangeArrowheads="1"/>
          </p:cNvSpPr>
          <p:nvPr/>
        </p:nvSpPr>
        <p:spPr bwMode="auto">
          <a:xfrm>
            <a:off x="6732588" y="6381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spTree>
  </p:cSld>
  <p:clrMapOvr>
    <a:masterClrMapping/>
  </p:clrMapOvr>
  <p:transition>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38786" name="Object 2"/>
          <p:cNvGraphicFramePr>
            <a:graphicFrameLocks noChangeAspect="1"/>
          </p:cNvGraphicFramePr>
          <p:nvPr/>
        </p:nvGraphicFramePr>
        <p:xfrm>
          <a:off x="-533400" y="-1371600"/>
          <a:ext cx="9613900" cy="5181600"/>
        </p:xfrm>
        <a:graphic>
          <a:graphicData uri="http://schemas.openxmlformats.org/presentationml/2006/ole">
            <mc:AlternateContent xmlns:mc="http://schemas.openxmlformats.org/markup-compatibility/2006">
              <mc:Choice xmlns:v="urn:schemas-microsoft-com:vml" Requires="v">
                <p:oleObj spid="_x0000_s2038806" name="Gráfico" r:id="rId3" imgW="8401202" imgH="4524451" progId="MSGraph.Chart.8">
                  <p:embed followColorScheme="full"/>
                </p:oleObj>
              </mc:Choice>
              <mc:Fallback>
                <p:oleObj name="Gráfico" r:id="rId3" imgW="8401202" imgH="4524451"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371600"/>
                        <a:ext cx="96139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38787" name="Object 3"/>
          <p:cNvGraphicFramePr>
            <a:graphicFrameLocks noChangeAspect="1"/>
          </p:cNvGraphicFramePr>
          <p:nvPr/>
        </p:nvGraphicFramePr>
        <p:xfrm>
          <a:off x="-469900" y="984250"/>
          <a:ext cx="9613900" cy="5181600"/>
        </p:xfrm>
        <a:graphic>
          <a:graphicData uri="http://schemas.openxmlformats.org/presentationml/2006/ole">
            <mc:AlternateContent xmlns:mc="http://schemas.openxmlformats.org/markup-compatibility/2006">
              <mc:Choice xmlns:v="urn:schemas-microsoft-com:vml" Requires="v">
                <p:oleObj spid="_x0000_s2038807" name="Gráfico" r:id="rId5" imgW="8401202" imgH="4524451" progId="MSGraph.Chart.8">
                  <p:embed followColorScheme="full"/>
                </p:oleObj>
              </mc:Choice>
              <mc:Fallback>
                <p:oleObj name="Gráfico" r:id="rId5" imgW="8401202" imgH="4524451" progId="MSGraph.Chart.8">
                  <p:embed followColorScheme="full"/>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900" y="984250"/>
                        <a:ext cx="96139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8788"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¿Usted ha llamado al Fono 133 en los últimos 12 meses? % Sí, según Prefectura.</a:t>
            </a:r>
            <a:endParaRPr lang="es-ES" altLang="es-CL" sz="1200" b="1">
              <a:solidFill>
                <a:srgbClr val="003366"/>
              </a:solidFill>
              <a:latin typeface="Verdana"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38789" name="Rectangle 5"/>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38790" name="Rectangle 6"/>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LLAMADA AL FONO 133</a:t>
            </a:r>
            <a:endParaRPr lang="es-ES" altLang="es-CL" sz="1600" b="1">
              <a:solidFill>
                <a:srgbClr val="FF9900"/>
              </a:solidFill>
              <a:latin typeface="Arial Narrow" pitchFamily="34" charset="0"/>
            </a:endParaRPr>
          </a:p>
        </p:txBody>
      </p:sp>
      <p:sp>
        <p:nvSpPr>
          <p:cNvPr id="2038791" name="Text Box 7"/>
          <p:cNvSpPr txBox="1">
            <a:spLocks noChangeArrowheads="1"/>
          </p:cNvSpPr>
          <p:nvPr/>
        </p:nvSpPr>
        <p:spPr bwMode="auto">
          <a:xfrm>
            <a:off x="3419475" y="1392238"/>
            <a:ext cx="22098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2003</a:t>
            </a:r>
            <a:endParaRPr lang="es-ES" altLang="es-CL" b="1">
              <a:solidFill>
                <a:srgbClr val="FF9933"/>
              </a:solidFill>
              <a:latin typeface="Arial" charset="0"/>
            </a:endParaRPr>
          </a:p>
        </p:txBody>
      </p:sp>
      <p:sp>
        <p:nvSpPr>
          <p:cNvPr id="2038792" name="Text Box 8"/>
          <p:cNvSpPr txBox="1">
            <a:spLocks noChangeArrowheads="1"/>
          </p:cNvSpPr>
          <p:nvPr/>
        </p:nvSpPr>
        <p:spPr bwMode="auto">
          <a:xfrm>
            <a:off x="3441700" y="385445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
        <p:nvSpPr>
          <p:cNvPr id="2038793" name="Text Box 9"/>
          <p:cNvSpPr txBox="1">
            <a:spLocks noChangeArrowheads="1"/>
          </p:cNvSpPr>
          <p:nvPr/>
        </p:nvSpPr>
        <p:spPr bwMode="auto">
          <a:xfrm>
            <a:off x="2555875" y="191611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794" name="Text Box 10"/>
          <p:cNvSpPr txBox="1">
            <a:spLocks noChangeArrowheads="1"/>
          </p:cNvSpPr>
          <p:nvPr/>
        </p:nvSpPr>
        <p:spPr bwMode="auto">
          <a:xfrm>
            <a:off x="2411413" y="43576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795" name="Text Box 11"/>
          <p:cNvSpPr txBox="1">
            <a:spLocks noChangeArrowheads="1"/>
          </p:cNvSpPr>
          <p:nvPr/>
        </p:nvSpPr>
        <p:spPr bwMode="auto">
          <a:xfrm>
            <a:off x="6732588" y="6508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sp>
        <p:nvSpPr>
          <p:cNvPr id="2038796" name="Text Box 12"/>
          <p:cNvSpPr txBox="1">
            <a:spLocks noChangeArrowheads="1"/>
          </p:cNvSpPr>
          <p:nvPr/>
        </p:nvSpPr>
        <p:spPr bwMode="auto">
          <a:xfrm>
            <a:off x="3275013" y="198913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797" name="Text Box 13"/>
          <p:cNvSpPr txBox="1">
            <a:spLocks noChangeArrowheads="1"/>
          </p:cNvSpPr>
          <p:nvPr/>
        </p:nvSpPr>
        <p:spPr bwMode="auto">
          <a:xfrm>
            <a:off x="3130550" y="450215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798" name="Text Box 14"/>
          <p:cNvSpPr txBox="1">
            <a:spLocks noChangeArrowheads="1"/>
          </p:cNvSpPr>
          <p:nvPr/>
        </p:nvSpPr>
        <p:spPr bwMode="auto">
          <a:xfrm>
            <a:off x="3995738" y="19177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799" name="Text Box 15"/>
          <p:cNvSpPr txBox="1">
            <a:spLocks noChangeArrowheads="1"/>
          </p:cNvSpPr>
          <p:nvPr/>
        </p:nvSpPr>
        <p:spPr bwMode="auto">
          <a:xfrm>
            <a:off x="3778250" y="443071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800" name="Text Box 16"/>
          <p:cNvSpPr txBox="1">
            <a:spLocks noChangeArrowheads="1"/>
          </p:cNvSpPr>
          <p:nvPr/>
        </p:nvSpPr>
        <p:spPr bwMode="auto">
          <a:xfrm>
            <a:off x="6950075" y="206057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801" name="Text Box 17"/>
          <p:cNvSpPr txBox="1">
            <a:spLocks noChangeArrowheads="1"/>
          </p:cNvSpPr>
          <p:nvPr/>
        </p:nvSpPr>
        <p:spPr bwMode="auto">
          <a:xfrm>
            <a:off x="6516688" y="422116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802" name="Text Box 18"/>
          <p:cNvSpPr txBox="1">
            <a:spLocks noChangeArrowheads="1"/>
          </p:cNvSpPr>
          <p:nvPr/>
        </p:nvSpPr>
        <p:spPr bwMode="auto">
          <a:xfrm>
            <a:off x="8461375" y="206057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38803" name="Text Box 19"/>
          <p:cNvSpPr txBox="1">
            <a:spLocks noChangeArrowheads="1"/>
          </p:cNvSpPr>
          <p:nvPr/>
        </p:nvSpPr>
        <p:spPr bwMode="auto">
          <a:xfrm>
            <a:off x="7885113" y="422116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9813" name="Rectangle 5"/>
          <p:cNvSpPr>
            <a:spLocks noChangeArrowheads="1"/>
          </p:cNvSpPr>
          <p:nvPr/>
        </p:nvSpPr>
        <p:spPr bwMode="auto">
          <a:xfrm>
            <a:off x="1042988" y="1947863"/>
            <a:ext cx="7872412" cy="1762125"/>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39814" name="Object 6"/>
          <p:cNvGraphicFramePr>
            <a:graphicFrameLocks noChangeAspect="1"/>
          </p:cNvGraphicFramePr>
          <p:nvPr/>
        </p:nvGraphicFramePr>
        <p:xfrm>
          <a:off x="139700" y="-1179513"/>
          <a:ext cx="8775700" cy="4884738"/>
        </p:xfrm>
        <a:graphic>
          <a:graphicData uri="http://schemas.openxmlformats.org/presentationml/2006/ole">
            <mc:AlternateContent xmlns:mc="http://schemas.openxmlformats.org/markup-compatibility/2006">
              <mc:Choice xmlns:v="urn:schemas-microsoft-com:vml" Requires="v">
                <p:oleObj spid="_x0000_s2039823" name="Gráfico" r:id="rId3" imgW="8401202" imgH="4533900" progId="MSGraph.Chart.8">
                  <p:embed followColorScheme="full"/>
                </p:oleObj>
              </mc:Choice>
              <mc:Fallback>
                <p:oleObj name="Gráfico" r:id="rId3" imgW="8401202" imgH="4533900" progId="MSGraph.Chart.8">
                  <p:embed followColorScheme="full"/>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1179513"/>
                        <a:ext cx="8775700" cy="4884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9810" name="Rectangle 2"/>
          <p:cNvSpPr>
            <a:spLocks noChangeArrowheads="1"/>
          </p:cNvSpPr>
          <p:nvPr/>
        </p:nvSpPr>
        <p:spPr bwMode="auto">
          <a:xfrm>
            <a:off x="3635375" y="4559300"/>
            <a:ext cx="5203825" cy="1900238"/>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39811" name="Rectangle 3"/>
          <p:cNvSpPr>
            <a:spLocks noChangeArrowheads="1"/>
          </p:cNvSpPr>
          <p:nvPr/>
        </p:nvSpPr>
        <p:spPr bwMode="auto">
          <a:xfrm>
            <a:off x="1042988" y="4559300"/>
            <a:ext cx="2592387" cy="1900238"/>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39812" name="Object 4"/>
          <p:cNvGraphicFramePr>
            <a:graphicFrameLocks noChangeAspect="1"/>
          </p:cNvGraphicFramePr>
          <p:nvPr/>
        </p:nvGraphicFramePr>
        <p:xfrm>
          <a:off x="139700" y="1557338"/>
          <a:ext cx="8775700" cy="4730750"/>
        </p:xfrm>
        <a:graphic>
          <a:graphicData uri="http://schemas.openxmlformats.org/presentationml/2006/ole">
            <mc:AlternateContent xmlns:mc="http://schemas.openxmlformats.org/markup-compatibility/2006">
              <mc:Choice xmlns:v="urn:schemas-microsoft-com:vml" Requires="v">
                <p:oleObj spid="_x0000_s2039824" name="Gráfico" r:id="rId5" imgW="8401202" imgH="4524451" progId="MSGraph.Chart.8">
                  <p:embed followColorScheme="full"/>
                </p:oleObj>
              </mc:Choice>
              <mc:Fallback>
                <p:oleObj name="Gráfico" r:id="rId5" imgW="8401202" imgH="4524451" progId="MSGraph.Chart.8">
                  <p:embed followColorScheme="full"/>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700" y="1557338"/>
                        <a:ext cx="8775700" cy="473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9815"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39816" name="Rectangle 8"/>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LLAMADA AL FONO 133</a:t>
            </a:r>
            <a:endParaRPr lang="es-ES" altLang="es-CL" sz="1600" b="1">
              <a:solidFill>
                <a:srgbClr val="FF9900"/>
              </a:solidFill>
              <a:latin typeface="Arial Narrow" pitchFamily="34" charset="0"/>
            </a:endParaRPr>
          </a:p>
        </p:txBody>
      </p:sp>
      <p:sp>
        <p:nvSpPr>
          <p:cNvPr id="2039817" name="Rectangle 9"/>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¿Usted ha llamado al Fono 133 en los últimos 12 meses? % Sí, según GSE, Sexo y Tramo Etareo.</a:t>
            </a:r>
            <a:endParaRPr lang="es-ES" altLang="es-CL" sz="1200" b="1">
              <a:solidFill>
                <a:srgbClr val="003366"/>
              </a:solidFill>
              <a:latin typeface="Verdana"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39818" name="Text Box 10"/>
          <p:cNvSpPr txBox="1">
            <a:spLocks noChangeArrowheads="1"/>
          </p:cNvSpPr>
          <p:nvPr/>
        </p:nvSpPr>
        <p:spPr bwMode="auto">
          <a:xfrm>
            <a:off x="4114800" y="1557338"/>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39819" name="Text Box 11"/>
          <p:cNvSpPr txBox="1">
            <a:spLocks noChangeArrowheads="1"/>
          </p:cNvSpPr>
          <p:nvPr/>
        </p:nvSpPr>
        <p:spPr bwMode="auto">
          <a:xfrm>
            <a:off x="1600200" y="408305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39820" name="Text Box 12"/>
          <p:cNvSpPr txBox="1">
            <a:spLocks noChangeArrowheads="1"/>
          </p:cNvSpPr>
          <p:nvPr/>
        </p:nvSpPr>
        <p:spPr bwMode="auto">
          <a:xfrm>
            <a:off x="5410200" y="4084638"/>
            <a:ext cx="15240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Tree>
  </p:cSld>
  <p:clrMapOvr>
    <a:masterClrMapping/>
  </p:clrMapOvr>
  <p:transition>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1858" name="Object 2"/>
          <p:cNvGraphicFramePr>
            <a:graphicFrameLocks noChangeAspect="1"/>
          </p:cNvGraphicFramePr>
          <p:nvPr/>
        </p:nvGraphicFramePr>
        <p:xfrm>
          <a:off x="-227013" y="1706563"/>
          <a:ext cx="5878513" cy="4586287"/>
        </p:xfrm>
        <a:graphic>
          <a:graphicData uri="http://schemas.openxmlformats.org/presentationml/2006/ole">
            <mc:AlternateContent xmlns:mc="http://schemas.openxmlformats.org/markup-compatibility/2006">
              <mc:Choice xmlns:v="urn:schemas-microsoft-com:vml" Requires="v">
                <p:oleObj spid="_x0000_s2041869" name="Gráfico" r:id="rId3" imgW="10715549" imgH="8363102" progId="MSGraph.Chart.8">
                  <p:embed followColorScheme="full"/>
                </p:oleObj>
              </mc:Choice>
              <mc:Fallback>
                <p:oleObj name="Gráfico" r:id="rId3" imgW="10715549" imgH="8363102"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13" y="1706563"/>
                        <a:ext cx="5878513" cy="4586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1859"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41860"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MOTIVO DE LLAMADA AL FONO 133</a:t>
            </a:r>
            <a:endParaRPr lang="es-ES" altLang="es-CL" sz="1600" b="1">
              <a:solidFill>
                <a:srgbClr val="FF9900"/>
              </a:solidFill>
              <a:latin typeface="Arial Narrow" pitchFamily="34" charset="0"/>
            </a:endParaRPr>
          </a:p>
        </p:txBody>
      </p:sp>
      <p:sp>
        <p:nvSpPr>
          <p:cNvPr id="2041861" name="Rectangle 5"/>
          <p:cNvSpPr>
            <a:spLocks noChangeArrowheads="1"/>
          </p:cNvSpPr>
          <p:nvPr/>
        </p:nvSpPr>
        <p:spPr bwMode="auto">
          <a:xfrm>
            <a:off x="609600" y="914400"/>
            <a:ext cx="8534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¿Cuál fue el (los) motivo (s) por el cual usted llamó al Fono 133 ? (B: Personas que han llamado al 133 en los últimos meses). </a:t>
            </a:r>
            <a:endParaRPr lang="es-ES" altLang="es-CL" sz="1200" b="1">
              <a:solidFill>
                <a:srgbClr val="003366"/>
              </a:solidFill>
              <a:latin typeface="Verdana"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41863" name="Text Box 7"/>
          <p:cNvSpPr txBox="1">
            <a:spLocks noChangeArrowheads="1"/>
          </p:cNvSpPr>
          <p:nvPr/>
        </p:nvSpPr>
        <p:spPr bwMode="auto">
          <a:xfrm>
            <a:off x="1908175" y="1412875"/>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 1339)</a:t>
            </a:r>
            <a:endParaRPr lang="es-ES" altLang="es-CL" b="1">
              <a:solidFill>
                <a:srgbClr val="FF9933"/>
              </a:solidFill>
            </a:endParaRPr>
          </a:p>
        </p:txBody>
      </p:sp>
      <p:sp>
        <p:nvSpPr>
          <p:cNvPr id="2041864" name="Text Box 8"/>
          <p:cNvSpPr txBox="1">
            <a:spLocks noChangeArrowheads="1"/>
          </p:cNvSpPr>
          <p:nvPr/>
        </p:nvSpPr>
        <p:spPr bwMode="auto">
          <a:xfrm>
            <a:off x="5580063" y="141446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(B:1490)</a:t>
            </a:r>
            <a:endParaRPr lang="es-ES" altLang="es-CL" b="1">
              <a:solidFill>
                <a:srgbClr val="FF9933"/>
              </a:solidFill>
            </a:endParaRPr>
          </a:p>
        </p:txBody>
      </p:sp>
      <p:graphicFrame>
        <p:nvGraphicFramePr>
          <p:cNvPr id="2041865" name="Object 9"/>
          <p:cNvGraphicFramePr>
            <a:graphicFrameLocks noGrp="1" noChangeAspect="1"/>
          </p:cNvGraphicFramePr>
          <p:nvPr>
            <p:ph/>
          </p:nvPr>
        </p:nvGraphicFramePr>
        <p:xfrm>
          <a:off x="3348038" y="1739900"/>
          <a:ext cx="5795962" cy="4522788"/>
        </p:xfrm>
        <a:graphic>
          <a:graphicData uri="http://schemas.openxmlformats.org/presentationml/2006/ole">
            <mc:AlternateContent xmlns:mc="http://schemas.openxmlformats.org/markup-compatibility/2006">
              <mc:Choice xmlns:v="urn:schemas-microsoft-com:vml" Requires="v">
                <p:oleObj spid="_x0000_s2041870" name="Gráfico" r:id="rId5" imgW="10715549" imgH="8363102" progId="MSGraph.Chart.8">
                  <p:embed followColorScheme="full"/>
                </p:oleObj>
              </mc:Choice>
              <mc:Fallback>
                <p:oleObj name="Gráfico" r:id="rId5" imgW="10715549" imgH="8363102" progId="MSGraph.Chart.8">
                  <p:embed followColorScheme="full"/>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8038" y="1739900"/>
                        <a:ext cx="5795962" cy="452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2886" name="Object 6"/>
          <p:cNvGraphicFramePr>
            <a:graphicFrameLocks noChangeAspect="1"/>
          </p:cNvGraphicFramePr>
          <p:nvPr/>
        </p:nvGraphicFramePr>
        <p:xfrm>
          <a:off x="152400" y="1841500"/>
          <a:ext cx="8964613" cy="5014913"/>
        </p:xfrm>
        <a:graphic>
          <a:graphicData uri="http://schemas.openxmlformats.org/presentationml/2006/ole">
            <mc:AlternateContent xmlns:mc="http://schemas.openxmlformats.org/markup-compatibility/2006">
              <mc:Choice xmlns:v="urn:schemas-microsoft-com:vml" Requires="v">
                <p:oleObj spid="_x0000_s2042891" name="Gráfico" r:id="rId3" imgW="8334451" imgH="4676851" progId="MSGraph.Chart.8">
                  <p:embed followColorScheme="full"/>
                </p:oleObj>
              </mc:Choice>
              <mc:Fallback>
                <p:oleObj name="Gráfico" r:id="rId3" imgW="8334451" imgH="4676851" progId="MSGraph.Chart.8">
                  <p:embed followColorScheme="full"/>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841500"/>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2887" name="Object 7"/>
          <p:cNvGraphicFramePr>
            <a:graphicFrameLocks noChangeAspect="1"/>
          </p:cNvGraphicFramePr>
          <p:nvPr/>
        </p:nvGraphicFramePr>
        <p:xfrm>
          <a:off x="103188" y="-100013"/>
          <a:ext cx="8964612" cy="5014913"/>
        </p:xfrm>
        <a:graphic>
          <a:graphicData uri="http://schemas.openxmlformats.org/presentationml/2006/ole">
            <mc:AlternateContent xmlns:mc="http://schemas.openxmlformats.org/markup-compatibility/2006">
              <mc:Choice xmlns:v="urn:schemas-microsoft-com:vml" Requires="v">
                <p:oleObj spid="_x0000_s2042892" name="Gráfico" r:id="rId5" imgW="8334451" imgH="4676851" progId="MSGraph.Chart.8">
                  <p:embed followColorScheme="full"/>
                </p:oleObj>
              </mc:Choice>
              <mc:Fallback>
                <p:oleObj name="Gráfico" r:id="rId5" imgW="8334451" imgH="4676851" progId="MSGraph.Chart.8">
                  <p:embed followColorScheme="full"/>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88" y="-100013"/>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2882"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42883"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MOTIVO DE LLAMADA AL FONO 133</a:t>
            </a:r>
            <a:endParaRPr lang="es-ES" altLang="es-CL" sz="1600" b="1">
              <a:solidFill>
                <a:srgbClr val="FF9900"/>
              </a:solidFill>
              <a:latin typeface="Arial Narrow" pitchFamily="34" charset="0"/>
            </a:endParaRPr>
          </a:p>
        </p:txBody>
      </p:sp>
      <p:sp>
        <p:nvSpPr>
          <p:cNvPr id="2042884"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¿Cuál fue el (los) motivo (s) por el cual usted llamó al Fono 133? (B: Personas que han llamado al 133 en los últimos meses). Según Prefectura</a:t>
            </a:r>
            <a:endParaRPr lang="es-ES" altLang="es-CL" sz="1200" b="1">
              <a:solidFill>
                <a:srgbClr val="003366"/>
              </a:solidFill>
              <a:latin typeface="Verdana"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42888" name="Text Box 8"/>
          <p:cNvSpPr txBox="1">
            <a:spLocks noChangeArrowheads="1"/>
          </p:cNvSpPr>
          <p:nvPr/>
        </p:nvSpPr>
        <p:spPr bwMode="auto">
          <a:xfrm>
            <a:off x="3581400" y="153035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Tree>
  </p:cSld>
  <p:clrMapOvr>
    <a:masterClrMapping/>
  </p:clrMapOvr>
  <p:transition>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3911" name="Rectangle 7"/>
          <p:cNvSpPr>
            <a:spLocks noChangeArrowheads="1"/>
          </p:cNvSpPr>
          <p:nvPr/>
        </p:nvSpPr>
        <p:spPr bwMode="auto">
          <a:xfrm>
            <a:off x="827088" y="4283075"/>
            <a:ext cx="2736850" cy="172720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43912" name="Rectangle 8"/>
          <p:cNvSpPr>
            <a:spLocks noChangeArrowheads="1"/>
          </p:cNvSpPr>
          <p:nvPr/>
        </p:nvSpPr>
        <p:spPr bwMode="auto">
          <a:xfrm>
            <a:off x="3563938" y="4283075"/>
            <a:ext cx="5329237" cy="1727200"/>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43909" name="Rectangle 5"/>
          <p:cNvSpPr>
            <a:spLocks noChangeArrowheads="1"/>
          </p:cNvSpPr>
          <p:nvPr/>
        </p:nvSpPr>
        <p:spPr bwMode="auto">
          <a:xfrm>
            <a:off x="755650" y="1916113"/>
            <a:ext cx="8137525" cy="1741487"/>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43913" name="Object 9"/>
          <p:cNvGraphicFramePr>
            <a:graphicFrameLocks noChangeAspect="1"/>
          </p:cNvGraphicFramePr>
          <p:nvPr/>
        </p:nvGraphicFramePr>
        <p:xfrm>
          <a:off x="215900" y="2060575"/>
          <a:ext cx="8964613" cy="5014913"/>
        </p:xfrm>
        <a:graphic>
          <a:graphicData uri="http://schemas.openxmlformats.org/presentationml/2006/ole">
            <mc:AlternateContent xmlns:mc="http://schemas.openxmlformats.org/markup-compatibility/2006">
              <mc:Choice xmlns:v="urn:schemas-microsoft-com:vml" Requires="v">
                <p:oleObj spid="_x0000_s2043919" name="Gráfico" r:id="rId3" imgW="8334451" imgH="4676851" progId="MSGraph.Chart.8">
                  <p:embed followColorScheme="full"/>
                </p:oleObj>
              </mc:Choice>
              <mc:Fallback>
                <p:oleObj name="Gráfico" r:id="rId3" imgW="8334451" imgH="4676851" progId="MSGraph.Chart.8">
                  <p:embed followColorScheme="full"/>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2060575"/>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3910" name="Object 6"/>
          <p:cNvGraphicFramePr>
            <a:graphicFrameLocks noChangeAspect="1"/>
          </p:cNvGraphicFramePr>
          <p:nvPr/>
        </p:nvGraphicFramePr>
        <p:xfrm>
          <a:off x="144463" y="-242888"/>
          <a:ext cx="8964612" cy="5014913"/>
        </p:xfrm>
        <a:graphic>
          <a:graphicData uri="http://schemas.openxmlformats.org/presentationml/2006/ole">
            <mc:AlternateContent xmlns:mc="http://schemas.openxmlformats.org/markup-compatibility/2006">
              <mc:Choice xmlns:v="urn:schemas-microsoft-com:vml" Requires="v">
                <p:oleObj spid="_x0000_s2043920" name="Gráfico" r:id="rId5" imgW="8334451" imgH="4676851" progId="MSGraph.Chart.8">
                  <p:embed followColorScheme="full"/>
                </p:oleObj>
              </mc:Choice>
              <mc:Fallback>
                <p:oleObj name="Gráfico" r:id="rId5" imgW="8334451" imgH="4676851"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463" y="-242888"/>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3906"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43907"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MOTIVO DE LLAMADA AL FONO 133</a:t>
            </a:r>
            <a:endParaRPr lang="es-ES" altLang="es-CL" sz="1600" b="1">
              <a:solidFill>
                <a:srgbClr val="FF9900"/>
              </a:solidFill>
              <a:latin typeface="Arial Narrow" pitchFamily="34" charset="0"/>
            </a:endParaRPr>
          </a:p>
        </p:txBody>
      </p:sp>
      <p:sp>
        <p:nvSpPr>
          <p:cNvPr id="2043908"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¿Cuál fue el (los) motivo (s) por el cual usted llamó al Fono 133?  (B: Personas que han llamado al 133 en los últimos meses) Según GSE, Sexo y Tramo Etareo</a:t>
            </a:r>
            <a:endParaRPr lang="es-ES" altLang="es-CL" sz="1200" b="1">
              <a:solidFill>
                <a:srgbClr val="003366"/>
              </a:solidFill>
              <a:latin typeface="Verdana"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43914" name="Text Box 10"/>
          <p:cNvSpPr txBox="1">
            <a:spLocks noChangeArrowheads="1"/>
          </p:cNvSpPr>
          <p:nvPr/>
        </p:nvSpPr>
        <p:spPr bwMode="auto">
          <a:xfrm>
            <a:off x="4114800" y="14478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43915" name="Text Box 11"/>
          <p:cNvSpPr txBox="1">
            <a:spLocks noChangeArrowheads="1"/>
          </p:cNvSpPr>
          <p:nvPr/>
        </p:nvSpPr>
        <p:spPr bwMode="auto">
          <a:xfrm>
            <a:off x="1600200" y="38862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43916" name="Text Box 12"/>
          <p:cNvSpPr txBox="1">
            <a:spLocks noChangeArrowheads="1"/>
          </p:cNvSpPr>
          <p:nvPr/>
        </p:nvSpPr>
        <p:spPr bwMode="auto">
          <a:xfrm>
            <a:off x="5410200" y="3886200"/>
            <a:ext cx="15240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Tree>
  </p:cSld>
  <p:clrMapOvr>
    <a:masterClrMapping/>
  </p:clrMapOvr>
  <p:transition>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4930" name="Rectangle 2"/>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¿Cuántas veces llamó por ese (esos)  motivo(s)? (B: Personas que han llamado al 133 en los últimos meses)</a:t>
            </a:r>
            <a:endParaRPr lang="es-ES" altLang="es-CL" sz="1400">
              <a:solidFill>
                <a:srgbClr val="000099"/>
              </a:solidFill>
              <a:latin typeface="Arial Narrow"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44934" name="Rectangle 6"/>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44935" name="Rectangle 7"/>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Nº VECES DE LLAMADA AL FONO 133</a:t>
            </a:r>
            <a:endParaRPr lang="es-ES" altLang="es-CL" sz="1600" b="1">
              <a:solidFill>
                <a:srgbClr val="FF9900"/>
              </a:solidFill>
              <a:latin typeface="Arial Narrow" pitchFamily="34" charset="0"/>
            </a:endParaRPr>
          </a:p>
        </p:txBody>
      </p:sp>
      <p:graphicFrame>
        <p:nvGraphicFramePr>
          <p:cNvPr id="2044937" name="Object 9"/>
          <p:cNvGraphicFramePr>
            <a:graphicFrameLocks noGrp="1" noChangeAspect="1"/>
          </p:cNvGraphicFramePr>
          <p:nvPr>
            <p:ph/>
          </p:nvPr>
        </p:nvGraphicFramePr>
        <p:xfrm>
          <a:off x="1116013" y="2351088"/>
          <a:ext cx="7620000" cy="1857375"/>
        </p:xfrm>
        <a:graphic>
          <a:graphicData uri="http://schemas.openxmlformats.org/presentationml/2006/ole">
            <mc:AlternateContent xmlns:mc="http://schemas.openxmlformats.org/markup-compatibility/2006">
              <mc:Choice xmlns:v="urn:schemas-microsoft-com:vml" Requires="v">
                <p:oleObj spid="_x0000_s2044940" name="Hoja de cálculo" r:id="rId4" imgW="4676851" imgH="1143000" progId="Excel.Sheet.8">
                  <p:embed/>
                </p:oleObj>
              </mc:Choice>
              <mc:Fallback>
                <p:oleObj name="Hoja de cálculo" r:id="rId4" imgW="4676851" imgH="1143000" progId="Excel.Sheet.8">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2351088"/>
                        <a:ext cx="7620000" cy="185737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6978"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46979"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ASPECTOS IMPORTANTES EN LLAMADA AL 133</a:t>
            </a:r>
            <a:endParaRPr lang="es-ES" altLang="es-CL" sz="1600" b="1">
              <a:solidFill>
                <a:srgbClr val="FF9900"/>
              </a:solidFill>
              <a:latin typeface="Arial Narrow" pitchFamily="34" charset="0"/>
            </a:endParaRPr>
          </a:p>
        </p:txBody>
      </p:sp>
      <p:sp>
        <p:nvSpPr>
          <p:cNvPr id="2046980"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De la siguiente lista de acciones que realiza Carabineros, ¿cuáles son las tres acciones más importantes para usted?.      (B: 1490 Personas que han llamado al 133 en los últimos meses). </a:t>
            </a:r>
            <a:endParaRPr lang="es-ES" altLang="es-CL" sz="1200" b="1">
              <a:solidFill>
                <a:srgbClr val="003366"/>
              </a:solidFill>
              <a:latin typeface="Verdana"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graphicFrame>
        <p:nvGraphicFramePr>
          <p:cNvPr id="2046982" name="Object 6"/>
          <p:cNvGraphicFramePr>
            <a:graphicFrameLocks noGrp="1" noChangeAspect="1"/>
          </p:cNvGraphicFramePr>
          <p:nvPr>
            <p:ph/>
          </p:nvPr>
        </p:nvGraphicFramePr>
        <p:xfrm>
          <a:off x="1403350" y="1557338"/>
          <a:ext cx="7272338" cy="4948237"/>
        </p:xfrm>
        <a:graphic>
          <a:graphicData uri="http://schemas.openxmlformats.org/presentationml/2006/ole">
            <mc:AlternateContent xmlns:mc="http://schemas.openxmlformats.org/markup-compatibility/2006">
              <mc:Choice xmlns:v="urn:schemas-microsoft-com:vml" Requires="v">
                <p:oleObj spid="_x0000_s2046985" name="Gráfico" r:id="rId3" imgW="13258800" imgH="9020251" progId="MSGraph.Chart.8">
                  <p:embed followColorScheme="full"/>
                </p:oleObj>
              </mc:Choice>
              <mc:Fallback>
                <p:oleObj name="Gráfico" r:id="rId3" imgW="13258800" imgH="9020251" progId="MSGraph.Chart.8">
                  <p:embed followColorScheme="full"/>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557338"/>
                        <a:ext cx="7272338" cy="494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006" name="Object 6"/>
          <p:cNvGraphicFramePr>
            <a:graphicFrameLocks noChangeAspect="1"/>
          </p:cNvGraphicFramePr>
          <p:nvPr/>
        </p:nvGraphicFramePr>
        <p:xfrm>
          <a:off x="152400" y="1628775"/>
          <a:ext cx="8964613" cy="5014913"/>
        </p:xfrm>
        <a:graphic>
          <a:graphicData uri="http://schemas.openxmlformats.org/presentationml/2006/ole">
            <mc:AlternateContent xmlns:mc="http://schemas.openxmlformats.org/markup-compatibility/2006">
              <mc:Choice xmlns:v="urn:schemas-microsoft-com:vml" Requires="v">
                <p:oleObj spid="_x0000_s2048012" name="Gráfico" r:id="rId3" imgW="8334451" imgH="4676851" progId="MSGraph.Chart.8">
                  <p:embed followColorScheme="full"/>
                </p:oleObj>
              </mc:Choice>
              <mc:Fallback>
                <p:oleObj name="Gráfico" r:id="rId3" imgW="8334451" imgH="4676851" progId="MSGraph.Chart.8">
                  <p:embed followColorScheme="full"/>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628775"/>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007" name="Object 7"/>
          <p:cNvGraphicFramePr>
            <a:graphicFrameLocks noChangeAspect="1"/>
          </p:cNvGraphicFramePr>
          <p:nvPr/>
        </p:nvGraphicFramePr>
        <p:xfrm>
          <a:off x="179388" y="-315913"/>
          <a:ext cx="8964612" cy="5014913"/>
        </p:xfrm>
        <a:graphic>
          <a:graphicData uri="http://schemas.openxmlformats.org/presentationml/2006/ole">
            <mc:AlternateContent xmlns:mc="http://schemas.openxmlformats.org/markup-compatibility/2006">
              <mc:Choice xmlns:v="urn:schemas-microsoft-com:vml" Requires="v">
                <p:oleObj spid="_x0000_s2048013" name="Gráfico" r:id="rId5" imgW="8334451" imgH="4676851" progId="MSGraph.Chart.8">
                  <p:embed followColorScheme="full"/>
                </p:oleObj>
              </mc:Choice>
              <mc:Fallback>
                <p:oleObj name="Gráfico" r:id="rId5" imgW="8334451" imgH="4676851" progId="MSGraph.Chart.8">
                  <p:embed followColorScheme="full"/>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315913"/>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002"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48003"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ASPECTOS IMPORTANTES EN LLAMADA AL 133 (1era Mención)</a:t>
            </a:r>
            <a:endParaRPr lang="es-ES" altLang="es-CL" sz="1600" b="1">
              <a:solidFill>
                <a:srgbClr val="FF9900"/>
              </a:solidFill>
              <a:latin typeface="Arial Narrow" pitchFamily="34" charset="0"/>
            </a:endParaRPr>
          </a:p>
        </p:txBody>
      </p:sp>
      <p:sp>
        <p:nvSpPr>
          <p:cNvPr id="2048004"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De la siguiente lista de acciones que realiza Carabineros, ¿cuáles son las tres acciones más importantes para usted?. Según Prefecturas</a:t>
            </a:r>
            <a:endParaRPr lang="es-ES" altLang="es-CL" sz="1200" b="1">
              <a:solidFill>
                <a:srgbClr val="003366"/>
              </a:solidFill>
              <a:latin typeface="Verdana"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48008" name="Text Box 8"/>
          <p:cNvSpPr txBox="1">
            <a:spLocks noChangeArrowheads="1"/>
          </p:cNvSpPr>
          <p:nvPr/>
        </p:nvSpPr>
        <p:spPr bwMode="auto">
          <a:xfrm>
            <a:off x="3581400" y="153035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
        <p:nvSpPr>
          <p:cNvPr id="2048009" name="Text Box 9"/>
          <p:cNvSpPr txBox="1">
            <a:spLocks noChangeArrowheads="1"/>
          </p:cNvSpPr>
          <p:nvPr/>
        </p:nvSpPr>
        <p:spPr bwMode="auto">
          <a:xfrm>
            <a:off x="6948488" y="6381750"/>
            <a:ext cx="1728787"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t>Principales Menciones</a:t>
            </a:r>
          </a:p>
        </p:txBody>
      </p:sp>
    </p:spTree>
  </p:cSld>
  <p:clrMapOvr>
    <a:masterClrMapping/>
  </p:clrMapOvr>
  <p:transition>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029" name="Rectangle 5"/>
          <p:cNvSpPr>
            <a:spLocks noChangeArrowheads="1"/>
          </p:cNvSpPr>
          <p:nvPr/>
        </p:nvSpPr>
        <p:spPr bwMode="auto">
          <a:xfrm>
            <a:off x="755650" y="4292600"/>
            <a:ext cx="2736850" cy="151130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49030" name="Rectangle 6"/>
          <p:cNvSpPr>
            <a:spLocks noChangeArrowheads="1"/>
          </p:cNvSpPr>
          <p:nvPr/>
        </p:nvSpPr>
        <p:spPr bwMode="auto">
          <a:xfrm>
            <a:off x="3492500" y="4292600"/>
            <a:ext cx="5329238" cy="1511300"/>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49032" name="Rectangle 8"/>
          <p:cNvSpPr>
            <a:spLocks noChangeArrowheads="1"/>
          </p:cNvSpPr>
          <p:nvPr/>
        </p:nvSpPr>
        <p:spPr bwMode="auto">
          <a:xfrm>
            <a:off x="755650" y="1989138"/>
            <a:ext cx="8137525" cy="1524000"/>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49033" name="Object 9"/>
          <p:cNvGraphicFramePr>
            <a:graphicFrameLocks noChangeAspect="1"/>
          </p:cNvGraphicFramePr>
          <p:nvPr/>
        </p:nvGraphicFramePr>
        <p:xfrm>
          <a:off x="179388" y="-387350"/>
          <a:ext cx="8964612" cy="5014913"/>
        </p:xfrm>
        <a:graphic>
          <a:graphicData uri="http://schemas.openxmlformats.org/presentationml/2006/ole">
            <mc:AlternateContent xmlns:mc="http://schemas.openxmlformats.org/markup-compatibility/2006">
              <mc:Choice xmlns:v="urn:schemas-microsoft-com:vml" Requires="v">
                <p:oleObj spid="_x0000_s2049040" name="Gráfico" r:id="rId3" imgW="8334451" imgH="4676851" progId="MSGraph.Chart.8">
                  <p:embed followColorScheme="full"/>
                </p:oleObj>
              </mc:Choice>
              <mc:Fallback>
                <p:oleObj name="Gráfico" r:id="rId3" imgW="8334451" imgH="4676851" progId="MSGraph.Chart.8">
                  <p:embed followColorScheme="full"/>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387350"/>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031" name="Object 7"/>
          <p:cNvGraphicFramePr>
            <a:graphicFrameLocks noChangeAspect="1"/>
          </p:cNvGraphicFramePr>
          <p:nvPr/>
        </p:nvGraphicFramePr>
        <p:xfrm>
          <a:off x="179388" y="1989138"/>
          <a:ext cx="8964612" cy="5014912"/>
        </p:xfrm>
        <a:graphic>
          <a:graphicData uri="http://schemas.openxmlformats.org/presentationml/2006/ole">
            <mc:AlternateContent xmlns:mc="http://schemas.openxmlformats.org/markup-compatibility/2006">
              <mc:Choice xmlns:v="urn:schemas-microsoft-com:vml" Requires="v">
                <p:oleObj spid="_x0000_s2049041" name="Gráfico" r:id="rId5" imgW="8334451" imgH="4676851" progId="MSGraph.Chart.8">
                  <p:embed followColorScheme="full"/>
                </p:oleObj>
              </mc:Choice>
              <mc:Fallback>
                <p:oleObj name="Gráfico" r:id="rId5" imgW="8334451" imgH="4676851" progId="MSGraph.Chart.8">
                  <p:embed followColorScheme="full"/>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1989138"/>
                        <a:ext cx="8964612" cy="5014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026"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49027"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MX" altLang="es-CL" sz="1600" b="1">
                <a:solidFill>
                  <a:srgbClr val="FF9900"/>
                </a:solidFill>
                <a:latin typeface="Arial Narrow" pitchFamily="34" charset="0"/>
              </a:rPr>
              <a:t>ASPECTOS IMPORTANTES EN LLAMADA AL 133 (1era Mención)</a:t>
            </a:r>
            <a:endParaRPr lang="es-ES" altLang="es-CL" sz="1600" b="1">
              <a:solidFill>
                <a:srgbClr val="FF9900"/>
              </a:solidFill>
              <a:latin typeface="Arial Narrow" pitchFamily="34" charset="0"/>
            </a:endParaRPr>
          </a:p>
        </p:txBody>
      </p:sp>
      <p:sp>
        <p:nvSpPr>
          <p:cNvPr id="2049028"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De la siguiente lista de acciones que realiza Carabineros, ¿cuáles son las tres acciones más importantes para usted?. Según GSE, Sexo y Tramo Etareo</a:t>
            </a:r>
            <a:endParaRPr lang="es-ES" altLang="es-CL" sz="1400">
              <a:solidFill>
                <a:srgbClr val="000099"/>
              </a:solidFill>
              <a:latin typeface="Arial Narrow" pitchFamily="34" charset="0"/>
            </a:endParaRPr>
          </a:p>
        </p:txBody>
      </p:sp>
      <p:sp>
        <p:nvSpPr>
          <p:cNvPr id="2049034" name="Text Box 10"/>
          <p:cNvSpPr txBox="1">
            <a:spLocks noChangeArrowheads="1"/>
          </p:cNvSpPr>
          <p:nvPr/>
        </p:nvSpPr>
        <p:spPr bwMode="auto">
          <a:xfrm>
            <a:off x="4114800" y="14478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49035" name="Text Box 11"/>
          <p:cNvSpPr txBox="1">
            <a:spLocks noChangeArrowheads="1"/>
          </p:cNvSpPr>
          <p:nvPr/>
        </p:nvSpPr>
        <p:spPr bwMode="auto">
          <a:xfrm>
            <a:off x="1709738" y="3789363"/>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49036" name="Text Box 12"/>
          <p:cNvSpPr txBox="1">
            <a:spLocks noChangeArrowheads="1"/>
          </p:cNvSpPr>
          <p:nvPr/>
        </p:nvSpPr>
        <p:spPr bwMode="auto">
          <a:xfrm>
            <a:off x="5410200" y="3789363"/>
            <a:ext cx="15240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
        <p:nvSpPr>
          <p:cNvPr id="2049037" name="Text Box 13"/>
          <p:cNvSpPr txBox="1">
            <a:spLocks noChangeArrowheads="1"/>
          </p:cNvSpPr>
          <p:nvPr/>
        </p:nvSpPr>
        <p:spPr bwMode="auto">
          <a:xfrm>
            <a:off x="7019925" y="6381750"/>
            <a:ext cx="1728788"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t>Principales Menciones</a:t>
            </a:r>
          </a:p>
        </p:txBody>
      </p:sp>
    </p:spTree>
  </p:cSld>
  <p:clrMapOvr>
    <a:masterClrMapping/>
  </p:clrMapOvr>
  <p:transition>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5346"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105347" name="Rectangle 3"/>
          <p:cNvSpPr>
            <a:spLocks noChangeArrowheads="1"/>
          </p:cNvSpPr>
          <p:nvPr/>
        </p:nvSpPr>
        <p:spPr bwMode="auto">
          <a:xfrm>
            <a:off x="609600" y="1243013"/>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altLang="es-CL" sz="1400">
                <a:solidFill>
                  <a:srgbClr val="000099"/>
                </a:solidFill>
                <a:latin typeface="Arial Narrow" pitchFamily="34" charset="0"/>
              </a:rPr>
              <a:t>Si usted requiere contactarse telefónicamente con Carabineros al Fono 133. Utilizando la siguiente escala podría indicar ¿cuán importante es para usted cada uno de los siguientes aspectos del servicio del Fono 133? (B: 6048)</a:t>
            </a:r>
          </a:p>
        </p:txBody>
      </p:sp>
      <p:sp>
        <p:nvSpPr>
          <p:cNvPr id="2105348" name="Rectangle 4"/>
          <p:cNvSpPr>
            <a:spLocks noChangeArrowheads="1"/>
          </p:cNvSpPr>
          <p:nvPr/>
        </p:nvSpPr>
        <p:spPr bwMode="auto">
          <a:xfrm>
            <a:off x="609600" y="744538"/>
            <a:ext cx="57626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ASPECTOS RELEVANTES EN LLAMADA AL 133 </a:t>
            </a:r>
          </a:p>
          <a:p>
            <a:pPr eaLnBrk="1" hangingPunct="1"/>
            <a:r>
              <a:rPr lang="es-ES" altLang="es-CL" sz="1600" b="1">
                <a:solidFill>
                  <a:srgbClr val="FF9900"/>
                </a:solidFill>
                <a:latin typeface="Arial Narrow" pitchFamily="34" charset="0"/>
              </a:rPr>
              <a:t>(POBLACIÓN GENERAL)</a:t>
            </a:r>
          </a:p>
        </p:txBody>
      </p:sp>
      <p:graphicFrame>
        <p:nvGraphicFramePr>
          <p:cNvPr id="2105349" name="Object 5"/>
          <p:cNvGraphicFramePr>
            <a:graphicFrameLocks noChangeAspect="1"/>
          </p:cNvGraphicFramePr>
          <p:nvPr/>
        </p:nvGraphicFramePr>
        <p:xfrm>
          <a:off x="381000" y="1808163"/>
          <a:ext cx="8478838" cy="4860925"/>
        </p:xfrm>
        <a:graphic>
          <a:graphicData uri="http://schemas.openxmlformats.org/presentationml/2006/ole">
            <mc:AlternateContent xmlns:mc="http://schemas.openxmlformats.org/markup-compatibility/2006">
              <mc:Choice xmlns:v="urn:schemas-microsoft-com:vml" Requires="v">
                <p:oleObj spid="_x0000_s2105351" name="Gráfico" r:id="rId3" imgW="6238951" imgH="3571951" progId="MSGraph.Chart.8">
                  <p:embed followColorScheme="full"/>
                </p:oleObj>
              </mc:Choice>
              <mc:Fallback>
                <p:oleObj name="Gráfico" r:id="rId3" imgW="6238951" imgH="3571951" progId="MSGraph.Chart.8">
                  <p:embed followColorScheme="full"/>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808163"/>
                        <a:ext cx="8478838" cy="486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6370"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106371" name="Rectangle 3"/>
          <p:cNvSpPr>
            <a:spLocks noChangeArrowheads="1"/>
          </p:cNvSpPr>
          <p:nvPr/>
        </p:nvSpPr>
        <p:spPr bwMode="auto">
          <a:xfrm>
            <a:off x="609600" y="1243013"/>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altLang="es-CL" sz="1400">
                <a:solidFill>
                  <a:srgbClr val="000099"/>
                </a:solidFill>
                <a:latin typeface="Arial Narrow" pitchFamily="34" charset="0"/>
              </a:rPr>
              <a:t>Si usted requiere contactarse telefónicamente con Carabineros al Fono 133. Utilizando la siguiente escala podría indicar ¿cuán importante es para usted cada uno de los siguientes aspectos del servicio del Fono 133? % Importancia Neta, según Prefecturas.</a:t>
            </a:r>
          </a:p>
        </p:txBody>
      </p:sp>
      <p:grpSp>
        <p:nvGrpSpPr>
          <p:cNvPr id="2106373" name="Group 5"/>
          <p:cNvGrpSpPr>
            <a:grpSpLocks/>
          </p:cNvGrpSpPr>
          <p:nvPr/>
        </p:nvGrpSpPr>
        <p:grpSpPr bwMode="auto">
          <a:xfrm>
            <a:off x="4859338" y="6173788"/>
            <a:ext cx="3744912" cy="276225"/>
            <a:chOff x="3560" y="3889"/>
            <a:chExt cx="1860" cy="174"/>
          </a:xfrm>
        </p:grpSpPr>
        <p:sp>
          <p:nvSpPr>
            <p:cNvPr id="2106374" name="Rectangle 6"/>
            <p:cNvSpPr>
              <a:spLocks noChangeArrowheads="1"/>
            </p:cNvSpPr>
            <p:nvPr/>
          </p:nvSpPr>
          <p:spPr bwMode="auto">
            <a:xfrm>
              <a:off x="3560" y="3889"/>
              <a:ext cx="227" cy="174"/>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106375" name="Text Box 7"/>
            <p:cNvSpPr txBox="1">
              <a:spLocks noChangeArrowheads="1"/>
            </p:cNvSpPr>
            <p:nvPr/>
          </p:nvSpPr>
          <p:spPr bwMode="auto">
            <a:xfrm>
              <a:off x="3780" y="3889"/>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3 Aspectos de mayor importancia según Prefectura</a:t>
              </a:r>
              <a:endParaRPr lang="es-ES" altLang="es-CL">
                <a:solidFill>
                  <a:srgbClr val="FF3300"/>
                </a:solidFill>
              </a:endParaRPr>
            </a:p>
          </p:txBody>
        </p:sp>
      </p:grpSp>
      <p:graphicFrame>
        <p:nvGraphicFramePr>
          <p:cNvPr id="2106376" name="Object 8"/>
          <p:cNvGraphicFramePr>
            <a:graphicFrameLocks noGrp="1" noChangeAspect="1"/>
          </p:cNvGraphicFramePr>
          <p:nvPr>
            <p:ph/>
          </p:nvPr>
        </p:nvGraphicFramePr>
        <p:xfrm>
          <a:off x="827088" y="2108200"/>
          <a:ext cx="8110537" cy="3265488"/>
        </p:xfrm>
        <a:graphic>
          <a:graphicData uri="http://schemas.openxmlformats.org/presentationml/2006/ole">
            <mc:AlternateContent xmlns:mc="http://schemas.openxmlformats.org/markup-compatibility/2006">
              <mc:Choice xmlns:v="urn:schemas-microsoft-com:vml" Requires="v">
                <p:oleObj spid="_x0000_s2106379" name="Hoja de cálculo" r:id="rId4" imgW="8610600" imgH="3467100" progId="Excel.Sheet.8">
                  <p:embed/>
                </p:oleObj>
              </mc:Choice>
              <mc:Fallback>
                <p:oleObj name="Hoja de cálculo" r:id="rId4" imgW="8610600" imgH="3467100" progId="Excel.Sheet.8">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2108200"/>
                        <a:ext cx="8110537" cy="3265488"/>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
        <p:nvSpPr>
          <p:cNvPr id="2106377" name="Rectangle 9"/>
          <p:cNvSpPr>
            <a:spLocks noChangeArrowheads="1"/>
          </p:cNvSpPr>
          <p:nvPr/>
        </p:nvSpPr>
        <p:spPr bwMode="auto">
          <a:xfrm>
            <a:off x="609600" y="744538"/>
            <a:ext cx="57626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ASPECTOS RELEVANTES EN LLAMADA AL 133 (POBLACIÓN GENERAL)</a:t>
            </a:r>
          </a:p>
        </p:txBody>
      </p:sp>
    </p:spTree>
  </p:cSld>
  <p:clrMapOvr>
    <a:masterClrMapping/>
  </p:clrMapOvr>
  <p:transition>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7394"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107395" name="Rectangle 3"/>
          <p:cNvSpPr>
            <a:spLocks noChangeArrowheads="1"/>
          </p:cNvSpPr>
          <p:nvPr/>
        </p:nvSpPr>
        <p:spPr bwMode="auto">
          <a:xfrm>
            <a:off x="609600" y="1100138"/>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 altLang="es-CL" sz="1400">
                <a:solidFill>
                  <a:srgbClr val="000099"/>
                </a:solidFill>
                <a:latin typeface="Arial Narrow" pitchFamily="34" charset="0"/>
              </a:rPr>
              <a:t>Si usted requiere contactarse telefónicamente con Carabineros al Fono 133. Utilizando la siguiente escala podría indicar ¿cuán importante es para usted cada uno de los siguientes aspectos del servicio del Fono 133?. % Importancia Neta según</a:t>
            </a:r>
            <a:r>
              <a:rPr lang="es-ES" altLang="es-CL" sz="1200">
                <a:solidFill>
                  <a:srgbClr val="333399"/>
                </a:solidFill>
                <a:latin typeface="Arial Narrow" pitchFamily="34" charset="0"/>
              </a:rPr>
              <a:t> </a:t>
            </a:r>
            <a:r>
              <a:rPr lang="es-ES" altLang="es-CL" sz="1400">
                <a:solidFill>
                  <a:srgbClr val="000099"/>
                </a:solidFill>
                <a:latin typeface="Arial Narrow" pitchFamily="34" charset="0"/>
              </a:rPr>
              <a:t>GSE, Sexo y Tramo Etareo</a:t>
            </a:r>
          </a:p>
        </p:txBody>
      </p:sp>
      <p:graphicFrame>
        <p:nvGraphicFramePr>
          <p:cNvPr id="2107397" name="Object 5"/>
          <p:cNvGraphicFramePr>
            <a:graphicFrameLocks noGrp="1" noChangeAspect="1"/>
          </p:cNvGraphicFramePr>
          <p:nvPr>
            <p:ph/>
          </p:nvPr>
        </p:nvGraphicFramePr>
        <p:xfrm>
          <a:off x="1763713" y="1933575"/>
          <a:ext cx="6124575" cy="4375150"/>
        </p:xfrm>
        <a:graphic>
          <a:graphicData uri="http://schemas.openxmlformats.org/presentationml/2006/ole">
            <mc:AlternateContent xmlns:mc="http://schemas.openxmlformats.org/markup-compatibility/2006">
              <mc:Choice xmlns:v="urn:schemas-microsoft-com:vml" Requires="v">
                <p:oleObj spid="_x0000_s2107403" name="Hoja de cálculo" r:id="rId4" imgW="6734251" imgH="4810049" progId="Excel.Sheet.8">
                  <p:embed/>
                </p:oleObj>
              </mc:Choice>
              <mc:Fallback>
                <p:oleObj name="Hoja de cálculo" r:id="rId4" imgW="6734251" imgH="4810049" progId="Excel.Shee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1933575"/>
                        <a:ext cx="6124575" cy="437515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grpSp>
        <p:nvGrpSpPr>
          <p:cNvPr id="2107398" name="Group 6"/>
          <p:cNvGrpSpPr>
            <a:grpSpLocks/>
          </p:cNvGrpSpPr>
          <p:nvPr/>
        </p:nvGrpSpPr>
        <p:grpSpPr bwMode="auto">
          <a:xfrm>
            <a:off x="4859338" y="6537325"/>
            <a:ext cx="3744912" cy="276225"/>
            <a:chOff x="3560" y="3889"/>
            <a:chExt cx="1860" cy="174"/>
          </a:xfrm>
        </p:grpSpPr>
        <p:sp>
          <p:nvSpPr>
            <p:cNvPr id="2107399" name="Rectangle 7"/>
            <p:cNvSpPr>
              <a:spLocks noChangeArrowheads="1"/>
            </p:cNvSpPr>
            <p:nvPr/>
          </p:nvSpPr>
          <p:spPr bwMode="auto">
            <a:xfrm>
              <a:off x="3560" y="3889"/>
              <a:ext cx="227" cy="174"/>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107400" name="Text Box 8"/>
            <p:cNvSpPr txBox="1">
              <a:spLocks noChangeArrowheads="1"/>
            </p:cNvSpPr>
            <p:nvPr/>
          </p:nvSpPr>
          <p:spPr bwMode="auto">
            <a:xfrm>
              <a:off x="3780" y="3889"/>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3 Aspectos de mayor importancia según Segmento</a:t>
              </a:r>
              <a:endParaRPr lang="es-ES" altLang="es-CL">
                <a:solidFill>
                  <a:srgbClr val="FF3300"/>
                </a:solidFill>
              </a:endParaRPr>
            </a:p>
          </p:txBody>
        </p:sp>
      </p:grpSp>
      <p:sp>
        <p:nvSpPr>
          <p:cNvPr id="2107401" name="Rectangle 9"/>
          <p:cNvSpPr>
            <a:spLocks noChangeArrowheads="1"/>
          </p:cNvSpPr>
          <p:nvPr/>
        </p:nvSpPr>
        <p:spPr bwMode="auto">
          <a:xfrm>
            <a:off x="609600" y="671513"/>
            <a:ext cx="57626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ASPECTOS RELEVANTES EN LLAMADA AL 133 (POBLACIÓN GENERAL)</a:t>
            </a:r>
          </a:p>
        </p:txBody>
      </p:sp>
    </p:spTree>
  </p:cSld>
  <p:clrMapOvr>
    <a:masterClrMapping/>
  </p:clrMapOvr>
  <p:transition>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050"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0051"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EVALUACIÓN DE LA ATENCIÓN DEL SERVICIO TELEFÓNICO</a:t>
            </a:r>
          </a:p>
        </p:txBody>
      </p:sp>
      <p:sp>
        <p:nvSpPr>
          <p:cNvPr id="2050052"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evalúa usted la atención recibida en el Servicio Telefónico 133 en los siguientes aspectos?. (B: Personas que han llamado al 133 en los últimos meses)</a:t>
            </a:r>
            <a:endParaRPr lang="es-ES" altLang="es-CL" sz="1200" b="1">
              <a:solidFill>
                <a:srgbClr val="003366"/>
              </a:solidFill>
              <a:latin typeface="Verdana" pitchFamily="34" charset="0"/>
            </a:endParaRPr>
          </a:p>
          <a:p>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graphicFrame>
        <p:nvGraphicFramePr>
          <p:cNvPr id="2050053" name="Object 5"/>
          <p:cNvGraphicFramePr>
            <a:graphicFrameLocks noGrp="1" noChangeAspect="1"/>
          </p:cNvGraphicFramePr>
          <p:nvPr>
            <p:ph/>
          </p:nvPr>
        </p:nvGraphicFramePr>
        <p:xfrm>
          <a:off x="508000" y="1998663"/>
          <a:ext cx="8345488" cy="4959350"/>
        </p:xfrm>
        <a:graphic>
          <a:graphicData uri="http://schemas.openxmlformats.org/presentationml/2006/ole">
            <mc:AlternateContent xmlns:mc="http://schemas.openxmlformats.org/markup-compatibility/2006">
              <mc:Choice xmlns:v="urn:schemas-microsoft-com:vml" Requires="v">
                <p:oleObj spid="_x0000_s2050058" name="Gráfico" r:id="rId3" imgW="6524549" imgH="3876751" progId="MSGraph.Chart.8">
                  <p:embed followColorScheme="full"/>
                </p:oleObj>
              </mc:Choice>
              <mc:Fallback>
                <p:oleObj name="Gráfico" r:id="rId3" imgW="6524549" imgH="3876751" progId="MSGraph.Chart.8">
                  <p:embed followColorScheme="full"/>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 y="1998663"/>
                        <a:ext cx="8345488" cy="495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055" name="Text Box 7"/>
          <p:cNvSpPr txBox="1">
            <a:spLocks noChangeArrowheads="1"/>
          </p:cNvSpPr>
          <p:nvPr/>
        </p:nvSpPr>
        <p:spPr bwMode="auto">
          <a:xfrm>
            <a:off x="755650" y="1700213"/>
            <a:ext cx="1368425" cy="314325"/>
          </a:xfrm>
          <a:prstGeom prst="rect">
            <a:avLst/>
          </a:prstGeom>
          <a:solidFill>
            <a:srgbClr val="FFFFFF"/>
          </a:solidFill>
          <a:ln w="9525">
            <a:solidFill>
              <a:srgbClr val="FF6600"/>
            </a:solidFill>
            <a:miter lim="800000"/>
            <a:headEnd/>
            <a:tailEnd/>
          </a:ln>
          <a:effectLst>
            <a:outerShdw dist="107763" dir="2700000" algn="ctr" rotWithShape="0">
              <a:srgbClr val="808080">
                <a:alpha val="50000"/>
              </a:srgbClr>
            </a:outerShdw>
          </a:effectLst>
        </p:spPr>
        <p:txBody>
          <a:bodyPr>
            <a:spAutoFit/>
          </a:bodyPr>
          <a:lstStyle/>
          <a:p>
            <a:pPr>
              <a:spcBef>
                <a:spcPct val="50000"/>
              </a:spcBef>
            </a:pPr>
            <a:r>
              <a:rPr lang="es-ES_tradnl" altLang="es-CL" sz="1400">
                <a:solidFill>
                  <a:srgbClr val="FF3300"/>
                </a:solidFill>
              </a:rPr>
              <a:t>+ Importante</a:t>
            </a:r>
          </a:p>
        </p:txBody>
      </p:sp>
      <p:sp>
        <p:nvSpPr>
          <p:cNvPr id="2050056" name="Text Box 8"/>
          <p:cNvSpPr txBox="1">
            <a:spLocks noChangeArrowheads="1"/>
          </p:cNvSpPr>
          <p:nvPr/>
        </p:nvSpPr>
        <p:spPr bwMode="auto">
          <a:xfrm>
            <a:off x="7451725" y="1700213"/>
            <a:ext cx="1368425" cy="314325"/>
          </a:xfrm>
          <a:prstGeom prst="rect">
            <a:avLst/>
          </a:prstGeom>
          <a:solidFill>
            <a:srgbClr val="FFFFFF"/>
          </a:solidFill>
          <a:ln w="9525">
            <a:solidFill>
              <a:srgbClr val="FF6600"/>
            </a:solidFill>
            <a:miter lim="800000"/>
            <a:headEnd/>
            <a:tailEnd/>
          </a:ln>
          <a:effectLst>
            <a:outerShdw dist="107763" dir="2700000" algn="ctr" rotWithShape="0">
              <a:srgbClr val="808080">
                <a:alpha val="50000"/>
              </a:srgbClr>
            </a:outerShdw>
          </a:effectLst>
        </p:spPr>
        <p:txBody>
          <a:bodyPr>
            <a:spAutoFit/>
          </a:bodyPr>
          <a:lstStyle/>
          <a:p>
            <a:pPr>
              <a:spcBef>
                <a:spcPct val="50000"/>
              </a:spcBef>
            </a:pPr>
            <a:r>
              <a:rPr lang="es-ES_tradnl" altLang="es-CL" sz="1400">
                <a:solidFill>
                  <a:srgbClr val="FF3300"/>
                </a:solidFill>
              </a:rPr>
              <a:t>- Importante</a:t>
            </a:r>
          </a:p>
        </p:txBody>
      </p:sp>
    </p:spTree>
  </p:cSld>
  <p:clrMapOvr>
    <a:masterClrMapping/>
  </p:clrMapOvr>
  <p:transition>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074"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1075"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EVALUACIÓN DE LA ATENCIÓN DEL SERVICIO TELEFÓNICO</a:t>
            </a:r>
          </a:p>
        </p:txBody>
      </p:sp>
      <p:sp>
        <p:nvSpPr>
          <p:cNvPr id="2051076"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evalúa usted la atención recibida en el Servicio Telefónico 133 en los siguientes aspectos? % Evaluación Neta según Prefecturas  </a:t>
            </a:r>
            <a:endParaRPr lang="es-ES" altLang="es-CL" sz="1400">
              <a:solidFill>
                <a:srgbClr val="000099"/>
              </a:solidFill>
              <a:latin typeface="Arial Narrow" pitchFamily="34" charset="0"/>
            </a:endParaRPr>
          </a:p>
        </p:txBody>
      </p:sp>
      <p:graphicFrame>
        <p:nvGraphicFramePr>
          <p:cNvPr id="2051080" name="Object 8"/>
          <p:cNvGraphicFramePr>
            <a:graphicFrameLocks noGrp="1" noChangeAspect="1"/>
          </p:cNvGraphicFramePr>
          <p:nvPr>
            <p:ph/>
          </p:nvPr>
        </p:nvGraphicFramePr>
        <p:xfrm>
          <a:off x="668338" y="2386013"/>
          <a:ext cx="8151812" cy="2246312"/>
        </p:xfrm>
        <a:graphic>
          <a:graphicData uri="http://schemas.openxmlformats.org/presentationml/2006/ole">
            <mc:AlternateContent xmlns:mc="http://schemas.openxmlformats.org/markup-compatibility/2006">
              <mc:Choice xmlns:v="urn:schemas-microsoft-com:vml" Requires="v">
                <p:oleObj spid="_x0000_s2051088" name="Hoja de cálculo" r:id="rId4" imgW="7982102" imgH="2200351" progId="Excel.Sheet.8">
                  <p:embed/>
                </p:oleObj>
              </mc:Choice>
              <mc:Fallback>
                <p:oleObj name="Hoja de cálculo" r:id="rId4" imgW="7982102" imgH="2200351" progId="Excel.Sheet.8">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338" y="2386013"/>
                        <a:ext cx="8151812" cy="2246312"/>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grpSp>
        <p:nvGrpSpPr>
          <p:cNvPr id="2051082" name="Group 10"/>
          <p:cNvGrpSpPr>
            <a:grpSpLocks/>
          </p:cNvGrpSpPr>
          <p:nvPr/>
        </p:nvGrpSpPr>
        <p:grpSpPr bwMode="auto">
          <a:xfrm>
            <a:off x="5651500" y="5805488"/>
            <a:ext cx="2952750" cy="644525"/>
            <a:chOff x="3560" y="3841"/>
            <a:chExt cx="1860" cy="406"/>
          </a:xfrm>
        </p:grpSpPr>
        <p:sp>
          <p:nvSpPr>
            <p:cNvPr id="2051083" name="Rectangle 11"/>
            <p:cNvSpPr>
              <a:spLocks noChangeArrowheads="1"/>
            </p:cNvSpPr>
            <p:nvPr/>
          </p:nvSpPr>
          <p:spPr bwMode="auto">
            <a:xfrm>
              <a:off x="3560" y="4073"/>
              <a:ext cx="227" cy="174"/>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51084" name="Text Box 12"/>
            <p:cNvSpPr txBox="1">
              <a:spLocks noChangeArrowheads="1"/>
            </p:cNvSpPr>
            <p:nvPr/>
          </p:nvSpPr>
          <p:spPr bwMode="auto">
            <a:xfrm>
              <a:off x="3780" y="4073"/>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3 Aspectos mejor evaluados por Prefectura</a:t>
              </a:r>
              <a:endParaRPr lang="es-ES" altLang="es-CL">
                <a:solidFill>
                  <a:srgbClr val="FF3300"/>
                </a:solidFill>
              </a:endParaRPr>
            </a:p>
          </p:txBody>
        </p:sp>
        <p:sp>
          <p:nvSpPr>
            <p:cNvPr id="2051085" name="Rectangle 13"/>
            <p:cNvSpPr>
              <a:spLocks noChangeArrowheads="1"/>
            </p:cNvSpPr>
            <p:nvPr/>
          </p:nvSpPr>
          <p:spPr bwMode="auto">
            <a:xfrm>
              <a:off x="3560" y="3841"/>
              <a:ext cx="227" cy="174"/>
            </a:xfrm>
            <a:prstGeom prst="rect">
              <a:avLst/>
            </a:prstGeom>
            <a:solidFill>
              <a:srgbClr val="FF99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51086" name="Text Box 14"/>
            <p:cNvSpPr txBox="1">
              <a:spLocks noChangeArrowheads="1"/>
            </p:cNvSpPr>
            <p:nvPr/>
          </p:nvSpPr>
          <p:spPr bwMode="auto">
            <a:xfrm>
              <a:off x="3780" y="3841"/>
              <a:ext cx="164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Evaluación Neta negativa</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098"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2099"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EVALUACIÓN DE LA ATENCIÓN DEL SERVICIO TELEFÓNICO</a:t>
            </a:r>
          </a:p>
        </p:txBody>
      </p:sp>
      <p:sp>
        <p:nvSpPr>
          <p:cNvPr id="2052100"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¿Cómo evalúa usted la atención recibida en el Servicio Telefónico 133 en los siguientes aspectos? % Evaluación neta según GSE, Sexo y Tramo Etareo.  </a:t>
            </a:r>
            <a:endParaRPr lang="es-ES" altLang="es-CL" sz="1400">
              <a:solidFill>
                <a:srgbClr val="000099"/>
              </a:solidFill>
              <a:latin typeface="Arial Narrow" pitchFamily="34" charset="0"/>
            </a:endParaRPr>
          </a:p>
        </p:txBody>
      </p:sp>
      <p:graphicFrame>
        <p:nvGraphicFramePr>
          <p:cNvPr id="2052104" name="Object 8"/>
          <p:cNvGraphicFramePr>
            <a:graphicFrameLocks noGrp="1" noChangeAspect="1"/>
          </p:cNvGraphicFramePr>
          <p:nvPr>
            <p:ph/>
          </p:nvPr>
        </p:nvGraphicFramePr>
        <p:xfrm>
          <a:off x="693738" y="2220913"/>
          <a:ext cx="8199437" cy="3136900"/>
        </p:xfrm>
        <a:graphic>
          <a:graphicData uri="http://schemas.openxmlformats.org/presentationml/2006/ole">
            <mc:AlternateContent xmlns:mc="http://schemas.openxmlformats.org/markup-compatibility/2006">
              <mc:Choice xmlns:v="urn:schemas-microsoft-com:vml" Requires="v">
                <p:oleObj spid="_x0000_s2052112" name="Hoja de cálculo" r:id="rId4" imgW="7343851" imgH="2809951" progId="Excel.Sheet.8">
                  <p:embed/>
                </p:oleObj>
              </mc:Choice>
              <mc:Fallback>
                <p:oleObj name="Hoja de cálculo" r:id="rId4" imgW="7343851" imgH="2809951" progId="Excel.Sheet.8">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738" y="2220913"/>
                        <a:ext cx="8199437" cy="313690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grpSp>
        <p:nvGrpSpPr>
          <p:cNvPr id="2052106" name="Group 10"/>
          <p:cNvGrpSpPr>
            <a:grpSpLocks/>
          </p:cNvGrpSpPr>
          <p:nvPr/>
        </p:nvGrpSpPr>
        <p:grpSpPr bwMode="auto">
          <a:xfrm>
            <a:off x="5651500" y="5805488"/>
            <a:ext cx="2952750" cy="644525"/>
            <a:chOff x="3560" y="3841"/>
            <a:chExt cx="1860" cy="406"/>
          </a:xfrm>
        </p:grpSpPr>
        <p:sp>
          <p:nvSpPr>
            <p:cNvPr id="2052107" name="Rectangle 11"/>
            <p:cNvSpPr>
              <a:spLocks noChangeArrowheads="1"/>
            </p:cNvSpPr>
            <p:nvPr/>
          </p:nvSpPr>
          <p:spPr bwMode="auto">
            <a:xfrm>
              <a:off x="3560" y="4073"/>
              <a:ext cx="227" cy="174"/>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52108" name="Text Box 12"/>
            <p:cNvSpPr txBox="1">
              <a:spLocks noChangeArrowheads="1"/>
            </p:cNvSpPr>
            <p:nvPr/>
          </p:nvSpPr>
          <p:spPr bwMode="auto">
            <a:xfrm>
              <a:off x="3780" y="4073"/>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3 Aspectos mejor evaluados por Segmento</a:t>
              </a:r>
              <a:endParaRPr lang="es-ES" altLang="es-CL">
                <a:solidFill>
                  <a:srgbClr val="FF3300"/>
                </a:solidFill>
              </a:endParaRPr>
            </a:p>
          </p:txBody>
        </p:sp>
        <p:sp>
          <p:nvSpPr>
            <p:cNvPr id="2052109" name="Rectangle 13"/>
            <p:cNvSpPr>
              <a:spLocks noChangeArrowheads="1"/>
            </p:cNvSpPr>
            <p:nvPr/>
          </p:nvSpPr>
          <p:spPr bwMode="auto">
            <a:xfrm>
              <a:off x="3560" y="3841"/>
              <a:ext cx="227" cy="174"/>
            </a:xfrm>
            <a:prstGeom prst="rect">
              <a:avLst/>
            </a:prstGeom>
            <a:solidFill>
              <a:srgbClr val="FF99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52110" name="Text Box 14"/>
            <p:cNvSpPr txBox="1">
              <a:spLocks noChangeArrowheads="1"/>
            </p:cNvSpPr>
            <p:nvPr/>
          </p:nvSpPr>
          <p:spPr bwMode="auto">
            <a:xfrm>
              <a:off x="3780" y="3841"/>
              <a:ext cx="164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Evaluación Neta negativa</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3122" name="Object 2"/>
          <p:cNvGraphicFramePr>
            <a:graphicFrameLocks noChangeAspect="1"/>
          </p:cNvGraphicFramePr>
          <p:nvPr/>
        </p:nvGraphicFramePr>
        <p:xfrm>
          <a:off x="900113" y="1484313"/>
          <a:ext cx="4103687" cy="2659062"/>
        </p:xfrm>
        <a:graphic>
          <a:graphicData uri="http://schemas.openxmlformats.org/presentationml/2006/ole">
            <mc:AlternateContent xmlns:mc="http://schemas.openxmlformats.org/markup-compatibility/2006">
              <mc:Choice xmlns:v="urn:schemas-microsoft-com:vml" Requires="v">
                <p:oleObj spid="_x0000_s2053139" name="Gráfico" r:id="rId3" imgW="10658551" imgH="6896100" progId="MSGraph.Chart.8">
                  <p:embed followColorScheme="full"/>
                </p:oleObj>
              </mc:Choice>
              <mc:Fallback>
                <p:oleObj name="Gráfico" r:id="rId3" imgW="10658551" imgH="6896100"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484313"/>
                        <a:ext cx="4103687" cy="265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3123"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3124"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ATENCIÓN EN FONO 133</a:t>
            </a:r>
          </a:p>
        </p:txBody>
      </p:sp>
      <p:sp>
        <p:nvSpPr>
          <p:cNvPr id="2053125"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La última vez que llamó al Fono 133, usted diría que la atención fue..? </a:t>
            </a:r>
            <a:r>
              <a:rPr lang="es-ES" altLang="es-CL" sz="1400">
                <a:solidFill>
                  <a:srgbClr val="000099"/>
                </a:solidFill>
                <a:latin typeface="Arial Narrow" pitchFamily="34" charset="0"/>
              </a:rPr>
              <a:t>(B: </a:t>
            </a:r>
            <a:r>
              <a:rPr lang="es-ES_tradnl" altLang="es-CL" sz="1400">
                <a:solidFill>
                  <a:srgbClr val="000099"/>
                </a:solidFill>
                <a:latin typeface="Arial Narrow" pitchFamily="34" charset="0"/>
              </a:rPr>
              <a:t>Quienes llamaron al Fono 133</a:t>
            </a:r>
            <a:r>
              <a:rPr lang="es-ES" altLang="es-CL" sz="1400">
                <a:solidFill>
                  <a:srgbClr val="000099"/>
                </a:solidFill>
                <a:latin typeface="Arial Narrow" pitchFamily="34" charset="0"/>
              </a:rPr>
              <a:t>)</a:t>
            </a:r>
          </a:p>
        </p:txBody>
      </p:sp>
      <p:graphicFrame>
        <p:nvGraphicFramePr>
          <p:cNvPr id="2053126" name="Object 6"/>
          <p:cNvGraphicFramePr>
            <a:graphicFrameLocks noChangeAspect="1"/>
          </p:cNvGraphicFramePr>
          <p:nvPr/>
        </p:nvGraphicFramePr>
        <p:xfrm>
          <a:off x="4645025" y="3357563"/>
          <a:ext cx="4103688" cy="2659062"/>
        </p:xfrm>
        <a:graphic>
          <a:graphicData uri="http://schemas.openxmlformats.org/presentationml/2006/ole">
            <mc:AlternateContent xmlns:mc="http://schemas.openxmlformats.org/markup-compatibility/2006">
              <mc:Choice xmlns:v="urn:schemas-microsoft-com:vml" Requires="v">
                <p:oleObj spid="_x0000_s2053140" name="Gráfico" r:id="rId5" imgW="10658551" imgH="6896100" progId="MSGraph.Chart.8">
                  <p:embed followColorScheme="full"/>
                </p:oleObj>
              </mc:Choice>
              <mc:Fallback>
                <p:oleObj name="Gráfico" r:id="rId5" imgW="10658551" imgH="6896100"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5025" y="3357563"/>
                        <a:ext cx="4103688" cy="2659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3127" name="Text Box 7"/>
          <p:cNvSpPr txBox="1">
            <a:spLocks noChangeArrowheads="1"/>
          </p:cNvSpPr>
          <p:nvPr/>
        </p:nvSpPr>
        <p:spPr bwMode="auto">
          <a:xfrm>
            <a:off x="2411413" y="148431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 1339)</a:t>
            </a:r>
            <a:endParaRPr lang="es-ES" altLang="es-CL" b="1">
              <a:solidFill>
                <a:srgbClr val="FF9933"/>
              </a:solidFill>
            </a:endParaRPr>
          </a:p>
        </p:txBody>
      </p:sp>
      <p:sp>
        <p:nvSpPr>
          <p:cNvPr id="2053128" name="Text Box 8"/>
          <p:cNvSpPr txBox="1">
            <a:spLocks noChangeArrowheads="1"/>
          </p:cNvSpPr>
          <p:nvPr/>
        </p:nvSpPr>
        <p:spPr bwMode="auto">
          <a:xfrm>
            <a:off x="6151563" y="3284538"/>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 1490)</a:t>
            </a:r>
            <a:endParaRPr lang="es-ES" altLang="es-CL" b="1">
              <a:solidFill>
                <a:srgbClr val="FF9933"/>
              </a:solidFill>
            </a:endParaRPr>
          </a:p>
        </p:txBody>
      </p:sp>
      <p:grpSp>
        <p:nvGrpSpPr>
          <p:cNvPr id="2053133" name="Group 13"/>
          <p:cNvGrpSpPr>
            <a:grpSpLocks/>
          </p:cNvGrpSpPr>
          <p:nvPr/>
        </p:nvGrpSpPr>
        <p:grpSpPr bwMode="auto">
          <a:xfrm>
            <a:off x="828675" y="1924050"/>
            <a:ext cx="1511300" cy="2305050"/>
            <a:chOff x="522" y="1298"/>
            <a:chExt cx="952" cy="1452"/>
          </a:xfrm>
        </p:grpSpPr>
        <p:sp>
          <p:nvSpPr>
            <p:cNvPr id="2053129" name="Rectangle 9"/>
            <p:cNvSpPr>
              <a:spLocks noChangeArrowheads="1"/>
            </p:cNvSpPr>
            <p:nvPr/>
          </p:nvSpPr>
          <p:spPr bwMode="auto">
            <a:xfrm>
              <a:off x="703" y="1298"/>
              <a:ext cx="771" cy="1452"/>
            </a:xfrm>
            <a:prstGeom prst="rect">
              <a:avLst/>
            </a:prstGeom>
            <a:noFill/>
            <a:ln w="28575">
              <a:solidFill>
                <a:schemeClr val="hlink"/>
              </a:solidFill>
              <a:prstDash val="sysDot"/>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53130" name="Text Box 10"/>
            <p:cNvSpPr txBox="1">
              <a:spLocks noChangeArrowheads="1"/>
            </p:cNvSpPr>
            <p:nvPr/>
          </p:nvSpPr>
          <p:spPr bwMode="auto">
            <a:xfrm>
              <a:off x="522" y="1842"/>
              <a:ext cx="408" cy="461"/>
            </a:xfrm>
            <a:prstGeom prst="rect">
              <a:avLst/>
            </a:prstGeom>
            <a:gradFill rotWithShape="1">
              <a:gsLst>
                <a:gs pos="0">
                  <a:srgbClr val="333399"/>
                </a:gs>
                <a:gs pos="50000">
                  <a:srgbClr val="333399">
                    <a:gamma/>
                    <a:shade val="33333"/>
                    <a:invGamma/>
                  </a:srgbClr>
                </a:gs>
                <a:gs pos="100000">
                  <a:srgbClr val="333399"/>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solidFill>
                    <a:schemeClr val="bg1"/>
                  </a:solidFill>
                </a:rPr>
                <a:t>65% </a:t>
              </a:r>
              <a:r>
                <a:rPr lang="es-ES_tradnl" altLang="es-CL" sz="2400">
                  <a:solidFill>
                    <a:schemeClr val="bg1"/>
                  </a:solidFill>
                </a:rPr>
                <a:t>*</a:t>
              </a:r>
            </a:p>
            <a:p>
              <a:pPr>
                <a:spcBef>
                  <a:spcPct val="50000"/>
                </a:spcBef>
              </a:pPr>
              <a:r>
                <a:rPr lang="es-ES_tradnl" altLang="es-CL">
                  <a:solidFill>
                    <a:schemeClr val="bg1"/>
                  </a:solidFill>
                </a:rPr>
                <a:t>Cordial</a:t>
              </a:r>
            </a:p>
          </p:txBody>
        </p:sp>
      </p:grpSp>
      <p:sp>
        <p:nvSpPr>
          <p:cNvPr id="2053135" name="Text Box 15"/>
          <p:cNvSpPr txBox="1">
            <a:spLocks noChangeArrowheads="1"/>
          </p:cNvSpPr>
          <p:nvPr/>
        </p:nvSpPr>
        <p:spPr bwMode="auto">
          <a:xfrm>
            <a:off x="6732588" y="6381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grpSp>
        <p:nvGrpSpPr>
          <p:cNvPr id="2053136" name="Group 16"/>
          <p:cNvGrpSpPr>
            <a:grpSpLocks/>
          </p:cNvGrpSpPr>
          <p:nvPr/>
        </p:nvGrpSpPr>
        <p:grpSpPr bwMode="auto">
          <a:xfrm>
            <a:off x="4716463" y="3713163"/>
            <a:ext cx="1728787" cy="2305050"/>
            <a:chOff x="2971" y="2339"/>
            <a:chExt cx="1089" cy="1452"/>
          </a:xfrm>
        </p:grpSpPr>
        <p:sp>
          <p:nvSpPr>
            <p:cNvPr id="2053132" name="Rectangle 12"/>
            <p:cNvSpPr>
              <a:spLocks noChangeArrowheads="1"/>
            </p:cNvSpPr>
            <p:nvPr/>
          </p:nvSpPr>
          <p:spPr bwMode="auto">
            <a:xfrm>
              <a:off x="3289" y="2339"/>
              <a:ext cx="771" cy="1452"/>
            </a:xfrm>
            <a:prstGeom prst="rect">
              <a:avLst/>
            </a:prstGeom>
            <a:noFill/>
            <a:ln w="28575">
              <a:solidFill>
                <a:schemeClr val="hlink"/>
              </a:solidFill>
              <a:prstDash val="sysDot"/>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53131" name="Text Box 11"/>
            <p:cNvSpPr txBox="1">
              <a:spLocks noChangeArrowheads="1"/>
            </p:cNvSpPr>
            <p:nvPr/>
          </p:nvSpPr>
          <p:spPr bwMode="auto">
            <a:xfrm>
              <a:off x="2971" y="2929"/>
              <a:ext cx="408" cy="461"/>
            </a:xfrm>
            <a:prstGeom prst="rect">
              <a:avLst/>
            </a:prstGeom>
            <a:gradFill rotWithShape="1">
              <a:gsLst>
                <a:gs pos="0">
                  <a:srgbClr val="333399"/>
                </a:gs>
                <a:gs pos="50000">
                  <a:srgbClr val="333399">
                    <a:gamma/>
                    <a:shade val="33333"/>
                    <a:invGamma/>
                  </a:srgbClr>
                </a:gs>
                <a:gs pos="100000">
                  <a:srgbClr val="333399"/>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solidFill>
                    <a:schemeClr val="bg1"/>
                  </a:solidFill>
                </a:rPr>
                <a:t>62%</a:t>
              </a:r>
              <a:r>
                <a:rPr lang="es-ES_tradnl" altLang="es-CL" sz="2400">
                  <a:solidFill>
                    <a:schemeClr val="bg1"/>
                  </a:solidFill>
                </a:rPr>
                <a:t>*</a:t>
              </a:r>
            </a:p>
            <a:p>
              <a:pPr>
                <a:spcBef>
                  <a:spcPct val="50000"/>
                </a:spcBef>
              </a:pPr>
              <a:r>
                <a:rPr lang="es-ES_tradnl" altLang="es-CL">
                  <a:solidFill>
                    <a:schemeClr val="bg1"/>
                  </a:solidFill>
                </a:rPr>
                <a:t>Cordial</a:t>
              </a:r>
            </a:p>
          </p:txBody>
        </p:sp>
      </p:grpSp>
    </p:spTree>
  </p:cSld>
  <p:clrMapOvr>
    <a:masterClrMapping/>
  </p:clrMapOvr>
  <p:transition>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4146" name="Object 2"/>
          <p:cNvGraphicFramePr>
            <a:graphicFrameLocks noChangeAspect="1"/>
          </p:cNvGraphicFramePr>
          <p:nvPr/>
        </p:nvGraphicFramePr>
        <p:xfrm>
          <a:off x="103188" y="-228600"/>
          <a:ext cx="8964612" cy="5014913"/>
        </p:xfrm>
        <a:graphic>
          <a:graphicData uri="http://schemas.openxmlformats.org/presentationml/2006/ole">
            <mc:AlternateContent xmlns:mc="http://schemas.openxmlformats.org/markup-compatibility/2006">
              <mc:Choice xmlns:v="urn:schemas-microsoft-com:vml" Requires="v">
                <p:oleObj spid="_x0000_s2054168" name="Gráfico" r:id="rId3" imgW="8334451" imgH="4667402" progId="MSGraph.Chart.8">
                  <p:embed followColorScheme="full"/>
                </p:oleObj>
              </mc:Choice>
              <mc:Fallback>
                <p:oleObj name="Gráfico" r:id="rId3" imgW="8334451" imgH="4667402"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88" y="-228600"/>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4147"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4148"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ATENCIÓN EN FONO 133</a:t>
            </a:r>
          </a:p>
        </p:txBody>
      </p:sp>
      <p:sp>
        <p:nvSpPr>
          <p:cNvPr id="2054149"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La última vez que llamó al Fono 133, usted diría que la atención fue..? </a:t>
            </a:r>
            <a:r>
              <a:rPr lang="es-ES" altLang="es-CL" sz="1200">
                <a:solidFill>
                  <a:srgbClr val="000099"/>
                </a:solidFill>
                <a:latin typeface="Arial Narrow" pitchFamily="34" charset="0"/>
              </a:rPr>
              <a:t>(B: </a:t>
            </a:r>
            <a:r>
              <a:rPr lang="es-ES_tradnl" altLang="es-CL" sz="1200">
                <a:solidFill>
                  <a:srgbClr val="000099"/>
                </a:solidFill>
                <a:latin typeface="Arial Narrow" pitchFamily="34" charset="0"/>
              </a:rPr>
              <a:t>Quienes llamaron al Fono 133</a:t>
            </a:r>
            <a:r>
              <a:rPr lang="es-ES" altLang="es-CL" sz="1200">
                <a:solidFill>
                  <a:srgbClr val="000099"/>
                </a:solidFill>
                <a:latin typeface="Arial Narrow" pitchFamily="34" charset="0"/>
              </a:rPr>
              <a:t>) </a:t>
            </a:r>
            <a:r>
              <a:rPr lang="es-ES_tradnl" altLang="es-CL" sz="1400">
                <a:solidFill>
                  <a:srgbClr val="000099"/>
                </a:solidFill>
                <a:latin typeface="Arial Narrow" pitchFamily="34" charset="0"/>
              </a:rPr>
              <a:t>Según Prefectura</a:t>
            </a:r>
            <a:endParaRPr lang="es-ES" altLang="es-CL" sz="1400">
              <a:solidFill>
                <a:srgbClr val="000099"/>
              </a:solidFill>
              <a:latin typeface="Arial Narrow" pitchFamily="34" charset="0"/>
            </a:endParaRPr>
          </a:p>
        </p:txBody>
      </p:sp>
      <p:sp>
        <p:nvSpPr>
          <p:cNvPr id="2054151" name="Text Box 7"/>
          <p:cNvSpPr txBox="1">
            <a:spLocks noChangeArrowheads="1"/>
          </p:cNvSpPr>
          <p:nvPr/>
        </p:nvSpPr>
        <p:spPr bwMode="auto">
          <a:xfrm>
            <a:off x="3419475" y="1392238"/>
            <a:ext cx="22098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2003</a:t>
            </a:r>
            <a:endParaRPr lang="es-ES" altLang="es-CL" b="1">
              <a:solidFill>
                <a:srgbClr val="FF9933"/>
              </a:solidFill>
              <a:latin typeface="Arial" charset="0"/>
            </a:endParaRPr>
          </a:p>
        </p:txBody>
      </p:sp>
      <p:sp>
        <p:nvSpPr>
          <p:cNvPr id="2054152" name="Text Box 8"/>
          <p:cNvSpPr txBox="1">
            <a:spLocks noChangeArrowheads="1"/>
          </p:cNvSpPr>
          <p:nvPr/>
        </p:nvSpPr>
        <p:spPr bwMode="auto">
          <a:xfrm>
            <a:off x="3441700" y="385445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graphicFrame>
        <p:nvGraphicFramePr>
          <p:cNvPr id="2054153" name="Object 9"/>
          <p:cNvGraphicFramePr>
            <a:graphicFrameLocks noGrp="1" noChangeAspect="1"/>
          </p:cNvGraphicFramePr>
          <p:nvPr>
            <p:ph/>
          </p:nvPr>
        </p:nvGraphicFramePr>
        <p:xfrm>
          <a:off x="179388" y="2081213"/>
          <a:ext cx="8964612" cy="5019675"/>
        </p:xfrm>
        <a:graphic>
          <a:graphicData uri="http://schemas.openxmlformats.org/presentationml/2006/ole">
            <mc:AlternateContent xmlns:mc="http://schemas.openxmlformats.org/markup-compatibility/2006">
              <mc:Choice xmlns:v="urn:schemas-microsoft-com:vml" Requires="v">
                <p:oleObj spid="_x0000_s2054169" name="Gráfico" r:id="rId5" imgW="8334451" imgH="4667402" progId="MSGraph.Chart.8">
                  <p:embed followColorScheme="full"/>
                </p:oleObj>
              </mc:Choice>
              <mc:Fallback>
                <p:oleObj name="Gráfico" r:id="rId5" imgW="8334451" imgH="4667402" progId="MSGraph.Chart.8">
                  <p:embed followColorScheme="full"/>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2081213"/>
                        <a:ext cx="8964612" cy="501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4155" name="Text Box 11"/>
          <p:cNvSpPr txBox="1">
            <a:spLocks noChangeArrowheads="1"/>
          </p:cNvSpPr>
          <p:nvPr/>
        </p:nvSpPr>
        <p:spPr bwMode="auto">
          <a:xfrm>
            <a:off x="2554288" y="17668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4156" name="Text Box 12"/>
          <p:cNvSpPr txBox="1">
            <a:spLocks noChangeArrowheads="1"/>
          </p:cNvSpPr>
          <p:nvPr/>
        </p:nvSpPr>
        <p:spPr bwMode="auto">
          <a:xfrm>
            <a:off x="2484438" y="42926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4157" name="Text Box 13"/>
          <p:cNvSpPr txBox="1">
            <a:spLocks noChangeArrowheads="1"/>
          </p:cNvSpPr>
          <p:nvPr/>
        </p:nvSpPr>
        <p:spPr bwMode="auto">
          <a:xfrm>
            <a:off x="5219700" y="6381750"/>
            <a:ext cx="345757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s-ES_tradnl" altLang="es-CL" sz="1400">
                <a:solidFill>
                  <a:srgbClr val="FF3300"/>
                </a:solidFill>
              </a:rPr>
              <a:t>* Diferencia significativa</a:t>
            </a:r>
          </a:p>
        </p:txBody>
      </p:sp>
      <p:sp>
        <p:nvSpPr>
          <p:cNvPr id="2054160" name="Text Box 16"/>
          <p:cNvSpPr txBox="1">
            <a:spLocks noChangeArrowheads="1"/>
          </p:cNvSpPr>
          <p:nvPr/>
        </p:nvSpPr>
        <p:spPr bwMode="auto">
          <a:xfrm>
            <a:off x="6945313" y="184467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4161" name="Text Box 17"/>
          <p:cNvSpPr txBox="1">
            <a:spLocks noChangeArrowheads="1"/>
          </p:cNvSpPr>
          <p:nvPr/>
        </p:nvSpPr>
        <p:spPr bwMode="auto">
          <a:xfrm>
            <a:off x="6516688" y="41417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4162" name="Text Box 18"/>
          <p:cNvSpPr txBox="1">
            <a:spLocks noChangeArrowheads="1"/>
          </p:cNvSpPr>
          <p:nvPr/>
        </p:nvSpPr>
        <p:spPr bwMode="auto">
          <a:xfrm>
            <a:off x="7664450" y="19827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4163" name="Text Box 19"/>
          <p:cNvSpPr txBox="1">
            <a:spLocks noChangeArrowheads="1"/>
          </p:cNvSpPr>
          <p:nvPr/>
        </p:nvSpPr>
        <p:spPr bwMode="auto">
          <a:xfrm>
            <a:off x="7164388" y="42132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170" name="Rectangle 2"/>
          <p:cNvSpPr>
            <a:spLocks noChangeArrowheads="1"/>
          </p:cNvSpPr>
          <p:nvPr/>
        </p:nvSpPr>
        <p:spPr bwMode="auto">
          <a:xfrm>
            <a:off x="685800" y="1844675"/>
            <a:ext cx="8153400" cy="1728788"/>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55171" name="Object 3"/>
          <p:cNvGraphicFramePr>
            <a:graphicFrameLocks noChangeAspect="1"/>
          </p:cNvGraphicFramePr>
          <p:nvPr/>
        </p:nvGraphicFramePr>
        <p:xfrm>
          <a:off x="0" y="-381000"/>
          <a:ext cx="8964613" cy="5014913"/>
        </p:xfrm>
        <a:graphic>
          <a:graphicData uri="http://schemas.openxmlformats.org/presentationml/2006/ole">
            <mc:AlternateContent xmlns:mc="http://schemas.openxmlformats.org/markup-compatibility/2006">
              <mc:Choice xmlns:v="urn:schemas-microsoft-com:vml" Requires="v">
                <p:oleObj spid="_x0000_s2055183" name="Gráfico" r:id="rId3" imgW="8334451" imgH="4667402" progId="MSGraph.Chart.8">
                  <p:embed followColorScheme="full"/>
                </p:oleObj>
              </mc:Choice>
              <mc:Fallback>
                <p:oleObj name="Gráfico" r:id="rId3" imgW="8334451" imgH="4667402" progId="MSGraph.Chart.8">
                  <p:embed followColorScheme="full"/>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81000"/>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5172" name="Rectangle 4"/>
          <p:cNvSpPr>
            <a:spLocks noChangeArrowheads="1"/>
          </p:cNvSpPr>
          <p:nvPr/>
        </p:nvSpPr>
        <p:spPr bwMode="auto">
          <a:xfrm>
            <a:off x="685800" y="4437063"/>
            <a:ext cx="2743200" cy="181610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55173" name="Rectangle 5"/>
          <p:cNvSpPr>
            <a:spLocks noChangeArrowheads="1"/>
          </p:cNvSpPr>
          <p:nvPr/>
        </p:nvSpPr>
        <p:spPr bwMode="auto">
          <a:xfrm>
            <a:off x="3429000" y="4437063"/>
            <a:ext cx="5410200" cy="1816100"/>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55174" name="Object 6"/>
          <p:cNvGraphicFramePr>
            <a:graphicFrameLocks noChangeAspect="1"/>
          </p:cNvGraphicFramePr>
          <p:nvPr/>
        </p:nvGraphicFramePr>
        <p:xfrm>
          <a:off x="0" y="2286000"/>
          <a:ext cx="8964613" cy="5014913"/>
        </p:xfrm>
        <a:graphic>
          <a:graphicData uri="http://schemas.openxmlformats.org/presentationml/2006/ole">
            <mc:AlternateContent xmlns:mc="http://schemas.openxmlformats.org/markup-compatibility/2006">
              <mc:Choice xmlns:v="urn:schemas-microsoft-com:vml" Requires="v">
                <p:oleObj spid="_x0000_s2055184" name="Gráfico" r:id="rId5" imgW="8334451" imgH="4667402" progId="MSGraph.Chart.8">
                  <p:embed followColorScheme="full"/>
                </p:oleObj>
              </mc:Choice>
              <mc:Fallback>
                <p:oleObj name="Gráfico" r:id="rId5" imgW="8334451" imgH="4667402"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286000"/>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5175"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5176" name="Rectangle 8"/>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ATENCIÓN EN FONO 133</a:t>
            </a:r>
          </a:p>
        </p:txBody>
      </p:sp>
      <p:sp>
        <p:nvSpPr>
          <p:cNvPr id="2055177" name="Rectangle 9"/>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La última vez que llamó al Fono 133, usted diría que la atención fue..? </a:t>
            </a:r>
            <a:r>
              <a:rPr lang="es-ES" altLang="es-CL" sz="1200">
                <a:solidFill>
                  <a:srgbClr val="000099"/>
                </a:solidFill>
                <a:latin typeface="Arial Narrow" pitchFamily="34" charset="0"/>
              </a:rPr>
              <a:t>(B: </a:t>
            </a:r>
            <a:r>
              <a:rPr lang="es-ES_tradnl" altLang="es-CL" sz="1200">
                <a:solidFill>
                  <a:srgbClr val="000099"/>
                </a:solidFill>
                <a:latin typeface="Arial Narrow" pitchFamily="34" charset="0"/>
              </a:rPr>
              <a:t>Quienes llamaron al Fono 133</a:t>
            </a:r>
            <a:r>
              <a:rPr lang="es-ES" altLang="es-CL" sz="1200">
                <a:solidFill>
                  <a:srgbClr val="000099"/>
                </a:solidFill>
                <a:latin typeface="Arial Narrow" pitchFamily="34" charset="0"/>
              </a:rPr>
              <a:t>)  </a:t>
            </a:r>
            <a:r>
              <a:rPr lang="es-ES_tradnl" altLang="es-CL" sz="1400">
                <a:solidFill>
                  <a:srgbClr val="000099"/>
                </a:solidFill>
                <a:latin typeface="Arial Narrow" pitchFamily="34" charset="0"/>
              </a:rPr>
              <a:t>Según GSE, Sexo y Tramo Etareo</a:t>
            </a:r>
            <a:endParaRPr lang="es-ES" altLang="es-CL" sz="1400">
              <a:solidFill>
                <a:srgbClr val="000099"/>
              </a:solidFill>
              <a:latin typeface="Arial Narrow" pitchFamily="34" charset="0"/>
            </a:endParaRPr>
          </a:p>
        </p:txBody>
      </p:sp>
      <p:sp>
        <p:nvSpPr>
          <p:cNvPr id="2055178" name="Text Box 10"/>
          <p:cNvSpPr txBox="1">
            <a:spLocks noChangeArrowheads="1"/>
          </p:cNvSpPr>
          <p:nvPr/>
        </p:nvSpPr>
        <p:spPr bwMode="auto">
          <a:xfrm>
            <a:off x="4114800" y="1392238"/>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55179" name="Text Box 11"/>
          <p:cNvSpPr txBox="1">
            <a:spLocks noChangeArrowheads="1"/>
          </p:cNvSpPr>
          <p:nvPr/>
        </p:nvSpPr>
        <p:spPr bwMode="auto">
          <a:xfrm>
            <a:off x="1524000" y="39624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55180" name="Text Box 12"/>
          <p:cNvSpPr txBox="1">
            <a:spLocks noChangeArrowheads="1"/>
          </p:cNvSpPr>
          <p:nvPr/>
        </p:nvSpPr>
        <p:spPr bwMode="auto">
          <a:xfrm>
            <a:off x="5410200" y="3962400"/>
            <a:ext cx="15240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Tree>
  </p:cSld>
  <p:clrMapOvr>
    <a:masterClrMapping/>
  </p:clrMapOvr>
  <p:transition>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6200" name="Object 8"/>
          <p:cNvGraphicFramePr>
            <a:graphicFrameLocks noChangeAspect="1"/>
          </p:cNvGraphicFramePr>
          <p:nvPr/>
        </p:nvGraphicFramePr>
        <p:xfrm>
          <a:off x="4470400" y="3708400"/>
          <a:ext cx="4133850" cy="2678113"/>
        </p:xfrm>
        <a:graphic>
          <a:graphicData uri="http://schemas.openxmlformats.org/presentationml/2006/ole">
            <mc:AlternateContent xmlns:mc="http://schemas.openxmlformats.org/markup-compatibility/2006">
              <mc:Choice xmlns:v="urn:schemas-microsoft-com:vml" Requires="v">
                <p:oleObj spid="_x0000_s2056212" name="Gráfico" r:id="rId3" imgW="10658551" imgH="6896100" progId="MSGraph.Chart.8">
                  <p:embed followColorScheme="full"/>
                </p:oleObj>
              </mc:Choice>
              <mc:Fallback>
                <p:oleObj name="Gráfico" r:id="rId3" imgW="10658551" imgH="6896100" progId="MSGraph.Chart.8">
                  <p:embed followColorScheme="full"/>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0400" y="3708400"/>
                        <a:ext cx="4133850" cy="2678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6194" name="Object 2"/>
          <p:cNvGraphicFramePr>
            <a:graphicFrameLocks noChangeAspect="1"/>
          </p:cNvGraphicFramePr>
          <p:nvPr/>
        </p:nvGraphicFramePr>
        <p:xfrm>
          <a:off x="1085850" y="1422400"/>
          <a:ext cx="4133850" cy="2678113"/>
        </p:xfrm>
        <a:graphic>
          <a:graphicData uri="http://schemas.openxmlformats.org/presentationml/2006/ole">
            <mc:AlternateContent xmlns:mc="http://schemas.openxmlformats.org/markup-compatibility/2006">
              <mc:Choice xmlns:v="urn:schemas-microsoft-com:vml" Requires="v">
                <p:oleObj spid="_x0000_s2056213" name="Gráfico" r:id="rId5" imgW="10658551" imgH="6896100" progId="MSGraph.Chart.8">
                  <p:embed followColorScheme="full"/>
                </p:oleObj>
              </mc:Choice>
              <mc:Fallback>
                <p:oleObj name="Gráfico" r:id="rId5" imgW="10658551" imgH="6896100" progId="MSGraph.Chart.8">
                  <p:embed followColorScheme="full"/>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5850" y="1422400"/>
                        <a:ext cx="4133850" cy="2678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6195"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6196"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TIEMPOS DE ATENCIÓN EN FONO 133</a:t>
            </a:r>
          </a:p>
        </p:txBody>
      </p:sp>
      <p:sp>
        <p:nvSpPr>
          <p:cNvPr id="2056197"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La última vez que llamó al Fono 133, el tiempo de respuesta del operador(a) fue..? </a:t>
            </a:r>
            <a:r>
              <a:rPr lang="es-ES" altLang="es-CL" sz="1200">
                <a:solidFill>
                  <a:srgbClr val="000099"/>
                </a:solidFill>
                <a:latin typeface="Arial Narrow" pitchFamily="34" charset="0"/>
              </a:rPr>
              <a:t>(B: </a:t>
            </a:r>
            <a:r>
              <a:rPr lang="es-ES_tradnl" altLang="es-CL" sz="1200">
                <a:solidFill>
                  <a:srgbClr val="000099"/>
                </a:solidFill>
                <a:latin typeface="Arial Narrow" pitchFamily="34" charset="0"/>
              </a:rPr>
              <a:t>Quienes llamaron al Fono 133</a:t>
            </a:r>
            <a:r>
              <a:rPr lang="es-ES" altLang="es-CL" sz="1200">
                <a:solidFill>
                  <a:srgbClr val="000099"/>
                </a:solidFill>
                <a:latin typeface="Arial Narrow" pitchFamily="34" charset="0"/>
              </a:rPr>
              <a:t>)</a:t>
            </a:r>
          </a:p>
          <a:p>
            <a:endParaRPr lang="es-ES" altLang="es-CL" sz="1400">
              <a:solidFill>
                <a:srgbClr val="000099"/>
              </a:solidFill>
              <a:latin typeface="Arial Narrow" pitchFamily="34" charset="0"/>
            </a:endParaRPr>
          </a:p>
        </p:txBody>
      </p:sp>
      <p:sp>
        <p:nvSpPr>
          <p:cNvPr id="2056198" name="Text Box 6"/>
          <p:cNvSpPr txBox="1">
            <a:spLocks noChangeArrowheads="1"/>
          </p:cNvSpPr>
          <p:nvPr/>
        </p:nvSpPr>
        <p:spPr bwMode="auto">
          <a:xfrm>
            <a:off x="5940425" y="3602038"/>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(B:1490)</a:t>
            </a:r>
            <a:endParaRPr lang="es-ES" altLang="es-CL" b="1">
              <a:solidFill>
                <a:srgbClr val="FF9933"/>
              </a:solidFill>
            </a:endParaRPr>
          </a:p>
        </p:txBody>
      </p:sp>
      <p:sp>
        <p:nvSpPr>
          <p:cNvPr id="2056199" name="Text Box 7"/>
          <p:cNvSpPr txBox="1">
            <a:spLocks noChangeArrowheads="1"/>
          </p:cNvSpPr>
          <p:nvPr/>
        </p:nvSpPr>
        <p:spPr bwMode="auto">
          <a:xfrm>
            <a:off x="2628900" y="1412875"/>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 1339)</a:t>
            </a:r>
            <a:endParaRPr lang="es-ES" altLang="es-CL" b="1">
              <a:solidFill>
                <a:srgbClr val="FF9933"/>
              </a:solidFill>
            </a:endParaRPr>
          </a:p>
        </p:txBody>
      </p:sp>
      <p:grpSp>
        <p:nvGrpSpPr>
          <p:cNvPr id="2056208" name="Group 16"/>
          <p:cNvGrpSpPr>
            <a:grpSpLocks/>
          </p:cNvGrpSpPr>
          <p:nvPr/>
        </p:nvGrpSpPr>
        <p:grpSpPr bwMode="auto">
          <a:xfrm>
            <a:off x="749300" y="1989138"/>
            <a:ext cx="1727200" cy="1800225"/>
            <a:chOff x="204" y="1253"/>
            <a:chExt cx="1088" cy="1134"/>
          </a:xfrm>
        </p:grpSpPr>
        <p:sp>
          <p:nvSpPr>
            <p:cNvPr id="2056202" name="Rectangle 10"/>
            <p:cNvSpPr>
              <a:spLocks noChangeArrowheads="1"/>
            </p:cNvSpPr>
            <p:nvPr/>
          </p:nvSpPr>
          <p:spPr bwMode="auto">
            <a:xfrm>
              <a:off x="521" y="1253"/>
              <a:ext cx="771" cy="1134"/>
            </a:xfrm>
            <a:prstGeom prst="rect">
              <a:avLst/>
            </a:prstGeom>
            <a:noFill/>
            <a:ln w="28575">
              <a:solidFill>
                <a:schemeClr val="hlink"/>
              </a:solidFill>
              <a:prstDash val="sysDot"/>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56203" name="Text Box 11"/>
            <p:cNvSpPr txBox="1">
              <a:spLocks noChangeArrowheads="1"/>
            </p:cNvSpPr>
            <p:nvPr/>
          </p:nvSpPr>
          <p:spPr bwMode="auto">
            <a:xfrm>
              <a:off x="204" y="1525"/>
              <a:ext cx="408" cy="461"/>
            </a:xfrm>
            <a:prstGeom prst="rect">
              <a:avLst/>
            </a:prstGeom>
            <a:gradFill rotWithShape="1">
              <a:gsLst>
                <a:gs pos="0">
                  <a:srgbClr val="333399"/>
                </a:gs>
                <a:gs pos="50000">
                  <a:srgbClr val="333399">
                    <a:gamma/>
                    <a:shade val="33333"/>
                    <a:invGamma/>
                  </a:srgbClr>
                </a:gs>
                <a:gs pos="100000">
                  <a:srgbClr val="333399"/>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solidFill>
                    <a:schemeClr val="bg1"/>
                  </a:solidFill>
                </a:rPr>
                <a:t>54% </a:t>
              </a:r>
              <a:r>
                <a:rPr lang="es-ES_tradnl" altLang="es-CL" sz="2400">
                  <a:solidFill>
                    <a:schemeClr val="bg1"/>
                  </a:solidFill>
                </a:rPr>
                <a:t>*</a:t>
              </a:r>
            </a:p>
            <a:p>
              <a:pPr>
                <a:spcBef>
                  <a:spcPct val="50000"/>
                </a:spcBef>
              </a:pPr>
              <a:r>
                <a:rPr lang="es-ES_tradnl" altLang="es-CL">
                  <a:solidFill>
                    <a:schemeClr val="bg1"/>
                  </a:solidFill>
                </a:rPr>
                <a:t>Rápido</a:t>
              </a:r>
            </a:p>
          </p:txBody>
        </p:sp>
      </p:grpSp>
      <p:sp>
        <p:nvSpPr>
          <p:cNvPr id="2056204" name="Text Box 12"/>
          <p:cNvSpPr txBox="1">
            <a:spLocks noChangeArrowheads="1"/>
          </p:cNvSpPr>
          <p:nvPr/>
        </p:nvSpPr>
        <p:spPr bwMode="auto">
          <a:xfrm>
            <a:off x="6732588" y="6381750"/>
            <a:ext cx="1944687"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400">
                <a:solidFill>
                  <a:srgbClr val="FF3300"/>
                </a:solidFill>
              </a:rPr>
              <a:t>* Diferencia significativa</a:t>
            </a:r>
          </a:p>
        </p:txBody>
      </p:sp>
      <p:grpSp>
        <p:nvGrpSpPr>
          <p:cNvPr id="2056209" name="Group 17"/>
          <p:cNvGrpSpPr>
            <a:grpSpLocks/>
          </p:cNvGrpSpPr>
          <p:nvPr/>
        </p:nvGrpSpPr>
        <p:grpSpPr bwMode="auto">
          <a:xfrm>
            <a:off x="4211638" y="4365625"/>
            <a:ext cx="1655762" cy="1727200"/>
            <a:chOff x="2653" y="2750"/>
            <a:chExt cx="1043" cy="1088"/>
          </a:xfrm>
        </p:grpSpPr>
        <p:sp>
          <p:nvSpPr>
            <p:cNvPr id="2056206" name="Rectangle 14"/>
            <p:cNvSpPr>
              <a:spLocks noChangeArrowheads="1"/>
            </p:cNvSpPr>
            <p:nvPr/>
          </p:nvSpPr>
          <p:spPr bwMode="auto">
            <a:xfrm>
              <a:off x="2925" y="2750"/>
              <a:ext cx="771" cy="1088"/>
            </a:xfrm>
            <a:prstGeom prst="rect">
              <a:avLst/>
            </a:prstGeom>
            <a:noFill/>
            <a:ln w="28575">
              <a:solidFill>
                <a:schemeClr val="hlink"/>
              </a:solidFill>
              <a:prstDash val="sysDot"/>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56207" name="Text Box 15"/>
            <p:cNvSpPr txBox="1">
              <a:spLocks noChangeArrowheads="1"/>
            </p:cNvSpPr>
            <p:nvPr/>
          </p:nvSpPr>
          <p:spPr bwMode="auto">
            <a:xfrm>
              <a:off x="2653" y="3060"/>
              <a:ext cx="408" cy="461"/>
            </a:xfrm>
            <a:prstGeom prst="rect">
              <a:avLst/>
            </a:prstGeom>
            <a:gradFill rotWithShape="1">
              <a:gsLst>
                <a:gs pos="0">
                  <a:srgbClr val="333399"/>
                </a:gs>
                <a:gs pos="50000">
                  <a:srgbClr val="333399">
                    <a:gamma/>
                    <a:shade val="33333"/>
                    <a:invGamma/>
                  </a:srgbClr>
                </a:gs>
                <a:gs pos="100000">
                  <a:srgbClr val="333399"/>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a:solidFill>
                    <a:schemeClr val="bg1"/>
                  </a:solidFill>
                </a:rPr>
                <a:t>41%</a:t>
              </a:r>
              <a:r>
                <a:rPr lang="es-ES_tradnl" altLang="es-CL" sz="2400">
                  <a:solidFill>
                    <a:schemeClr val="bg1"/>
                  </a:solidFill>
                </a:rPr>
                <a:t>*</a:t>
              </a:r>
            </a:p>
            <a:p>
              <a:pPr>
                <a:spcBef>
                  <a:spcPct val="50000"/>
                </a:spcBef>
              </a:pPr>
              <a:r>
                <a:rPr lang="es-ES_tradnl" altLang="es-CL">
                  <a:solidFill>
                    <a:schemeClr val="bg1"/>
                  </a:solidFill>
                </a:rPr>
                <a:t>Rápido</a:t>
              </a:r>
            </a:p>
          </p:txBody>
        </p:sp>
      </p:grpSp>
    </p:spTree>
  </p:cSld>
  <p:clrMapOvr>
    <a:masterClrMapping/>
  </p:clrMapOvr>
  <p:transition>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7218" name="Object 2"/>
          <p:cNvGraphicFramePr>
            <a:graphicFrameLocks noChangeAspect="1"/>
          </p:cNvGraphicFramePr>
          <p:nvPr/>
        </p:nvGraphicFramePr>
        <p:xfrm>
          <a:off x="103188" y="-228600"/>
          <a:ext cx="8964612" cy="5014913"/>
        </p:xfrm>
        <a:graphic>
          <a:graphicData uri="http://schemas.openxmlformats.org/presentationml/2006/ole">
            <mc:AlternateContent xmlns:mc="http://schemas.openxmlformats.org/markup-compatibility/2006">
              <mc:Choice xmlns:v="urn:schemas-microsoft-com:vml" Requires="v">
                <p:oleObj spid="_x0000_s2057234" name="Gráfico" r:id="rId3" imgW="8334451" imgH="4667402" progId="MSGraph.Chart.8">
                  <p:embed followColorScheme="full"/>
                </p:oleObj>
              </mc:Choice>
              <mc:Fallback>
                <p:oleObj name="Gráfico" r:id="rId3" imgW="8334451" imgH="4667402"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88" y="-228600"/>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7219"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7220"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TIEMPOS DE ATENCIÓN EN FONO 133</a:t>
            </a:r>
          </a:p>
        </p:txBody>
      </p:sp>
      <p:sp>
        <p:nvSpPr>
          <p:cNvPr id="2057221"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La última vez que llamó al Fono 133, el tiempo de respuesta del operador(a) fue..? </a:t>
            </a:r>
            <a:r>
              <a:rPr lang="es-ES" altLang="es-CL" sz="1200">
                <a:solidFill>
                  <a:srgbClr val="000099"/>
                </a:solidFill>
                <a:latin typeface="Arial Narrow" pitchFamily="34" charset="0"/>
              </a:rPr>
              <a:t>(B: </a:t>
            </a:r>
            <a:r>
              <a:rPr lang="es-ES_tradnl" altLang="es-CL" sz="1200">
                <a:solidFill>
                  <a:srgbClr val="000099"/>
                </a:solidFill>
                <a:latin typeface="Arial Narrow" pitchFamily="34" charset="0"/>
              </a:rPr>
              <a:t>Quienes llamaron al Fono 133</a:t>
            </a:r>
            <a:r>
              <a:rPr lang="es-ES" altLang="es-CL" sz="1200">
                <a:solidFill>
                  <a:srgbClr val="000099"/>
                </a:solidFill>
                <a:latin typeface="Arial Narrow" pitchFamily="34" charset="0"/>
              </a:rPr>
              <a:t>)</a:t>
            </a:r>
          </a:p>
          <a:p>
            <a:r>
              <a:rPr lang="es-ES_tradnl" altLang="es-CL" sz="1400">
                <a:solidFill>
                  <a:srgbClr val="000099"/>
                </a:solidFill>
                <a:latin typeface="Arial Narrow" pitchFamily="34" charset="0"/>
              </a:rPr>
              <a:t>Según Prefectura </a:t>
            </a:r>
            <a:endParaRPr lang="es-ES" altLang="es-CL" sz="1400">
              <a:solidFill>
                <a:srgbClr val="000099"/>
              </a:solidFill>
              <a:latin typeface="Arial Narrow" pitchFamily="34" charset="0"/>
            </a:endParaRPr>
          </a:p>
        </p:txBody>
      </p:sp>
      <p:graphicFrame>
        <p:nvGraphicFramePr>
          <p:cNvPr id="2057222" name="Object 6"/>
          <p:cNvGraphicFramePr>
            <a:graphicFrameLocks noChangeAspect="1"/>
          </p:cNvGraphicFramePr>
          <p:nvPr/>
        </p:nvGraphicFramePr>
        <p:xfrm>
          <a:off x="103188" y="2205038"/>
          <a:ext cx="8964612" cy="5014912"/>
        </p:xfrm>
        <a:graphic>
          <a:graphicData uri="http://schemas.openxmlformats.org/presentationml/2006/ole">
            <mc:AlternateContent xmlns:mc="http://schemas.openxmlformats.org/markup-compatibility/2006">
              <mc:Choice xmlns:v="urn:schemas-microsoft-com:vml" Requires="v">
                <p:oleObj spid="_x0000_s2057235" name="Gráfico" r:id="rId5" imgW="8334451" imgH="4667402" progId="MSGraph.Chart.8">
                  <p:embed followColorScheme="full"/>
                </p:oleObj>
              </mc:Choice>
              <mc:Fallback>
                <p:oleObj name="Gráfico" r:id="rId5" imgW="8334451" imgH="4667402"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88" y="2205038"/>
                        <a:ext cx="8964612" cy="5014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7223" name="Text Box 7"/>
          <p:cNvSpPr txBox="1">
            <a:spLocks noChangeArrowheads="1"/>
          </p:cNvSpPr>
          <p:nvPr/>
        </p:nvSpPr>
        <p:spPr bwMode="auto">
          <a:xfrm>
            <a:off x="3441700" y="3825875"/>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
        <p:nvSpPr>
          <p:cNvPr id="2057224" name="Text Box 8"/>
          <p:cNvSpPr txBox="1">
            <a:spLocks noChangeArrowheads="1"/>
          </p:cNvSpPr>
          <p:nvPr/>
        </p:nvSpPr>
        <p:spPr bwMode="auto">
          <a:xfrm>
            <a:off x="3419475" y="1392238"/>
            <a:ext cx="22098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2003</a:t>
            </a:r>
            <a:endParaRPr lang="es-ES" altLang="es-CL" b="1">
              <a:solidFill>
                <a:srgbClr val="FF9933"/>
              </a:solidFill>
              <a:latin typeface="Arial" charset="0"/>
            </a:endParaRPr>
          </a:p>
        </p:txBody>
      </p:sp>
      <p:sp>
        <p:nvSpPr>
          <p:cNvPr id="2057225" name="Text Box 9"/>
          <p:cNvSpPr txBox="1">
            <a:spLocks noChangeArrowheads="1"/>
          </p:cNvSpPr>
          <p:nvPr/>
        </p:nvSpPr>
        <p:spPr bwMode="auto">
          <a:xfrm>
            <a:off x="1112838" y="190976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7226" name="Text Box 10"/>
          <p:cNvSpPr txBox="1">
            <a:spLocks noChangeArrowheads="1"/>
          </p:cNvSpPr>
          <p:nvPr/>
        </p:nvSpPr>
        <p:spPr bwMode="auto">
          <a:xfrm>
            <a:off x="1114425" y="464661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7227" name="Text Box 11"/>
          <p:cNvSpPr txBox="1">
            <a:spLocks noChangeArrowheads="1"/>
          </p:cNvSpPr>
          <p:nvPr/>
        </p:nvSpPr>
        <p:spPr bwMode="auto">
          <a:xfrm>
            <a:off x="5219700" y="6381750"/>
            <a:ext cx="345757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s-ES_tradnl" altLang="es-CL" sz="1400">
                <a:solidFill>
                  <a:srgbClr val="FF3300"/>
                </a:solidFill>
              </a:rPr>
              <a:t>* Diferencia significativa en Rápido</a:t>
            </a:r>
          </a:p>
        </p:txBody>
      </p:sp>
      <p:sp>
        <p:nvSpPr>
          <p:cNvPr id="2057228" name="Text Box 12"/>
          <p:cNvSpPr txBox="1">
            <a:spLocks noChangeArrowheads="1"/>
          </p:cNvSpPr>
          <p:nvPr/>
        </p:nvSpPr>
        <p:spPr bwMode="auto">
          <a:xfrm>
            <a:off x="6945313" y="198913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7229" name="Text Box 13"/>
          <p:cNvSpPr txBox="1">
            <a:spLocks noChangeArrowheads="1"/>
          </p:cNvSpPr>
          <p:nvPr/>
        </p:nvSpPr>
        <p:spPr bwMode="auto">
          <a:xfrm>
            <a:off x="6443663" y="41497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7230" name="Text Box 14"/>
          <p:cNvSpPr txBox="1">
            <a:spLocks noChangeArrowheads="1"/>
          </p:cNvSpPr>
          <p:nvPr/>
        </p:nvSpPr>
        <p:spPr bwMode="auto">
          <a:xfrm>
            <a:off x="8386763" y="184467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57231" name="Text Box 15"/>
          <p:cNvSpPr txBox="1">
            <a:spLocks noChangeArrowheads="1"/>
          </p:cNvSpPr>
          <p:nvPr/>
        </p:nvSpPr>
        <p:spPr bwMode="auto">
          <a:xfrm>
            <a:off x="7740650" y="43576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45" name="Rectangle 5"/>
          <p:cNvSpPr>
            <a:spLocks noChangeArrowheads="1"/>
          </p:cNvSpPr>
          <p:nvPr/>
        </p:nvSpPr>
        <p:spPr bwMode="auto">
          <a:xfrm>
            <a:off x="685800" y="1922463"/>
            <a:ext cx="8153400" cy="1808162"/>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58246" name="Object 6"/>
          <p:cNvGraphicFramePr>
            <a:graphicFrameLocks noChangeAspect="1"/>
          </p:cNvGraphicFramePr>
          <p:nvPr/>
        </p:nvGraphicFramePr>
        <p:xfrm>
          <a:off x="26988" y="-217488"/>
          <a:ext cx="8964612" cy="5014913"/>
        </p:xfrm>
        <a:graphic>
          <a:graphicData uri="http://schemas.openxmlformats.org/presentationml/2006/ole">
            <mc:AlternateContent xmlns:mc="http://schemas.openxmlformats.org/markup-compatibility/2006">
              <mc:Choice xmlns:v="urn:schemas-microsoft-com:vml" Requires="v">
                <p:oleObj spid="_x0000_s2058255" name="Gráfico" r:id="rId3" imgW="8334451" imgH="4667402" progId="MSGraph.Chart.8">
                  <p:embed followColorScheme="full"/>
                </p:oleObj>
              </mc:Choice>
              <mc:Fallback>
                <p:oleObj name="Gráfico" r:id="rId3" imgW="8334451" imgH="4667402" progId="MSGraph.Chart.8">
                  <p:embed followColorScheme="full"/>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8" y="-217488"/>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242" name="Rectangle 2"/>
          <p:cNvSpPr>
            <a:spLocks noChangeArrowheads="1"/>
          </p:cNvSpPr>
          <p:nvPr/>
        </p:nvSpPr>
        <p:spPr bwMode="auto">
          <a:xfrm>
            <a:off x="685800" y="4508500"/>
            <a:ext cx="2819400" cy="1673225"/>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58243" name="Rectangle 3"/>
          <p:cNvSpPr>
            <a:spLocks noChangeArrowheads="1"/>
          </p:cNvSpPr>
          <p:nvPr/>
        </p:nvSpPr>
        <p:spPr bwMode="auto">
          <a:xfrm>
            <a:off x="3505200" y="4508500"/>
            <a:ext cx="5334000" cy="1673225"/>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58244" name="Object 4"/>
          <p:cNvGraphicFramePr>
            <a:graphicFrameLocks noChangeAspect="1"/>
          </p:cNvGraphicFramePr>
          <p:nvPr/>
        </p:nvGraphicFramePr>
        <p:xfrm>
          <a:off x="26988" y="2276475"/>
          <a:ext cx="8964612" cy="5014913"/>
        </p:xfrm>
        <a:graphic>
          <a:graphicData uri="http://schemas.openxmlformats.org/presentationml/2006/ole">
            <mc:AlternateContent xmlns:mc="http://schemas.openxmlformats.org/markup-compatibility/2006">
              <mc:Choice xmlns:v="urn:schemas-microsoft-com:vml" Requires="v">
                <p:oleObj spid="_x0000_s2058256" name="Gráfico" r:id="rId5" imgW="8334451" imgH="4667402" progId="MSGraph.Chart.8">
                  <p:embed followColorScheme="full"/>
                </p:oleObj>
              </mc:Choice>
              <mc:Fallback>
                <p:oleObj name="Gráfico" r:id="rId5" imgW="8334451" imgH="4667402" progId="MSGraph.Chart.8">
                  <p:embed followColorScheme="full"/>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88" y="2276475"/>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8247"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58248" name="Rectangle 8"/>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TIEMPOS DE ATENCIÓN EN FONO 133</a:t>
            </a:r>
          </a:p>
        </p:txBody>
      </p:sp>
      <p:sp>
        <p:nvSpPr>
          <p:cNvPr id="2058249" name="Rectangle 9"/>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r>
              <a:rPr lang="es-ES_tradnl" altLang="es-CL" sz="1400">
                <a:solidFill>
                  <a:srgbClr val="000099"/>
                </a:solidFill>
                <a:latin typeface="Arial Narrow" pitchFamily="34" charset="0"/>
              </a:rPr>
              <a:t>La última vez que llamó al Fono 133, el tiempo de respuesta del operador(a) fue..? </a:t>
            </a:r>
            <a:r>
              <a:rPr lang="es-ES" altLang="es-CL" sz="1200">
                <a:solidFill>
                  <a:srgbClr val="000099"/>
                </a:solidFill>
                <a:latin typeface="Arial Narrow" pitchFamily="34" charset="0"/>
              </a:rPr>
              <a:t>(B: </a:t>
            </a:r>
            <a:r>
              <a:rPr lang="es-ES_tradnl" altLang="es-CL" sz="1200">
                <a:solidFill>
                  <a:srgbClr val="000099"/>
                </a:solidFill>
                <a:latin typeface="Arial Narrow" pitchFamily="34" charset="0"/>
              </a:rPr>
              <a:t>Quienes llamaron al Fono 133</a:t>
            </a:r>
            <a:r>
              <a:rPr lang="es-ES" altLang="es-CL" sz="1200">
                <a:solidFill>
                  <a:srgbClr val="000099"/>
                </a:solidFill>
                <a:latin typeface="Arial Narrow" pitchFamily="34" charset="0"/>
              </a:rPr>
              <a:t>)</a:t>
            </a:r>
          </a:p>
          <a:p>
            <a:r>
              <a:rPr lang="es-ES_tradnl" altLang="es-CL" sz="1400">
                <a:solidFill>
                  <a:srgbClr val="000099"/>
                </a:solidFill>
                <a:latin typeface="Arial Narrow" pitchFamily="34" charset="0"/>
              </a:rPr>
              <a:t>Según GSE, Sexo y Tramo Etareo</a:t>
            </a:r>
            <a:endParaRPr lang="es-ES" altLang="es-CL" sz="1400">
              <a:solidFill>
                <a:srgbClr val="000099"/>
              </a:solidFill>
              <a:latin typeface="Arial Narrow" pitchFamily="34" charset="0"/>
            </a:endParaRPr>
          </a:p>
        </p:txBody>
      </p:sp>
      <p:sp>
        <p:nvSpPr>
          <p:cNvPr id="2058250" name="Text Box 10"/>
          <p:cNvSpPr txBox="1">
            <a:spLocks noChangeArrowheads="1"/>
          </p:cNvSpPr>
          <p:nvPr/>
        </p:nvSpPr>
        <p:spPr bwMode="auto">
          <a:xfrm>
            <a:off x="4114800" y="1520825"/>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58251" name="Text Box 11"/>
          <p:cNvSpPr txBox="1">
            <a:spLocks noChangeArrowheads="1"/>
          </p:cNvSpPr>
          <p:nvPr/>
        </p:nvSpPr>
        <p:spPr bwMode="auto">
          <a:xfrm>
            <a:off x="5410200" y="3987800"/>
            <a:ext cx="15240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
        <p:nvSpPr>
          <p:cNvPr id="2058252" name="Text Box 12"/>
          <p:cNvSpPr txBox="1">
            <a:spLocks noChangeArrowheads="1"/>
          </p:cNvSpPr>
          <p:nvPr/>
        </p:nvSpPr>
        <p:spPr bwMode="auto">
          <a:xfrm>
            <a:off x="1600200" y="4008438"/>
            <a:ext cx="990600" cy="284162"/>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Tree>
  </p:cSld>
  <p:clrMapOvr>
    <a:masterClrMapping/>
  </p:clrMapOvr>
  <p:transition>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66434" name="Object 2"/>
          <p:cNvGraphicFramePr>
            <a:graphicFrameLocks noChangeAspect="1"/>
          </p:cNvGraphicFramePr>
          <p:nvPr/>
        </p:nvGraphicFramePr>
        <p:xfrm>
          <a:off x="428625" y="1497013"/>
          <a:ext cx="4648200" cy="3011487"/>
        </p:xfrm>
        <a:graphic>
          <a:graphicData uri="http://schemas.openxmlformats.org/presentationml/2006/ole">
            <mc:AlternateContent xmlns:mc="http://schemas.openxmlformats.org/markup-compatibility/2006">
              <mc:Choice xmlns:v="urn:schemas-microsoft-com:vml" Requires="v">
                <p:oleObj spid="_x0000_s2066443" name="Gráfico" r:id="rId3" imgW="10649102" imgH="6905549" progId="MSGraph.Chart.8">
                  <p:embed followColorScheme="full"/>
                </p:oleObj>
              </mc:Choice>
              <mc:Fallback>
                <p:oleObj name="Gráfico" r:id="rId3" imgW="10649102" imgH="6905549"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1497013"/>
                        <a:ext cx="4648200" cy="301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6435"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66436"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RESULTADO LLAMADA A FONO 133</a:t>
            </a:r>
          </a:p>
        </p:txBody>
      </p:sp>
      <p:sp>
        <p:nvSpPr>
          <p:cNvPr id="2066437"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¿Cuál fue el resultado de su llamada, la última vez que la efectuó? </a:t>
            </a:r>
            <a:r>
              <a:rPr lang="es-ES" altLang="es-CL" sz="1400">
                <a:solidFill>
                  <a:srgbClr val="000099"/>
                </a:solidFill>
                <a:latin typeface="Arial Narrow" pitchFamily="34" charset="0"/>
              </a:rPr>
              <a:t>(B: </a:t>
            </a:r>
            <a:r>
              <a:rPr lang="es-ES_tradnl" altLang="es-CL" sz="1400">
                <a:solidFill>
                  <a:srgbClr val="000099"/>
                </a:solidFill>
                <a:latin typeface="Arial Narrow" pitchFamily="34" charset="0"/>
              </a:rPr>
              <a:t>Quienes llamaron al Fono 133</a:t>
            </a:r>
            <a:r>
              <a:rPr lang="es-ES" altLang="es-CL" sz="1400">
                <a:solidFill>
                  <a:srgbClr val="000099"/>
                </a:solidFill>
                <a:latin typeface="Arial Narrow" pitchFamily="34" charset="0"/>
              </a:rPr>
              <a:t>)</a:t>
            </a:r>
          </a:p>
        </p:txBody>
      </p:sp>
      <p:graphicFrame>
        <p:nvGraphicFramePr>
          <p:cNvPr id="2066438" name="Object 6"/>
          <p:cNvGraphicFramePr>
            <a:graphicFrameLocks noChangeAspect="1"/>
          </p:cNvGraphicFramePr>
          <p:nvPr/>
        </p:nvGraphicFramePr>
        <p:xfrm>
          <a:off x="4191000" y="3581400"/>
          <a:ext cx="4648200" cy="3011488"/>
        </p:xfrm>
        <a:graphic>
          <a:graphicData uri="http://schemas.openxmlformats.org/presentationml/2006/ole">
            <mc:AlternateContent xmlns:mc="http://schemas.openxmlformats.org/markup-compatibility/2006">
              <mc:Choice xmlns:v="urn:schemas-microsoft-com:vml" Requires="v">
                <p:oleObj spid="_x0000_s2066444" name="Gráfico" r:id="rId5" imgW="10649102" imgH="6905549" progId="MSGraph.Chart.8">
                  <p:embed followColorScheme="full"/>
                </p:oleObj>
              </mc:Choice>
              <mc:Fallback>
                <p:oleObj name="Gráfico" r:id="rId5" imgW="10649102" imgH="6905549"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3581400"/>
                        <a:ext cx="4648200" cy="301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6439" name="Text Box 7"/>
          <p:cNvSpPr txBox="1">
            <a:spLocks noChangeArrowheads="1"/>
          </p:cNvSpPr>
          <p:nvPr/>
        </p:nvSpPr>
        <p:spPr bwMode="auto">
          <a:xfrm>
            <a:off x="6084888" y="335756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 1490)</a:t>
            </a:r>
            <a:endParaRPr lang="es-ES" altLang="es-CL" b="1">
              <a:solidFill>
                <a:srgbClr val="FF9933"/>
              </a:solidFill>
            </a:endParaRPr>
          </a:p>
        </p:txBody>
      </p:sp>
      <p:sp>
        <p:nvSpPr>
          <p:cNvPr id="2066440" name="Text Box 8"/>
          <p:cNvSpPr txBox="1">
            <a:spLocks noChangeArrowheads="1"/>
          </p:cNvSpPr>
          <p:nvPr/>
        </p:nvSpPr>
        <p:spPr bwMode="auto">
          <a:xfrm>
            <a:off x="2027238" y="1695450"/>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 1339)</a:t>
            </a:r>
            <a:endParaRPr lang="es-ES" altLang="es-CL" b="1">
              <a:solidFill>
                <a:srgbClr val="FF9933"/>
              </a:solidFill>
            </a:endParaRPr>
          </a:p>
        </p:txBody>
      </p:sp>
    </p:spTree>
  </p:cSld>
  <p:clrMapOvr>
    <a:masterClrMapping/>
  </p:clrMapOvr>
  <p:transition>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7458"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67459"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RESULTADO LLAMADA A FONO 133</a:t>
            </a:r>
          </a:p>
        </p:txBody>
      </p:sp>
      <p:sp>
        <p:nvSpPr>
          <p:cNvPr id="2067460"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¿Cuál fue el resultado de su llamada, la última vez que la efectuó? </a:t>
            </a:r>
            <a:r>
              <a:rPr lang="es-ES" altLang="es-CL" sz="1400">
                <a:solidFill>
                  <a:srgbClr val="000099"/>
                </a:solidFill>
                <a:latin typeface="Arial Narrow" pitchFamily="34" charset="0"/>
              </a:rPr>
              <a:t>Según Prefectura</a:t>
            </a:r>
          </a:p>
        </p:txBody>
      </p:sp>
      <p:graphicFrame>
        <p:nvGraphicFramePr>
          <p:cNvPr id="2067461" name="Object 5"/>
          <p:cNvGraphicFramePr>
            <a:graphicFrameLocks noGrp="1" noChangeAspect="1"/>
          </p:cNvGraphicFramePr>
          <p:nvPr>
            <p:ph/>
          </p:nvPr>
        </p:nvGraphicFramePr>
        <p:xfrm>
          <a:off x="755650" y="1700213"/>
          <a:ext cx="8051800" cy="3594100"/>
        </p:xfrm>
        <a:graphic>
          <a:graphicData uri="http://schemas.openxmlformats.org/presentationml/2006/ole">
            <mc:AlternateContent xmlns:mc="http://schemas.openxmlformats.org/markup-compatibility/2006">
              <mc:Choice xmlns:v="urn:schemas-microsoft-com:vml" Requires="v">
                <p:oleObj spid="_x0000_s2067469" name="Hoja de cálculo" r:id="rId4" imgW="7620000" imgH="3400349" progId="Excel.Sheet.8">
                  <p:embed/>
                </p:oleObj>
              </mc:Choice>
              <mc:Fallback>
                <p:oleObj name="Hoja de cálculo" r:id="rId4" imgW="7620000" imgH="3400349" progId="Excel.Shee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1700213"/>
                        <a:ext cx="8051800" cy="359410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grpSp>
        <p:nvGrpSpPr>
          <p:cNvPr id="2067463" name="Group 7"/>
          <p:cNvGrpSpPr>
            <a:grpSpLocks/>
          </p:cNvGrpSpPr>
          <p:nvPr/>
        </p:nvGrpSpPr>
        <p:grpSpPr bwMode="auto">
          <a:xfrm>
            <a:off x="5651500" y="5949950"/>
            <a:ext cx="2952750" cy="563563"/>
            <a:chOff x="3560" y="3838"/>
            <a:chExt cx="1860" cy="355"/>
          </a:xfrm>
        </p:grpSpPr>
        <p:sp>
          <p:nvSpPr>
            <p:cNvPr id="2067464" name="Rectangle 8"/>
            <p:cNvSpPr>
              <a:spLocks noChangeArrowheads="1"/>
            </p:cNvSpPr>
            <p:nvPr/>
          </p:nvSpPr>
          <p:spPr bwMode="auto">
            <a:xfrm>
              <a:off x="3560" y="4020"/>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67465" name="Text Box 9"/>
            <p:cNvSpPr txBox="1">
              <a:spLocks noChangeArrowheads="1"/>
            </p:cNvSpPr>
            <p:nvPr/>
          </p:nvSpPr>
          <p:spPr bwMode="auto">
            <a:xfrm>
              <a:off x="3780" y="4020"/>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2067466" name="Rectangle 10"/>
            <p:cNvSpPr>
              <a:spLocks noChangeArrowheads="1"/>
            </p:cNvSpPr>
            <p:nvPr/>
          </p:nvSpPr>
          <p:spPr bwMode="auto">
            <a:xfrm>
              <a:off x="3560" y="3838"/>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67467" name="Text Box 11"/>
            <p:cNvSpPr txBox="1">
              <a:spLocks noChangeArrowheads="1"/>
            </p:cNvSpPr>
            <p:nvPr/>
          </p:nvSpPr>
          <p:spPr bwMode="auto">
            <a:xfrm>
              <a:off x="3780" y="3838"/>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82"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68483" name="Rectangle 3"/>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RESULTADO LLAMADA A FONO 133</a:t>
            </a:r>
          </a:p>
        </p:txBody>
      </p:sp>
      <p:sp>
        <p:nvSpPr>
          <p:cNvPr id="2068484" name="Rectangle 4"/>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¿Cuál fue el resultado de su llamada, la última vez que la efectuó? </a:t>
            </a:r>
            <a:r>
              <a:rPr lang="es-ES" altLang="es-CL" sz="1400">
                <a:solidFill>
                  <a:srgbClr val="000099"/>
                </a:solidFill>
                <a:latin typeface="Arial Narrow" pitchFamily="34" charset="0"/>
              </a:rPr>
              <a:t>Según GSE, Sexo y Tramo Etareo</a:t>
            </a:r>
          </a:p>
        </p:txBody>
      </p:sp>
      <p:graphicFrame>
        <p:nvGraphicFramePr>
          <p:cNvPr id="2068485" name="Object 5"/>
          <p:cNvGraphicFramePr>
            <a:graphicFrameLocks noGrp="1" noChangeAspect="1"/>
          </p:cNvGraphicFramePr>
          <p:nvPr>
            <p:ph/>
          </p:nvPr>
        </p:nvGraphicFramePr>
        <p:xfrm>
          <a:off x="725488" y="1866900"/>
          <a:ext cx="8113712" cy="3683000"/>
        </p:xfrm>
        <a:graphic>
          <a:graphicData uri="http://schemas.openxmlformats.org/presentationml/2006/ole">
            <mc:AlternateContent xmlns:mc="http://schemas.openxmlformats.org/markup-compatibility/2006">
              <mc:Choice xmlns:v="urn:schemas-microsoft-com:vml" Requires="v">
                <p:oleObj spid="_x0000_s2068488" name="Hoja de cálculo" r:id="rId4" imgW="6086551" imgH="2762402" progId="Excel.Sheet.8">
                  <p:embed/>
                </p:oleObj>
              </mc:Choice>
              <mc:Fallback>
                <p:oleObj name="Hoja de cálculo" r:id="rId4" imgW="6086551" imgH="2762402" progId="Excel.Sheet.8">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5488" y="1866900"/>
                        <a:ext cx="8113712" cy="3683000"/>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69506" name="Object 2"/>
          <p:cNvGraphicFramePr>
            <a:graphicFrameLocks noChangeAspect="1"/>
          </p:cNvGraphicFramePr>
          <p:nvPr/>
        </p:nvGraphicFramePr>
        <p:xfrm>
          <a:off x="677863" y="1558925"/>
          <a:ext cx="4110037" cy="2662238"/>
        </p:xfrm>
        <a:graphic>
          <a:graphicData uri="http://schemas.openxmlformats.org/presentationml/2006/ole">
            <mc:AlternateContent xmlns:mc="http://schemas.openxmlformats.org/markup-compatibility/2006">
              <mc:Choice xmlns:v="urn:schemas-microsoft-com:vml" Requires="v">
                <p:oleObj spid="_x0000_s2069518" name="Gráfico" r:id="rId3" imgW="10658551" imgH="6896100" progId="MSGraph.Chart.8">
                  <p:embed followColorScheme="full"/>
                </p:oleObj>
              </mc:Choice>
              <mc:Fallback>
                <p:oleObj name="Gráfico" r:id="rId3" imgW="10658551" imgH="6896100"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863" y="1558925"/>
                        <a:ext cx="4110037" cy="2662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9507"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69508"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EVALUACIÓN DE TIEMPOS DE RESPUESTA DE CARBINEROS</a:t>
            </a:r>
          </a:p>
        </p:txBody>
      </p:sp>
      <p:sp>
        <p:nvSpPr>
          <p:cNvPr id="2069509" name="Rectangle 5"/>
          <p:cNvSpPr>
            <a:spLocks noChangeArrowheads="1"/>
          </p:cNvSpPr>
          <p:nvPr/>
        </p:nvSpPr>
        <p:spPr bwMode="auto">
          <a:xfrm>
            <a:off x="609600" y="914400"/>
            <a:ext cx="7778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Considerando el tiempo que demoró el vehículo o personal de Carabineros en llegar, usted diría que ese plazo fue... </a:t>
            </a:r>
            <a:r>
              <a:rPr lang="es-ES" altLang="es-CL" sz="1400">
                <a:solidFill>
                  <a:srgbClr val="000099"/>
                </a:solidFill>
                <a:latin typeface="Arial Narrow" pitchFamily="34" charset="0"/>
              </a:rPr>
              <a:t>(B: </a:t>
            </a:r>
            <a:r>
              <a:rPr lang="es-ES_tradnl" altLang="es-CL" sz="1400">
                <a:solidFill>
                  <a:srgbClr val="000099"/>
                </a:solidFill>
                <a:latin typeface="Arial Narrow" pitchFamily="34" charset="0"/>
              </a:rPr>
              <a:t>Quienes llamaron al Fono 133 y derivaron en la llegada de Carabineros</a:t>
            </a:r>
            <a:r>
              <a:rPr lang="es-ES" altLang="es-CL" sz="1400">
                <a:solidFill>
                  <a:srgbClr val="000099"/>
                </a:solidFill>
                <a:latin typeface="Arial Narrow" pitchFamily="34" charset="0"/>
              </a:rPr>
              <a:t>)</a:t>
            </a:r>
          </a:p>
        </p:txBody>
      </p:sp>
      <p:graphicFrame>
        <p:nvGraphicFramePr>
          <p:cNvPr id="2069510" name="Object 6"/>
          <p:cNvGraphicFramePr>
            <a:graphicFrameLocks noChangeAspect="1"/>
          </p:cNvGraphicFramePr>
          <p:nvPr/>
        </p:nvGraphicFramePr>
        <p:xfrm>
          <a:off x="4356100" y="3213100"/>
          <a:ext cx="4110038" cy="2662238"/>
        </p:xfrm>
        <a:graphic>
          <a:graphicData uri="http://schemas.openxmlformats.org/presentationml/2006/ole">
            <mc:AlternateContent xmlns:mc="http://schemas.openxmlformats.org/markup-compatibility/2006">
              <mc:Choice xmlns:v="urn:schemas-microsoft-com:vml" Requires="v">
                <p:oleObj spid="_x0000_s2069519" name="Gráfico" r:id="rId5" imgW="10658551" imgH="6896100" progId="MSGraph.Chart.8">
                  <p:embed followColorScheme="full"/>
                </p:oleObj>
              </mc:Choice>
              <mc:Fallback>
                <p:oleObj name="Gráfico" r:id="rId5" imgW="10658551" imgH="6896100" progId="MSGraph.Chart.8">
                  <p:embed followColorScheme="full"/>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6100" y="3213100"/>
                        <a:ext cx="4110038" cy="2662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9511" name="Text Box 7"/>
          <p:cNvSpPr txBox="1">
            <a:spLocks noChangeArrowheads="1"/>
          </p:cNvSpPr>
          <p:nvPr/>
        </p:nvSpPr>
        <p:spPr bwMode="auto">
          <a:xfrm>
            <a:off x="2124075" y="1631950"/>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 730)</a:t>
            </a:r>
            <a:endParaRPr lang="es-ES" altLang="es-CL" b="1">
              <a:solidFill>
                <a:srgbClr val="FF9933"/>
              </a:solidFill>
            </a:endParaRPr>
          </a:p>
        </p:txBody>
      </p:sp>
      <p:sp>
        <p:nvSpPr>
          <p:cNvPr id="2069512" name="Text Box 8"/>
          <p:cNvSpPr txBox="1">
            <a:spLocks noChangeArrowheads="1"/>
          </p:cNvSpPr>
          <p:nvPr/>
        </p:nvSpPr>
        <p:spPr bwMode="auto">
          <a:xfrm>
            <a:off x="6019800" y="335756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 720)</a:t>
            </a:r>
            <a:endParaRPr lang="es-ES" altLang="es-CL" b="1">
              <a:solidFill>
                <a:srgbClr val="FF9933"/>
              </a:solidFill>
            </a:endParaRPr>
          </a:p>
        </p:txBody>
      </p:sp>
      <p:sp>
        <p:nvSpPr>
          <p:cNvPr id="2069513" name="Text Box 9"/>
          <p:cNvSpPr txBox="1">
            <a:spLocks noChangeArrowheads="1"/>
          </p:cNvSpPr>
          <p:nvPr/>
        </p:nvSpPr>
        <p:spPr bwMode="auto">
          <a:xfrm>
            <a:off x="1763713" y="203835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69514" name="Text Box 10"/>
          <p:cNvSpPr txBox="1">
            <a:spLocks noChangeArrowheads="1"/>
          </p:cNvSpPr>
          <p:nvPr/>
        </p:nvSpPr>
        <p:spPr bwMode="auto">
          <a:xfrm>
            <a:off x="5651500" y="371633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69515" name="Text Box 11"/>
          <p:cNvSpPr txBox="1">
            <a:spLocks noChangeArrowheads="1"/>
          </p:cNvSpPr>
          <p:nvPr/>
        </p:nvSpPr>
        <p:spPr bwMode="auto">
          <a:xfrm>
            <a:off x="5003800" y="6381750"/>
            <a:ext cx="345757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s-ES_tradnl" altLang="es-CL" sz="1400">
                <a:solidFill>
                  <a:srgbClr val="FF3300"/>
                </a:solidFill>
              </a:rPr>
              <a:t>* Diferencia significativa</a:t>
            </a:r>
          </a:p>
        </p:txBody>
      </p:sp>
    </p:spTree>
  </p:cSld>
  <p:clrMapOvr>
    <a:masterClrMapping/>
  </p:clrMapOvr>
  <p:transition>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70536" name="Object 8"/>
          <p:cNvGraphicFramePr>
            <a:graphicFrameLocks noChangeAspect="1"/>
          </p:cNvGraphicFramePr>
          <p:nvPr/>
        </p:nvGraphicFramePr>
        <p:xfrm>
          <a:off x="3995738" y="3141663"/>
          <a:ext cx="4953000" cy="3208337"/>
        </p:xfrm>
        <a:graphic>
          <a:graphicData uri="http://schemas.openxmlformats.org/presentationml/2006/ole">
            <mc:AlternateContent xmlns:mc="http://schemas.openxmlformats.org/markup-compatibility/2006">
              <mc:Choice xmlns:v="urn:schemas-microsoft-com:vml" Requires="v">
                <p:oleObj spid="_x0000_s2070544" name="Gráfico" r:id="rId3" imgW="10649102" imgH="6905549" progId="MSGraph.Chart.8">
                  <p:embed followColorScheme="full"/>
                </p:oleObj>
              </mc:Choice>
              <mc:Fallback>
                <p:oleObj name="Gráfico" r:id="rId3" imgW="10649102" imgH="6905549" progId="MSGraph.Chart.8">
                  <p:embed followColorScheme="full"/>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3141663"/>
                        <a:ext cx="4953000" cy="3208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0538" name="Text Box 10"/>
          <p:cNvSpPr txBox="1">
            <a:spLocks noChangeArrowheads="1"/>
          </p:cNvSpPr>
          <p:nvPr/>
        </p:nvSpPr>
        <p:spPr bwMode="auto">
          <a:xfrm>
            <a:off x="5532438" y="38576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graphicFrame>
        <p:nvGraphicFramePr>
          <p:cNvPr id="2070530" name="Object 2"/>
          <p:cNvGraphicFramePr>
            <a:graphicFrameLocks noChangeAspect="1"/>
          </p:cNvGraphicFramePr>
          <p:nvPr/>
        </p:nvGraphicFramePr>
        <p:xfrm>
          <a:off x="381000" y="982663"/>
          <a:ext cx="4953000" cy="3208337"/>
        </p:xfrm>
        <a:graphic>
          <a:graphicData uri="http://schemas.openxmlformats.org/presentationml/2006/ole">
            <mc:AlternateContent xmlns:mc="http://schemas.openxmlformats.org/markup-compatibility/2006">
              <mc:Choice xmlns:v="urn:schemas-microsoft-com:vml" Requires="v">
                <p:oleObj spid="_x0000_s2070545" name="Gráfico" r:id="rId5" imgW="10649102" imgH="6905549" progId="MSGraph.Chart.8">
                  <p:embed followColorScheme="full"/>
                </p:oleObj>
              </mc:Choice>
              <mc:Fallback>
                <p:oleObj name="Gráfico" r:id="rId5" imgW="10649102" imgH="6905549" progId="MSGraph.Chart.8">
                  <p:embed followColorScheme="full"/>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982663"/>
                        <a:ext cx="4953000" cy="3208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0531"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0532" name="Rectangle 4"/>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SITUACIÓN DE ÚLTIMO CONTACTO CON CARABINERO</a:t>
            </a:r>
          </a:p>
        </p:txBody>
      </p:sp>
      <p:sp>
        <p:nvSpPr>
          <p:cNvPr id="2070533"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¿La última vez que usted tomó contacto con Carabineros esto aconteció...? </a:t>
            </a:r>
            <a:endParaRPr lang="es-ES" altLang="es-CL" sz="1400">
              <a:solidFill>
                <a:srgbClr val="000099"/>
              </a:solidFill>
              <a:latin typeface="Arial Narrow" pitchFamily="34" charset="0"/>
            </a:endParaRPr>
          </a:p>
        </p:txBody>
      </p:sp>
      <p:sp>
        <p:nvSpPr>
          <p:cNvPr id="2070534" name="Text Box 6"/>
          <p:cNvSpPr txBox="1">
            <a:spLocks noChangeArrowheads="1"/>
          </p:cNvSpPr>
          <p:nvPr/>
        </p:nvSpPr>
        <p:spPr bwMode="auto">
          <a:xfrm>
            <a:off x="2362200" y="1447800"/>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(B:5544)</a:t>
            </a:r>
            <a:endParaRPr lang="es-ES" altLang="es-CL" b="1">
              <a:solidFill>
                <a:srgbClr val="FF9933"/>
              </a:solidFill>
            </a:endParaRPr>
          </a:p>
        </p:txBody>
      </p:sp>
      <p:sp>
        <p:nvSpPr>
          <p:cNvPr id="2070535" name="Text Box 7"/>
          <p:cNvSpPr txBox="1">
            <a:spLocks noChangeArrowheads="1"/>
          </p:cNvSpPr>
          <p:nvPr/>
        </p:nvSpPr>
        <p:spPr bwMode="auto">
          <a:xfrm>
            <a:off x="5900738" y="359886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(B:6048)</a:t>
            </a:r>
            <a:endParaRPr lang="es-ES" altLang="es-CL" b="1">
              <a:solidFill>
                <a:srgbClr val="FF9933"/>
              </a:solidFill>
            </a:endParaRPr>
          </a:p>
        </p:txBody>
      </p:sp>
      <p:sp>
        <p:nvSpPr>
          <p:cNvPr id="2070537" name="Text Box 9"/>
          <p:cNvSpPr txBox="1">
            <a:spLocks noChangeArrowheads="1"/>
          </p:cNvSpPr>
          <p:nvPr/>
        </p:nvSpPr>
        <p:spPr bwMode="auto">
          <a:xfrm>
            <a:off x="1979613" y="169386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0539" name="Text Box 11"/>
          <p:cNvSpPr txBox="1">
            <a:spLocks noChangeArrowheads="1"/>
          </p:cNvSpPr>
          <p:nvPr/>
        </p:nvSpPr>
        <p:spPr bwMode="auto">
          <a:xfrm>
            <a:off x="5003800" y="6381750"/>
            <a:ext cx="345757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s-ES_tradnl" altLang="es-CL" sz="1400">
                <a:solidFill>
                  <a:srgbClr val="FF3300"/>
                </a:solidFill>
              </a:rPr>
              <a:t>* Diferencia significativa</a:t>
            </a:r>
          </a:p>
        </p:txBody>
      </p:sp>
      <p:sp>
        <p:nvSpPr>
          <p:cNvPr id="2070540" name="Text Box 12"/>
          <p:cNvSpPr txBox="1">
            <a:spLocks noChangeArrowheads="1"/>
          </p:cNvSpPr>
          <p:nvPr/>
        </p:nvSpPr>
        <p:spPr bwMode="auto">
          <a:xfrm>
            <a:off x="4284663" y="341471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0541" name="Text Box 13"/>
          <p:cNvSpPr txBox="1">
            <a:spLocks noChangeArrowheads="1"/>
          </p:cNvSpPr>
          <p:nvPr/>
        </p:nvSpPr>
        <p:spPr bwMode="auto">
          <a:xfrm>
            <a:off x="8459788" y="529431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1557" name="Rectangle 5"/>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1558" name="Rectangle 6"/>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SITUACIÓN DE ÚLTIMO CONTACTO CON CARABINERO</a:t>
            </a:r>
          </a:p>
        </p:txBody>
      </p:sp>
      <p:sp>
        <p:nvSpPr>
          <p:cNvPr id="2071559" name="Rectangle 7"/>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¿La última vez que usted tomó contacto con Carabineros esto aconteció...? Según Prefecturas.</a:t>
            </a:r>
            <a:endParaRPr lang="es-ES" altLang="es-CL" sz="1400">
              <a:solidFill>
                <a:srgbClr val="000099"/>
              </a:solidFill>
              <a:latin typeface="Arial Narrow" pitchFamily="34" charset="0"/>
            </a:endParaRPr>
          </a:p>
        </p:txBody>
      </p:sp>
      <p:grpSp>
        <p:nvGrpSpPr>
          <p:cNvPr id="2071562" name="Group 10"/>
          <p:cNvGrpSpPr>
            <a:grpSpLocks/>
          </p:cNvGrpSpPr>
          <p:nvPr/>
        </p:nvGrpSpPr>
        <p:grpSpPr bwMode="auto">
          <a:xfrm>
            <a:off x="5651500" y="5949950"/>
            <a:ext cx="2952750" cy="563563"/>
            <a:chOff x="3560" y="3838"/>
            <a:chExt cx="1860" cy="355"/>
          </a:xfrm>
        </p:grpSpPr>
        <p:sp>
          <p:nvSpPr>
            <p:cNvPr id="2071563" name="Rectangle 11"/>
            <p:cNvSpPr>
              <a:spLocks noChangeArrowheads="1"/>
            </p:cNvSpPr>
            <p:nvPr/>
          </p:nvSpPr>
          <p:spPr bwMode="auto">
            <a:xfrm>
              <a:off x="3560" y="4020"/>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71564" name="Text Box 12"/>
            <p:cNvSpPr txBox="1">
              <a:spLocks noChangeArrowheads="1"/>
            </p:cNvSpPr>
            <p:nvPr/>
          </p:nvSpPr>
          <p:spPr bwMode="auto">
            <a:xfrm>
              <a:off x="3780" y="4020"/>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2071565" name="Rectangle 13"/>
            <p:cNvSpPr>
              <a:spLocks noChangeArrowheads="1"/>
            </p:cNvSpPr>
            <p:nvPr/>
          </p:nvSpPr>
          <p:spPr bwMode="auto">
            <a:xfrm>
              <a:off x="3560" y="3838"/>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71566" name="Text Box 14"/>
            <p:cNvSpPr txBox="1">
              <a:spLocks noChangeArrowheads="1"/>
            </p:cNvSpPr>
            <p:nvPr/>
          </p:nvSpPr>
          <p:spPr bwMode="auto">
            <a:xfrm>
              <a:off x="3780" y="3838"/>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graphicFrame>
        <p:nvGraphicFramePr>
          <p:cNvPr id="2071568" name="Object 16"/>
          <p:cNvGraphicFramePr>
            <a:graphicFrameLocks noGrp="1" noChangeAspect="1"/>
          </p:cNvGraphicFramePr>
          <p:nvPr>
            <p:ph/>
          </p:nvPr>
        </p:nvGraphicFramePr>
        <p:xfrm>
          <a:off x="936625" y="1800225"/>
          <a:ext cx="7727950" cy="3241675"/>
        </p:xfrm>
        <a:graphic>
          <a:graphicData uri="http://schemas.openxmlformats.org/presentationml/2006/ole">
            <mc:AlternateContent xmlns:mc="http://schemas.openxmlformats.org/markup-compatibility/2006">
              <mc:Choice xmlns:v="urn:schemas-microsoft-com:vml" Requires="v">
                <p:oleObj spid="_x0000_s2071571" name="Hoja de cálculo" r:id="rId4" imgW="7629449" imgH="3200400" progId="Excel.Sheet.8">
                  <p:embed/>
                </p:oleObj>
              </mc:Choice>
              <mc:Fallback>
                <p:oleObj name="Hoja de cálculo" r:id="rId4" imgW="7629449" imgH="3200400" progId="Excel.Sheet.8">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625" y="1800225"/>
                        <a:ext cx="7727950" cy="324167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2583" name="Rectangle 7"/>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2584" name="Rectangle 8"/>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SITUACIÓN DE ÚLTIMO CONTACTO CON CARABINERO</a:t>
            </a:r>
          </a:p>
        </p:txBody>
      </p:sp>
      <p:sp>
        <p:nvSpPr>
          <p:cNvPr id="2072585" name="Rectangle 9"/>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¿La última vez que usted tomó contacto con Carabineros esto aconteció...? Según GSE, Sexo y Tramo Etareo</a:t>
            </a:r>
            <a:endParaRPr lang="es-ES" altLang="es-CL" sz="1400">
              <a:solidFill>
                <a:srgbClr val="000099"/>
              </a:solidFill>
              <a:latin typeface="Arial Narrow" pitchFamily="34" charset="0"/>
            </a:endParaRPr>
          </a:p>
        </p:txBody>
      </p:sp>
      <p:graphicFrame>
        <p:nvGraphicFramePr>
          <p:cNvPr id="2072589" name="Object 13"/>
          <p:cNvGraphicFramePr>
            <a:graphicFrameLocks noGrp="1" noChangeAspect="1"/>
          </p:cNvGraphicFramePr>
          <p:nvPr>
            <p:ph/>
          </p:nvPr>
        </p:nvGraphicFramePr>
        <p:xfrm>
          <a:off x="971550" y="1412875"/>
          <a:ext cx="7345363" cy="4386263"/>
        </p:xfrm>
        <a:graphic>
          <a:graphicData uri="http://schemas.openxmlformats.org/presentationml/2006/ole">
            <mc:AlternateContent xmlns:mc="http://schemas.openxmlformats.org/markup-compatibility/2006">
              <mc:Choice xmlns:v="urn:schemas-microsoft-com:vml" Requires="v">
                <p:oleObj spid="_x0000_s2072592" name="Hoja de cálculo" r:id="rId4" imgW="5201268" imgH="3104527" progId="Excel.Sheet.8">
                  <p:embed/>
                </p:oleObj>
              </mc:Choice>
              <mc:Fallback>
                <p:oleObj name="Hoja de cálculo" r:id="rId4" imgW="5201268" imgH="3104527" progId="Excel.Sheet.8">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1412875"/>
                        <a:ext cx="7345363" cy="4386263"/>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73602" name="Object 2"/>
          <p:cNvGraphicFramePr>
            <a:graphicFrameLocks noChangeAspect="1"/>
          </p:cNvGraphicFramePr>
          <p:nvPr/>
        </p:nvGraphicFramePr>
        <p:xfrm>
          <a:off x="3924300" y="3344863"/>
          <a:ext cx="4953000" cy="3208337"/>
        </p:xfrm>
        <a:graphic>
          <a:graphicData uri="http://schemas.openxmlformats.org/presentationml/2006/ole">
            <mc:AlternateContent xmlns:mc="http://schemas.openxmlformats.org/markup-compatibility/2006">
              <mc:Choice xmlns:v="urn:schemas-microsoft-com:vml" Requires="v">
                <p:oleObj spid="_x0000_s2073620" name="Gráfico" r:id="rId3" imgW="10658551" imgH="6896100" progId="MSGraph.Chart.8">
                  <p:embed followColorScheme="full"/>
                </p:oleObj>
              </mc:Choice>
              <mc:Fallback>
                <p:oleObj name="Gráfico" r:id="rId3" imgW="10658551" imgH="6896100"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3344863"/>
                        <a:ext cx="4953000" cy="3208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3603" name="Object 3"/>
          <p:cNvGraphicFramePr>
            <a:graphicFrameLocks noChangeAspect="1"/>
          </p:cNvGraphicFramePr>
          <p:nvPr/>
        </p:nvGraphicFramePr>
        <p:xfrm>
          <a:off x="415925" y="1143000"/>
          <a:ext cx="4876800" cy="3149600"/>
        </p:xfrm>
        <a:graphic>
          <a:graphicData uri="http://schemas.openxmlformats.org/presentationml/2006/ole">
            <mc:AlternateContent xmlns:mc="http://schemas.openxmlformats.org/markup-compatibility/2006">
              <mc:Choice xmlns:v="urn:schemas-microsoft-com:vml" Requires="v">
                <p:oleObj spid="_x0000_s2073621" name="Gráfico" r:id="rId5" imgW="10658551" imgH="6896100" progId="MSGraph.Chart.8">
                  <p:embed followColorScheme="full"/>
                </p:oleObj>
              </mc:Choice>
              <mc:Fallback>
                <p:oleObj name="Gráfico" r:id="rId5" imgW="10658551" imgH="6896100" progId="MSGraph.Chart.8">
                  <p:embed followColorScheme="full"/>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925" y="1143000"/>
                        <a:ext cx="4876800" cy="314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3604"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3605" name="Rectangle 5"/>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EXPECTATIVAS DE CONTACTO CON CARABINEROS</a:t>
            </a:r>
          </a:p>
        </p:txBody>
      </p:sp>
      <p:sp>
        <p:nvSpPr>
          <p:cNvPr id="2073606" name="Rectangle 6"/>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Cuando usted contactó a Carabineros ¿Qué fue lo que esperaba de ellos? </a:t>
            </a:r>
            <a:r>
              <a:rPr lang="es-ES" altLang="es-CL" sz="1400">
                <a:solidFill>
                  <a:srgbClr val="000099"/>
                </a:solidFill>
                <a:latin typeface="Arial Narrow" pitchFamily="34" charset="0"/>
              </a:rPr>
              <a:t>(B: </a:t>
            </a:r>
            <a:r>
              <a:rPr lang="es-ES_tradnl" altLang="es-CL" sz="1400">
                <a:solidFill>
                  <a:srgbClr val="000099"/>
                </a:solidFill>
                <a:latin typeface="Arial Narrow" pitchFamily="34" charset="0"/>
              </a:rPr>
              <a:t>Quienes han contactado a Carabineros alguna vez</a:t>
            </a:r>
            <a:r>
              <a:rPr lang="es-ES" altLang="es-CL" sz="1400">
                <a:solidFill>
                  <a:srgbClr val="000099"/>
                </a:solidFill>
                <a:latin typeface="Arial Narrow" pitchFamily="34" charset="0"/>
              </a:rPr>
              <a:t>)</a:t>
            </a:r>
          </a:p>
          <a:p>
            <a:pPr>
              <a:spcBef>
                <a:spcPct val="50000"/>
              </a:spcBef>
            </a:pPr>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73607" name="Text Box 7"/>
          <p:cNvSpPr txBox="1">
            <a:spLocks noChangeArrowheads="1"/>
          </p:cNvSpPr>
          <p:nvPr/>
        </p:nvSpPr>
        <p:spPr bwMode="auto">
          <a:xfrm>
            <a:off x="2362200" y="1447800"/>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(B:3893)</a:t>
            </a:r>
            <a:endParaRPr lang="es-ES" altLang="es-CL" b="1">
              <a:solidFill>
                <a:srgbClr val="FF9933"/>
              </a:solidFill>
            </a:endParaRPr>
          </a:p>
        </p:txBody>
      </p:sp>
      <p:sp>
        <p:nvSpPr>
          <p:cNvPr id="2073608" name="Text Box 8"/>
          <p:cNvSpPr txBox="1">
            <a:spLocks noChangeArrowheads="1"/>
          </p:cNvSpPr>
          <p:nvPr/>
        </p:nvSpPr>
        <p:spPr bwMode="auto">
          <a:xfrm>
            <a:off x="6156325" y="3213100"/>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(B:4287)</a:t>
            </a:r>
            <a:endParaRPr lang="es-ES" altLang="es-CL" b="1">
              <a:solidFill>
                <a:srgbClr val="FF9933"/>
              </a:solidFill>
            </a:endParaRPr>
          </a:p>
        </p:txBody>
      </p:sp>
      <p:sp>
        <p:nvSpPr>
          <p:cNvPr id="2073609" name="Text Box 9"/>
          <p:cNvSpPr txBox="1">
            <a:spLocks noChangeArrowheads="1"/>
          </p:cNvSpPr>
          <p:nvPr/>
        </p:nvSpPr>
        <p:spPr bwMode="auto">
          <a:xfrm>
            <a:off x="4356100" y="1916113"/>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3610" name="Text Box 10"/>
          <p:cNvSpPr txBox="1">
            <a:spLocks noChangeArrowheads="1"/>
          </p:cNvSpPr>
          <p:nvPr/>
        </p:nvSpPr>
        <p:spPr bwMode="auto">
          <a:xfrm>
            <a:off x="5651500" y="39338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3611" name="Text Box 11"/>
          <p:cNvSpPr txBox="1">
            <a:spLocks noChangeArrowheads="1"/>
          </p:cNvSpPr>
          <p:nvPr/>
        </p:nvSpPr>
        <p:spPr bwMode="auto">
          <a:xfrm>
            <a:off x="5003800" y="6381750"/>
            <a:ext cx="345757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s-ES_tradnl" altLang="es-CL" sz="1400">
                <a:solidFill>
                  <a:srgbClr val="FF3300"/>
                </a:solidFill>
              </a:rPr>
              <a:t>* Diferencia significativa</a:t>
            </a:r>
          </a:p>
        </p:txBody>
      </p:sp>
      <p:sp>
        <p:nvSpPr>
          <p:cNvPr id="2073612" name="Text Box 12"/>
          <p:cNvSpPr txBox="1">
            <a:spLocks noChangeArrowheads="1"/>
          </p:cNvSpPr>
          <p:nvPr/>
        </p:nvSpPr>
        <p:spPr bwMode="auto">
          <a:xfrm>
            <a:off x="1042988" y="29972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3613" name="Text Box 13"/>
          <p:cNvSpPr txBox="1">
            <a:spLocks noChangeArrowheads="1"/>
          </p:cNvSpPr>
          <p:nvPr/>
        </p:nvSpPr>
        <p:spPr bwMode="auto">
          <a:xfrm>
            <a:off x="5003800" y="558323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3614" name="Text Box 14"/>
          <p:cNvSpPr txBox="1">
            <a:spLocks noChangeArrowheads="1"/>
          </p:cNvSpPr>
          <p:nvPr/>
        </p:nvSpPr>
        <p:spPr bwMode="auto">
          <a:xfrm>
            <a:off x="4859338" y="284638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3615" name="Text Box 15"/>
          <p:cNvSpPr txBox="1">
            <a:spLocks noChangeArrowheads="1"/>
          </p:cNvSpPr>
          <p:nvPr/>
        </p:nvSpPr>
        <p:spPr bwMode="auto">
          <a:xfrm>
            <a:off x="4498975" y="3500438"/>
            <a:ext cx="2889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3616" name="Text Box 16"/>
          <p:cNvSpPr txBox="1">
            <a:spLocks noChangeArrowheads="1"/>
          </p:cNvSpPr>
          <p:nvPr/>
        </p:nvSpPr>
        <p:spPr bwMode="auto">
          <a:xfrm>
            <a:off x="8027988" y="40640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3617" name="Text Box 17"/>
          <p:cNvSpPr txBox="1">
            <a:spLocks noChangeArrowheads="1"/>
          </p:cNvSpPr>
          <p:nvPr/>
        </p:nvSpPr>
        <p:spPr bwMode="auto">
          <a:xfrm>
            <a:off x="8386763" y="47244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4628"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4629" name="Rectangle 5"/>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Cuando usted contactó a Carabineros ¿Qué fue lo que esperaba de ellos? </a:t>
            </a:r>
            <a:r>
              <a:rPr lang="es-ES" altLang="es-CL" sz="1400">
                <a:solidFill>
                  <a:srgbClr val="000099"/>
                </a:solidFill>
                <a:latin typeface="Arial Narrow" pitchFamily="34" charset="0"/>
              </a:rPr>
              <a:t>(B: </a:t>
            </a:r>
            <a:r>
              <a:rPr lang="es-ES_tradnl" altLang="es-CL" sz="1400">
                <a:solidFill>
                  <a:srgbClr val="000099"/>
                </a:solidFill>
                <a:latin typeface="Arial Narrow" pitchFamily="34" charset="0"/>
              </a:rPr>
              <a:t>Quienes han contactado a Carabineros alguna vez</a:t>
            </a:r>
            <a:r>
              <a:rPr lang="es-ES" altLang="es-CL" sz="1400">
                <a:solidFill>
                  <a:srgbClr val="000099"/>
                </a:solidFill>
                <a:latin typeface="Arial Narrow" pitchFamily="34" charset="0"/>
              </a:rPr>
              <a:t>) Según Prefectura.</a:t>
            </a:r>
          </a:p>
          <a:p>
            <a:pPr>
              <a:spcBef>
                <a:spcPct val="50000"/>
              </a:spcBef>
            </a:pPr>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74630" name="Rectangle 6"/>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EXPECTATIVAS DE CONTACTO CON CARABINEROS</a:t>
            </a:r>
          </a:p>
        </p:txBody>
      </p:sp>
      <p:graphicFrame>
        <p:nvGraphicFramePr>
          <p:cNvPr id="2074636" name="Object 12"/>
          <p:cNvGraphicFramePr>
            <a:graphicFrameLocks noGrp="1" noChangeAspect="1"/>
          </p:cNvGraphicFramePr>
          <p:nvPr>
            <p:ph/>
          </p:nvPr>
        </p:nvGraphicFramePr>
        <p:xfrm>
          <a:off x="609600" y="2060575"/>
          <a:ext cx="8345488" cy="2230438"/>
        </p:xfrm>
        <a:graphic>
          <a:graphicData uri="http://schemas.openxmlformats.org/presentationml/2006/ole">
            <mc:AlternateContent xmlns:mc="http://schemas.openxmlformats.org/markup-compatibility/2006">
              <mc:Choice xmlns:v="urn:schemas-microsoft-com:vml" Requires="v">
                <p:oleObj spid="_x0000_s2074644" name="Hoja de cálculo" r:id="rId4" imgW="9267749" imgH="2476500" progId="Excel.Sheet.8">
                  <p:embed/>
                </p:oleObj>
              </mc:Choice>
              <mc:Fallback>
                <p:oleObj name="Hoja de cálculo" r:id="rId4" imgW="9267749" imgH="2476500" progId="Excel.Sheet.8">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2060575"/>
                        <a:ext cx="8345488" cy="2230438"/>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grpSp>
        <p:nvGrpSpPr>
          <p:cNvPr id="2074638" name="Group 14"/>
          <p:cNvGrpSpPr>
            <a:grpSpLocks/>
          </p:cNvGrpSpPr>
          <p:nvPr/>
        </p:nvGrpSpPr>
        <p:grpSpPr bwMode="auto">
          <a:xfrm>
            <a:off x="5651500" y="5589588"/>
            <a:ext cx="2952750" cy="563562"/>
            <a:chOff x="3560" y="3838"/>
            <a:chExt cx="1860" cy="355"/>
          </a:xfrm>
        </p:grpSpPr>
        <p:sp>
          <p:nvSpPr>
            <p:cNvPr id="2074639" name="Rectangle 15"/>
            <p:cNvSpPr>
              <a:spLocks noChangeArrowheads="1"/>
            </p:cNvSpPr>
            <p:nvPr/>
          </p:nvSpPr>
          <p:spPr bwMode="auto">
            <a:xfrm>
              <a:off x="3560" y="4020"/>
              <a:ext cx="227" cy="136"/>
            </a:xfrm>
            <a:prstGeom prst="rect">
              <a:avLst/>
            </a:prstGeom>
            <a:solidFill>
              <a:srgbClr val="CCFFCC"/>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74640" name="Text Box 16"/>
            <p:cNvSpPr txBox="1">
              <a:spLocks noChangeArrowheads="1"/>
            </p:cNvSpPr>
            <p:nvPr/>
          </p:nvSpPr>
          <p:spPr bwMode="auto">
            <a:xfrm>
              <a:off x="3780" y="4020"/>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Bajó significativamente</a:t>
              </a:r>
              <a:r>
                <a:rPr lang="es-ES_tradnl" altLang="es-CL"/>
                <a:t> </a:t>
              </a:r>
              <a:r>
                <a:rPr lang="es-ES_tradnl" altLang="es-CL">
                  <a:solidFill>
                    <a:srgbClr val="FF3300"/>
                  </a:solidFill>
                </a:rPr>
                <a:t>respecto del 2003</a:t>
              </a:r>
              <a:endParaRPr lang="es-ES" altLang="es-CL">
                <a:solidFill>
                  <a:srgbClr val="FF3300"/>
                </a:solidFill>
              </a:endParaRPr>
            </a:p>
          </p:txBody>
        </p:sp>
        <p:sp>
          <p:nvSpPr>
            <p:cNvPr id="2074641" name="Rectangle 17"/>
            <p:cNvSpPr>
              <a:spLocks noChangeArrowheads="1"/>
            </p:cNvSpPr>
            <p:nvPr/>
          </p:nvSpPr>
          <p:spPr bwMode="auto">
            <a:xfrm>
              <a:off x="3560" y="3838"/>
              <a:ext cx="227" cy="136"/>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s-CL"/>
            </a:p>
          </p:txBody>
        </p:sp>
        <p:sp>
          <p:nvSpPr>
            <p:cNvPr id="2074642" name="Text Box 18"/>
            <p:cNvSpPr txBox="1">
              <a:spLocks noChangeArrowheads="1"/>
            </p:cNvSpPr>
            <p:nvPr/>
          </p:nvSpPr>
          <p:spPr bwMode="auto">
            <a:xfrm>
              <a:off x="3780" y="3838"/>
              <a:ext cx="16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s-ES_tradnl" altLang="es-CL">
                  <a:solidFill>
                    <a:srgbClr val="FF3300"/>
                  </a:solidFill>
                </a:rPr>
                <a:t>Subió significativamente respecto del 2003</a:t>
              </a:r>
              <a:endParaRPr lang="es-ES" altLang="es-CL">
                <a:solidFill>
                  <a:srgbClr val="FF3300"/>
                </a:solidFill>
              </a:endParaRPr>
            </a:p>
          </p:txBody>
        </p:sp>
      </p:grpSp>
    </p:spTree>
  </p:cSld>
  <p:clrMapOvr>
    <a:masterClrMapping/>
  </p:clrMapOvr>
  <p:transition>
    <p:rand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5655" name="Rectangle 7"/>
          <p:cNvSpPr>
            <a:spLocks noChangeArrowheads="1"/>
          </p:cNvSpPr>
          <p:nvPr/>
        </p:nvSpPr>
        <p:spPr bwMode="auto">
          <a:xfrm>
            <a:off x="609600" y="9144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Cuando usted contactó a Carabineros ¿Qué fue lo que esperaba de ellos? </a:t>
            </a:r>
            <a:r>
              <a:rPr lang="es-ES" altLang="es-CL" sz="1400">
                <a:solidFill>
                  <a:srgbClr val="000099"/>
                </a:solidFill>
                <a:latin typeface="Arial Narrow" pitchFamily="34" charset="0"/>
              </a:rPr>
              <a:t>(B:</a:t>
            </a:r>
            <a:r>
              <a:rPr lang="es-ES_tradnl" altLang="es-CL" sz="1400">
                <a:solidFill>
                  <a:srgbClr val="000099"/>
                </a:solidFill>
                <a:latin typeface="Arial Narrow" pitchFamily="34" charset="0"/>
              </a:rPr>
              <a:t> Quienes han contactado a Carabineros alguna vez</a:t>
            </a:r>
            <a:r>
              <a:rPr lang="es-ES" altLang="es-CL" sz="1400">
                <a:solidFill>
                  <a:srgbClr val="000099"/>
                </a:solidFill>
                <a:latin typeface="Arial Narrow" pitchFamily="34" charset="0"/>
              </a:rPr>
              <a:t>) Según GSE, Sexo y Tramo Etareo.</a:t>
            </a:r>
          </a:p>
          <a:p>
            <a:pPr>
              <a:spcBef>
                <a:spcPct val="50000"/>
              </a:spcBef>
            </a:pPr>
            <a:r>
              <a:rPr lang="es-ES_tradnl" altLang="es-CL" sz="1400">
                <a:solidFill>
                  <a:srgbClr val="000099"/>
                </a:solidFill>
                <a:latin typeface="Arial Narrow" pitchFamily="34" charset="0"/>
              </a:rPr>
              <a:t> </a:t>
            </a:r>
            <a:endParaRPr lang="es-ES" altLang="es-CL" sz="1400">
              <a:solidFill>
                <a:srgbClr val="000099"/>
              </a:solidFill>
              <a:latin typeface="Arial Narrow" pitchFamily="34" charset="0"/>
            </a:endParaRPr>
          </a:p>
        </p:txBody>
      </p:sp>
      <p:sp>
        <p:nvSpPr>
          <p:cNvPr id="2075656" name="Rectangle 8"/>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5657" name="Rectangle 9"/>
          <p:cNvSpPr>
            <a:spLocks noChangeArrowheads="1"/>
          </p:cNvSpPr>
          <p:nvPr/>
        </p:nvSpPr>
        <p:spPr bwMode="auto">
          <a:xfrm>
            <a:off x="609600" y="609600"/>
            <a:ext cx="571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EXPECTATIVAS DE CONTACTO CON CARABINEROS</a:t>
            </a:r>
          </a:p>
        </p:txBody>
      </p:sp>
      <p:graphicFrame>
        <p:nvGraphicFramePr>
          <p:cNvPr id="2075661" name="Object 13"/>
          <p:cNvGraphicFramePr>
            <a:graphicFrameLocks noGrp="1" noChangeAspect="1"/>
          </p:cNvGraphicFramePr>
          <p:nvPr>
            <p:ph/>
          </p:nvPr>
        </p:nvGraphicFramePr>
        <p:xfrm>
          <a:off x="1063625" y="1916113"/>
          <a:ext cx="7302500" cy="3863975"/>
        </p:xfrm>
        <a:graphic>
          <a:graphicData uri="http://schemas.openxmlformats.org/presentationml/2006/ole">
            <mc:AlternateContent xmlns:mc="http://schemas.openxmlformats.org/markup-compatibility/2006">
              <mc:Choice xmlns:v="urn:schemas-microsoft-com:vml" Requires="v">
                <p:oleObj spid="_x0000_s2075664" name="Hoja de cálculo" r:id="rId4" imgW="5400751" imgH="2857500" progId="Excel.Sheet.8">
                  <p:embed/>
                </p:oleObj>
              </mc:Choice>
              <mc:Fallback>
                <p:oleObj name="Hoja de cálculo" r:id="rId4" imgW="5400751" imgH="2857500" progId="Excel.Sheet.8">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3625" y="1916113"/>
                        <a:ext cx="7302500" cy="3863975"/>
                      </a:xfrm>
                      <a:prstGeom prst="rect">
                        <a:avLst/>
                      </a:prstGeom>
                      <a:noFill/>
                      <a:ln>
                        <a:noFill/>
                      </a:ln>
                      <a:effectLst>
                        <a:outerShdw dist="107763" dir="2700000" algn="ctr" rotWithShape="0">
                          <a:srgbClr val="808080">
                            <a:alpha val="50000"/>
                          </a:srgb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solidFill>
                              <a:srgbClr val="000000"/>
                            </a:solidFill>
                            <a:prstDash val="solid"/>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76674" name="Object 2"/>
          <p:cNvGraphicFramePr>
            <a:graphicFrameLocks noChangeAspect="1"/>
          </p:cNvGraphicFramePr>
          <p:nvPr/>
        </p:nvGraphicFramePr>
        <p:xfrm>
          <a:off x="-427038" y="1654175"/>
          <a:ext cx="5791201" cy="4891088"/>
        </p:xfrm>
        <a:graphic>
          <a:graphicData uri="http://schemas.openxmlformats.org/presentationml/2006/ole">
            <mc:AlternateContent xmlns:mc="http://schemas.openxmlformats.org/markup-compatibility/2006">
              <mc:Choice xmlns:v="urn:schemas-microsoft-com:vml" Requires="v">
                <p:oleObj spid="_x0000_s2076695" name="Gráfico" r:id="rId3" imgW="7753502" imgH="6553200" progId="MSGraph.Chart.8">
                  <p:embed followColorScheme="full"/>
                </p:oleObj>
              </mc:Choice>
              <mc:Fallback>
                <p:oleObj name="Gráfico" r:id="rId3" imgW="7753502" imgH="6553200" progId="MSGraph.Chart.8">
                  <p:embed followColorScheme="full"/>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38" y="1654175"/>
                        <a:ext cx="5791201" cy="489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6675"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6676" name="Rectangle 4"/>
          <p:cNvSpPr>
            <a:spLocks noChangeArrowheads="1"/>
          </p:cNvSpPr>
          <p:nvPr/>
        </p:nvSpPr>
        <p:spPr bwMode="auto">
          <a:xfrm>
            <a:off x="609600" y="609600"/>
            <a:ext cx="6934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RECOMENDACIONES PARA MEJORAR SERVICIO A LA COMUNIDAD</a:t>
            </a:r>
          </a:p>
        </p:txBody>
      </p:sp>
      <p:sp>
        <p:nvSpPr>
          <p:cNvPr id="2076677" name="Rectangle 5"/>
          <p:cNvSpPr>
            <a:spLocks noChangeArrowheads="1"/>
          </p:cNvSpPr>
          <p:nvPr/>
        </p:nvSpPr>
        <p:spPr bwMode="auto">
          <a:xfrm>
            <a:off x="609600" y="914400"/>
            <a:ext cx="822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¿Qué piensa que debe hacer Carabineros para mejorar el servicio a la comunidad?</a:t>
            </a:r>
            <a:endParaRPr lang="es-ES" altLang="es-CL" sz="1400">
              <a:solidFill>
                <a:srgbClr val="000099"/>
              </a:solidFill>
              <a:latin typeface="Arial Narrow" pitchFamily="34" charset="0"/>
            </a:endParaRPr>
          </a:p>
        </p:txBody>
      </p:sp>
      <p:sp>
        <p:nvSpPr>
          <p:cNvPr id="2076679" name="Text Box 7"/>
          <p:cNvSpPr txBox="1">
            <a:spLocks noChangeArrowheads="1"/>
          </p:cNvSpPr>
          <p:nvPr/>
        </p:nvSpPr>
        <p:spPr bwMode="auto">
          <a:xfrm>
            <a:off x="1828800" y="1412875"/>
            <a:ext cx="1295400" cy="284163"/>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2003 (B:5544)</a:t>
            </a:r>
            <a:endParaRPr lang="es-ES" altLang="es-CL" b="1">
              <a:solidFill>
                <a:srgbClr val="FF9933"/>
              </a:solidFill>
            </a:endParaRPr>
          </a:p>
        </p:txBody>
      </p:sp>
      <p:sp>
        <p:nvSpPr>
          <p:cNvPr id="2076680" name="Text Box 8"/>
          <p:cNvSpPr txBox="1">
            <a:spLocks noChangeArrowheads="1"/>
          </p:cNvSpPr>
          <p:nvPr/>
        </p:nvSpPr>
        <p:spPr bwMode="auto">
          <a:xfrm>
            <a:off x="5943600" y="1414463"/>
            <a:ext cx="1295400" cy="284162"/>
          </a:xfrm>
          <a:prstGeom prst="rect">
            <a:avLst/>
          </a:prstGeom>
          <a:noFill/>
          <a:ln w="9525">
            <a:solidFill>
              <a:srgbClr val="FF66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MX" altLang="es-CL" b="1">
                <a:solidFill>
                  <a:srgbClr val="FF9933"/>
                </a:solidFill>
              </a:rPr>
              <a:t>2005 (B:6048)</a:t>
            </a:r>
            <a:endParaRPr lang="es-ES" altLang="es-CL" b="1">
              <a:solidFill>
                <a:srgbClr val="FF9933"/>
              </a:solidFill>
            </a:endParaRPr>
          </a:p>
        </p:txBody>
      </p:sp>
      <p:graphicFrame>
        <p:nvGraphicFramePr>
          <p:cNvPr id="2076681" name="Object 9"/>
          <p:cNvGraphicFramePr>
            <a:graphicFrameLocks noGrp="1" noChangeAspect="1"/>
          </p:cNvGraphicFramePr>
          <p:nvPr>
            <p:ph/>
          </p:nvPr>
        </p:nvGraphicFramePr>
        <p:xfrm>
          <a:off x="3100388" y="1641475"/>
          <a:ext cx="5864225" cy="4956175"/>
        </p:xfrm>
        <a:graphic>
          <a:graphicData uri="http://schemas.openxmlformats.org/presentationml/2006/ole">
            <mc:AlternateContent xmlns:mc="http://schemas.openxmlformats.org/markup-compatibility/2006">
              <mc:Choice xmlns:v="urn:schemas-microsoft-com:vml" Requires="v">
                <p:oleObj spid="_x0000_s2076696" name="Gráfico" r:id="rId5" imgW="7753502" imgH="6553200" progId="MSGraph.Chart.8">
                  <p:embed followColorScheme="full"/>
                </p:oleObj>
              </mc:Choice>
              <mc:Fallback>
                <p:oleObj name="Gráfico" r:id="rId5" imgW="7753502" imgH="6553200" progId="MSGraph.Chart.8">
                  <p:embed followColorScheme="full"/>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0388" y="1641475"/>
                        <a:ext cx="5864225" cy="4956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6683" name="Text Box 11"/>
          <p:cNvSpPr txBox="1">
            <a:spLocks noChangeArrowheads="1"/>
          </p:cNvSpPr>
          <p:nvPr/>
        </p:nvSpPr>
        <p:spPr bwMode="auto">
          <a:xfrm>
            <a:off x="3419475" y="227012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6684" name="Text Box 12"/>
          <p:cNvSpPr txBox="1">
            <a:spLocks noChangeArrowheads="1"/>
          </p:cNvSpPr>
          <p:nvPr/>
        </p:nvSpPr>
        <p:spPr bwMode="auto">
          <a:xfrm>
            <a:off x="6877050" y="2276475"/>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6685" name="Text Box 13"/>
          <p:cNvSpPr txBox="1">
            <a:spLocks noChangeArrowheads="1"/>
          </p:cNvSpPr>
          <p:nvPr/>
        </p:nvSpPr>
        <p:spPr bwMode="auto">
          <a:xfrm>
            <a:off x="5003800" y="6508750"/>
            <a:ext cx="345757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r">
              <a:spcBef>
                <a:spcPct val="50000"/>
              </a:spcBef>
            </a:pPr>
            <a:r>
              <a:rPr lang="es-ES_tradnl" altLang="es-CL" sz="1400">
                <a:solidFill>
                  <a:srgbClr val="FF3300"/>
                </a:solidFill>
              </a:rPr>
              <a:t>* Diferencia significativa</a:t>
            </a:r>
          </a:p>
        </p:txBody>
      </p:sp>
      <p:sp>
        <p:nvSpPr>
          <p:cNvPr id="2076686" name="Text Box 14"/>
          <p:cNvSpPr txBox="1">
            <a:spLocks noChangeArrowheads="1"/>
          </p:cNvSpPr>
          <p:nvPr/>
        </p:nvSpPr>
        <p:spPr bwMode="auto">
          <a:xfrm>
            <a:off x="3059113" y="320675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6687" name="Text Box 15"/>
          <p:cNvSpPr txBox="1">
            <a:spLocks noChangeArrowheads="1"/>
          </p:cNvSpPr>
          <p:nvPr/>
        </p:nvSpPr>
        <p:spPr bwMode="auto">
          <a:xfrm>
            <a:off x="6443663" y="451485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6688" name="Text Box 16"/>
          <p:cNvSpPr txBox="1">
            <a:spLocks noChangeArrowheads="1"/>
          </p:cNvSpPr>
          <p:nvPr/>
        </p:nvSpPr>
        <p:spPr bwMode="auto">
          <a:xfrm>
            <a:off x="2843213" y="450850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
        <p:nvSpPr>
          <p:cNvPr id="2076689" name="Text Box 17"/>
          <p:cNvSpPr txBox="1">
            <a:spLocks noChangeArrowheads="1"/>
          </p:cNvSpPr>
          <p:nvPr/>
        </p:nvSpPr>
        <p:spPr bwMode="auto">
          <a:xfrm>
            <a:off x="6443663" y="4070350"/>
            <a:ext cx="2889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s-ES_tradnl" altLang="es-CL" sz="1800">
                <a:solidFill>
                  <a:srgbClr val="FF3300"/>
                </a:solidFill>
              </a:rPr>
              <a:t>*</a:t>
            </a:r>
          </a:p>
        </p:txBody>
      </p:sp>
    </p:spTree>
  </p:cSld>
  <p:clrMapOvr>
    <a:masterClrMapping/>
  </p:clrMapOvr>
  <p:transition>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77703" name="Object 7"/>
          <p:cNvGraphicFramePr>
            <a:graphicFrameLocks noChangeAspect="1"/>
          </p:cNvGraphicFramePr>
          <p:nvPr/>
        </p:nvGraphicFramePr>
        <p:xfrm>
          <a:off x="152400" y="1557338"/>
          <a:ext cx="8964613" cy="5014912"/>
        </p:xfrm>
        <a:graphic>
          <a:graphicData uri="http://schemas.openxmlformats.org/presentationml/2006/ole">
            <mc:AlternateContent xmlns:mc="http://schemas.openxmlformats.org/markup-compatibility/2006">
              <mc:Choice xmlns:v="urn:schemas-microsoft-com:vml" Requires="v">
                <p:oleObj spid="_x0000_s2077709" name="Gráfico" r:id="rId3" imgW="8334451" imgH="4676851" progId="MSGraph.Chart.8">
                  <p:embed followColorScheme="full"/>
                </p:oleObj>
              </mc:Choice>
              <mc:Fallback>
                <p:oleObj name="Gráfico" r:id="rId3" imgW="8334451" imgH="4676851" progId="MSGraph.Chart.8">
                  <p:embed followColorScheme="full"/>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557338"/>
                        <a:ext cx="8964613" cy="5014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7704" name="Object 8"/>
          <p:cNvGraphicFramePr>
            <a:graphicFrameLocks noChangeAspect="1"/>
          </p:cNvGraphicFramePr>
          <p:nvPr/>
        </p:nvGraphicFramePr>
        <p:xfrm>
          <a:off x="103188" y="-361950"/>
          <a:ext cx="8964612" cy="5014913"/>
        </p:xfrm>
        <a:graphic>
          <a:graphicData uri="http://schemas.openxmlformats.org/presentationml/2006/ole">
            <mc:AlternateContent xmlns:mc="http://schemas.openxmlformats.org/markup-compatibility/2006">
              <mc:Choice xmlns:v="urn:schemas-microsoft-com:vml" Requires="v">
                <p:oleObj spid="_x0000_s2077710" name="Gráfico" r:id="rId5" imgW="8334451" imgH="4676851" progId="MSGraph.Chart.8">
                  <p:embed followColorScheme="full"/>
                </p:oleObj>
              </mc:Choice>
              <mc:Fallback>
                <p:oleObj name="Gráfico" r:id="rId5" imgW="8334451" imgH="4676851" progId="MSGraph.Chart.8">
                  <p:embed followColorScheme="full"/>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88" y="-361950"/>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7698"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7699" name="Rectangle 3"/>
          <p:cNvSpPr>
            <a:spLocks noChangeArrowheads="1"/>
          </p:cNvSpPr>
          <p:nvPr/>
        </p:nvSpPr>
        <p:spPr bwMode="auto">
          <a:xfrm>
            <a:off x="609600" y="609600"/>
            <a:ext cx="6934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RECOMENDACIONES PARA MEJORAR SERVICIO A LA COMUNIDAD</a:t>
            </a:r>
          </a:p>
        </p:txBody>
      </p:sp>
      <p:sp>
        <p:nvSpPr>
          <p:cNvPr id="2077700" name="Rectangle 4"/>
          <p:cNvSpPr>
            <a:spLocks noChangeArrowheads="1"/>
          </p:cNvSpPr>
          <p:nvPr/>
        </p:nvSpPr>
        <p:spPr bwMode="auto">
          <a:xfrm>
            <a:off x="609600" y="914400"/>
            <a:ext cx="822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¿Qué piensa que debe hacer Carabineros para mejorar el servicio a la comunidad?. Según Prefecturas.</a:t>
            </a:r>
            <a:endParaRPr lang="es-ES" altLang="es-CL" sz="1400">
              <a:solidFill>
                <a:srgbClr val="000099"/>
              </a:solidFill>
              <a:latin typeface="Arial Narrow" pitchFamily="34" charset="0"/>
            </a:endParaRPr>
          </a:p>
        </p:txBody>
      </p:sp>
      <p:sp>
        <p:nvSpPr>
          <p:cNvPr id="2077705" name="Text Box 9"/>
          <p:cNvSpPr txBox="1">
            <a:spLocks noChangeArrowheads="1"/>
          </p:cNvSpPr>
          <p:nvPr/>
        </p:nvSpPr>
        <p:spPr bwMode="auto">
          <a:xfrm>
            <a:off x="3581400" y="1530350"/>
            <a:ext cx="22098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PREFECTURA</a:t>
            </a:r>
            <a:r>
              <a:rPr lang="es-MX" altLang="es-CL" b="1">
                <a:solidFill>
                  <a:srgbClr val="FF9933"/>
                </a:solidFill>
                <a:latin typeface="Arial" charset="0"/>
              </a:rPr>
              <a:t> 2005</a:t>
            </a:r>
            <a:endParaRPr lang="es-ES" altLang="es-CL" b="1">
              <a:solidFill>
                <a:srgbClr val="FF9933"/>
              </a:solidFill>
              <a:latin typeface="Arial" charset="0"/>
            </a:endParaRPr>
          </a:p>
        </p:txBody>
      </p:sp>
      <p:sp>
        <p:nvSpPr>
          <p:cNvPr id="2077706" name="Rectangle 10"/>
          <p:cNvSpPr>
            <a:spLocks noChangeArrowheads="1"/>
          </p:cNvSpPr>
          <p:nvPr/>
        </p:nvSpPr>
        <p:spPr bwMode="auto">
          <a:xfrm>
            <a:off x="7235825" y="6394450"/>
            <a:ext cx="1433513"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ES" altLang="es-CL">
                <a:solidFill>
                  <a:srgbClr val="000099"/>
                </a:solidFill>
              </a:rPr>
              <a:t>Principales Menciones</a:t>
            </a:r>
            <a:endParaRPr lang="es-ES_tradnl" altLang="es-CL">
              <a:solidFill>
                <a:srgbClr val="000099"/>
              </a:solidFill>
            </a:endParaRPr>
          </a:p>
        </p:txBody>
      </p:sp>
    </p:spTree>
  </p:cSld>
  <p:clrMapOvr>
    <a:masterClrMapping/>
  </p:clrMapOvr>
  <p:transition>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25" name="Rectangle 5"/>
          <p:cNvSpPr>
            <a:spLocks noChangeArrowheads="1"/>
          </p:cNvSpPr>
          <p:nvPr/>
        </p:nvSpPr>
        <p:spPr bwMode="auto">
          <a:xfrm>
            <a:off x="755650" y="4030663"/>
            <a:ext cx="2736850" cy="1657350"/>
          </a:xfrm>
          <a:prstGeom prst="rect">
            <a:avLst/>
          </a:prstGeom>
          <a:solidFill>
            <a:srgbClr val="FFFFCC">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sp>
        <p:nvSpPr>
          <p:cNvPr id="2078726" name="Rectangle 6"/>
          <p:cNvSpPr>
            <a:spLocks noChangeArrowheads="1"/>
          </p:cNvSpPr>
          <p:nvPr/>
        </p:nvSpPr>
        <p:spPr bwMode="auto">
          <a:xfrm>
            <a:off x="3490913" y="4030663"/>
            <a:ext cx="5329237" cy="1657350"/>
          </a:xfrm>
          <a:prstGeom prst="rect">
            <a:avLst/>
          </a:prstGeom>
          <a:solidFill>
            <a:srgbClr val="FFCC99">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78727" name="Object 7"/>
          <p:cNvGraphicFramePr>
            <a:graphicFrameLocks noChangeAspect="1"/>
          </p:cNvGraphicFramePr>
          <p:nvPr/>
        </p:nvGraphicFramePr>
        <p:xfrm>
          <a:off x="152400" y="1727200"/>
          <a:ext cx="8964613" cy="5014913"/>
        </p:xfrm>
        <a:graphic>
          <a:graphicData uri="http://schemas.openxmlformats.org/presentationml/2006/ole">
            <mc:AlternateContent xmlns:mc="http://schemas.openxmlformats.org/markup-compatibility/2006">
              <mc:Choice xmlns:v="urn:schemas-microsoft-com:vml" Requires="v">
                <p:oleObj spid="_x0000_s2078736" name="Gráfico" r:id="rId3" imgW="8334451" imgH="4676851" progId="MSGraph.Chart.8">
                  <p:embed followColorScheme="full"/>
                </p:oleObj>
              </mc:Choice>
              <mc:Fallback>
                <p:oleObj name="Gráfico" r:id="rId3" imgW="8334451" imgH="4676851" progId="MSGraph.Chart.8">
                  <p:embed followColorScheme="full"/>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727200"/>
                        <a:ext cx="8964613"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8728" name="Rectangle 8"/>
          <p:cNvSpPr>
            <a:spLocks noChangeArrowheads="1"/>
          </p:cNvSpPr>
          <p:nvPr/>
        </p:nvSpPr>
        <p:spPr bwMode="auto">
          <a:xfrm>
            <a:off x="755650" y="1906588"/>
            <a:ext cx="8137525" cy="1524000"/>
          </a:xfrm>
          <a:prstGeom prst="rect">
            <a:avLst/>
          </a:prstGeom>
          <a:solidFill>
            <a:srgbClr val="99CCFF">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L"/>
          </a:p>
        </p:txBody>
      </p:sp>
      <p:graphicFrame>
        <p:nvGraphicFramePr>
          <p:cNvPr id="2078729" name="Object 9"/>
          <p:cNvGraphicFramePr>
            <a:graphicFrameLocks noChangeAspect="1"/>
          </p:cNvGraphicFramePr>
          <p:nvPr/>
        </p:nvGraphicFramePr>
        <p:xfrm>
          <a:off x="103188" y="-531813"/>
          <a:ext cx="8964612" cy="5014913"/>
        </p:xfrm>
        <a:graphic>
          <a:graphicData uri="http://schemas.openxmlformats.org/presentationml/2006/ole">
            <mc:AlternateContent xmlns:mc="http://schemas.openxmlformats.org/markup-compatibility/2006">
              <mc:Choice xmlns:v="urn:schemas-microsoft-com:vml" Requires="v">
                <p:oleObj spid="_x0000_s2078737" name="Gráfico" r:id="rId5" imgW="8334451" imgH="4676851" progId="MSGraph.Chart.8">
                  <p:embed followColorScheme="full"/>
                </p:oleObj>
              </mc:Choice>
              <mc:Fallback>
                <p:oleObj name="Gráfico" r:id="rId5" imgW="8334451" imgH="4676851" progId="MSGraph.Chart.8">
                  <p:embed followColorScheme="full"/>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188" y="-531813"/>
                        <a:ext cx="8964612" cy="5014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8722" name="Rectangle 2"/>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
        <p:nvSpPr>
          <p:cNvPr id="2078723" name="Rectangle 3"/>
          <p:cNvSpPr>
            <a:spLocks noChangeArrowheads="1"/>
          </p:cNvSpPr>
          <p:nvPr/>
        </p:nvSpPr>
        <p:spPr bwMode="auto">
          <a:xfrm>
            <a:off x="609600" y="609600"/>
            <a:ext cx="6934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defRPr sz="2400">
                <a:solidFill>
                  <a:schemeClr val="tx1"/>
                </a:solidFill>
                <a:latin typeface="Times New Roman" pitchFamily="18" charset="0"/>
              </a:defRPr>
            </a:lvl1pPr>
            <a:lvl2pPr algn="l">
              <a:defRPr sz="2400">
                <a:solidFill>
                  <a:schemeClr val="tx1"/>
                </a:solidFill>
                <a:latin typeface="Times New Roman" pitchFamily="18" charset="0"/>
              </a:defRPr>
            </a:lvl2pPr>
            <a:lvl3pPr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marL="457200" eaLnBrk="0" fontAlgn="base" hangingPunct="0">
              <a:spcBef>
                <a:spcPct val="0"/>
              </a:spcBef>
              <a:spcAft>
                <a:spcPct val="0"/>
              </a:spcAft>
              <a:defRPr sz="2400">
                <a:solidFill>
                  <a:schemeClr val="tx1"/>
                </a:solidFill>
                <a:latin typeface="Times New Roman" pitchFamily="18" charset="0"/>
              </a:defRPr>
            </a:lvl6pPr>
            <a:lvl7pPr marL="914400" eaLnBrk="0" fontAlgn="base" hangingPunct="0">
              <a:spcBef>
                <a:spcPct val="0"/>
              </a:spcBef>
              <a:spcAft>
                <a:spcPct val="0"/>
              </a:spcAft>
              <a:defRPr sz="2400">
                <a:solidFill>
                  <a:schemeClr val="tx1"/>
                </a:solidFill>
                <a:latin typeface="Times New Roman" pitchFamily="18" charset="0"/>
              </a:defRPr>
            </a:lvl7pPr>
            <a:lvl8pPr marL="1371600" eaLnBrk="0" fontAlgn="base" hangingPunct="0">
              <a:spcBef>
                <a:spcPct val="0"/>
              </a:spcBef>
              <a:spcAft>
                <a:spcPct val="0"/>
              </a:spcAft>
              <a:defRPr sz="2400">
                <a:solidFill>
                  <a:schemeClr val="tx1"/>
                </a:solidFill>
                <a:latin typeface="Times New Roman" pitchFamily="18" charset="0"/>
              </a:defRPr>
            </a:lvl8pPr>
            <a:lvl9pPr marL="1828800" eaLnBrk="0" fontAlgn="base" hangingPunct="0">
              <a:spcBef>
                <a:spcPct val="0"/>
              </a:spcBef>
              <a:spcAft>
                <a:spcPct val="0"/>
              </a:spcAft>
              <a:defRPr sz="2400">
                <a:solidFill>
                  <a:schemeClr val="tx1"/>
                </a:solidFill>
                <a:latin typeface="Times New Roman" pitchFamily="18" charset="0"/>
              </a:defRPr>
            </a:lvl9pPr>
          </a:lstStyle>
          <a:p>
            <a:pPr eaLnBrk="1" hangingPunct="1"/>
            <a:r>
              <a:rPr lang="es-ES" altLang="es-CL" sz="1600" b="1">
                <a:solidFill>
                  <a:srgbClr val="FF9900"/>
                </a:solidFill>
                <a:latin typeface="Arial Narrow" pitchFamily="34" charset="0"/>
              </a:rPr>
              <a:t>RECOMENDACIONES PARA MEJORAR SERVICIO A LA COMUNIDAD</a:t>
            </a:r>
          </a:p>
        </p:txBody>
      </p:sp>
      <p:sp>
        <p:nvSpPr>
          <p:cNvPr id="2078724" name="Rectangle 4"/>
          <p:cNvSpPr>
            <a:spLocks noChangeArrowheads="1"/>
          </p:cNvSpPr>
          <p:nvPr/>
        </p:nvSpPr>
        <p:spPr bwMode="auto">
          <a:xfrm>
            <a:off x="609600" y="914400"/>
            <a:ext cx="822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itchFamily="18" charset="0"/>
              </a:defRPr>
            </a:lvl1pPr>
            <a:lvl2pPr marL="671513" indent="-287338" algn="l">
              <a:defRPr sz="2400">
                <a:solidFill>
                  <a:schemeClr val="tx1"/>
                </a:solidFill>
                <a:latin typeface="Times New Roman" pitchFamily="18" charset="0"/>
              </a:defRPr>
            </a:lvl2pPr>
            <a:lvl3pPr marL="1144588" indent="-282575" algn="l">
              <a:defRPr sz="2400">
                <a:solidFill>
                  <a:schemeClr val="tx1"/>
                </a:solidFill>
                <a:latin typeface="Times New Roman" pitchFamily="18" charset="0"/>
              </a:defRPr>
            </a:lvl3pPr>
            <a:lvl4pPr marL="1617663" indent="-282575" algn="l">
              <a:defRPr sz="2400">
                <a:solidFill>
                  <a:schemeClr val="tx1"/>
                </a:solidFill>
                <a:latin typeface="Times New Roman" pitchFamily="18" charset="0"/>
              </a:defRPr>
            </a:lvl4pPr>
            <a:lvl5pPr marL="2090738" indent="-282575" algn="l">
              <a:defRPr sz="2400">
                <a:solidFill>
                  <a:schemeClr val="tx1"/>
                </a:solidFill>
                <a:latin typeface="Times New Roman" pitchFamily="18" charset="0"/>
              </a:defRPr>
            </a:lvl5pPr>
            <a:lvl6pPr marL="2547938" indent="-282575" eaLnBrk="0" fontAlgn="base" hangingPunct="0">
              <a:spcBef>
                <a:spcPct val="0"/>
              </a:spcBef>
              <a:spcAft>
                <a:spcPct val="0"/>
              </a:spcAft>
              <a:defRPr sz="2400">
                <a:solidFill>
                  <a:schemeClr val="tx1"/>
                </a:solidFill>
                <a:latin typeface="Times New Roman" pitchFamily="18" charset="0"/>
              </a:defRPr>
            </a:lvl6pPr>
            <a:lvl7pPr marL="3005138" indent="-282575" eaLnBrk="0" fontAlgn="base" hangingPunct="0">
              <a:spcBef>
                <a:spcPct val="0"/>
              </a:spcBef>
              <a:spcAft>
                <a:spcPct val="0"/>
              </a:spcAft>
              <a:defRPr sz="2400">
                <a:solidFill>
                  <a:schemeClr val="tx1"/>
                </a:solidFill>
                <a:latin typeface="Times New Roman" pitchFamily="18" charset="0"/>
              </a:defRPr>
            </a:lvl7pPr>
            <a:lvl8pPr marL="3462338" indent="-282575" eaLnBrk="0" fontAlgn="base" hangingPunct="0">
              <a:spcBef>
                <a:spcPct val="0"/>
              </a:spcBef>
              <a:spcAft>
                <a:spcPct val="0"/>
              </a:spcAft>
              <a:defRPr sz="2400">
                <a:solidFill>
                  <a:schemeClr val="tx1"/>
                </a:solidFill>
                <a:latin typeface="Times New Roman" pitchFamily="18" charset="0"/>
              </a:defRPr>
            </a:lvl8pPr>
            <a:lvl9pPr marL="3919538" indent="-282575"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s-ES_tradnl" altLang="es-CL" sz="1400">
                <a:solidFill>
                  <a:srgbClr val="000099"/>
                </a:solidFill>
                <a:latin typeface="Arial Narrow" pitchFamily="34" charset="0"/>
              </a:rPr>
              <a:t>¿Qué piensa que debe hacer Carabineros para mejorar el servicio a la comunidad? Según GSE, Sexo y Tramo Etareo</a:t>
            </a:r>
            <a:endParaRPr lang="es-ES" altLang="es-CL" sz="1400">
              <a:solidFill>
                <a:srgbClr val="000099"/>
              </a:solidFill>
              <a:latin typeface="Arial Narrow" pitchFamily="34" charset="0"/>
            </a:endParaRPr>
          </a:p>
        </p:txBody>
      </p:sp>
      <p:sp>
        <p:nvSpPr>
          <p:cNvPr id="2078730" name="Text Box 10"/>
          <p:cNvSpPr txBox="1">
            <a:spLocks noChangeArrowheads="1"/>
          </p:cNvSpPr>
          <p:nvPr/>
        </p:nvSpPr>
        <p:spPr bwMode="auto">
          <a:xfrm>
            <a:off x="4114800" y="14478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GSE</a:t>
            </a:r>
          </a:p>
        </p:txBody>
      </p:sp>
      <p:sp>
        <p:nvSpPr>
          <p:cNvPr id="2078731" name="Text Box 11"/>
          <p:cNvSpPr txBox="1">
            <a:spLocks noChangeArrowheads="1"/>
          </p:cNvSpPr>
          <p:nvPr/>
        </p:nvSpPr>
        <p:spPr bwMode="auto">
          <a:xfrm>
            <a:off x="1600200" y="3644900"/>
            <a:ext cx="9906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SEXO</a:t>
            </a:r>
          </a:p>
        </p:txBody>
      </p:sp>
      <p:sp>
        <p:nvSpPr>
          <p:cNvPr id="2078732" name="Text Box 12"/>
          <p:cNvSpPr txBox="1">
            <a:spLocks noChangeArrowheads="1"/>
          </p:cNvSpPr>
          <p:nvPr/>
        </p:nvSpPr>
        <p:spPr bwMode="auto">
          <a:xfrm>
            <a:off x="5410200" y="3644900"/>
            <a:ext cx="1524000" cy="284163"/>
          </a:xfrm>
          <a:prstGeom prst="rect">
            <a:avLst/>
          </a:prstGeom>
          <a:noFill/>
          <a:ln w="9525">
            <a:solidFill>
              <a:srgbClr val="FF9933"/>
            </a:solidFill>
            <a:miter lim="800000"/>
            <a:headEnd/>
            <a:tailEnd/>
          </a:ln>
          <a:effectLst/>
          <a:extLst>
            <a:ext uri="{909E8E84-426E-40DD-AFC4-6F175D3DCCD1}">
              <a14:hiddenFill xmlns:a14="http://schemas.microsoft.com/office/drawing/2010/main">
                <a:solidFill>
                  <a:srgbClr val="FF99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CL" b="1">
                <a:solidFill>
                  <a:srgbClr val="FF9933"/>
                </a:solidFill>
                <a:latin typeface="Arial" charset="0"/>
              </a:rPr>
              <a:t>TRAMO ETAREO</a:t>
            </a:r>
          </a:p>
        </p:txBody>
      </p:sp>
      <p:sp>
        <p:nvSpPr>
          <p:cNvPr id="2078733" name="Rectangle 13"/>
          <p:cNvSpPr>
            <a:spLocks noChangeArrowheads="1"/>
          </p:cNvSpPr>
          <p:nvPr/>
        </p:nvSpPr>
        <p:spPr bwMode="auto">
          <a:xfrm>
            <a:off x="7235825" y="6381750"/>
            <a:ext cx="1433513"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s-ES" altLang="es-CL">
                <a:solidFill>
                  <a:srgbClr val="000099"/>
                </a:solidFill>
              </a:rPr>
              <a:t>Principales Menciones</a:t>
            </a:r>
            <a:endParaRPr lang="es-ES_tradnl" altLang="es-CL">
              <a:solidFill>
                <a:srgbClr val="000099"/>
              </a:solidFill>
            </a:endParaRPr>
          </a:p>
        </p:txBody>
      </p:sp>
    </p:spTree>
  </p:cSld>
  <p:clrMapOvr>
    <a:masterClrMapping/>
  </p:clrMapOvr>
  <p:transition>
    <p:rand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1250" name="Rectangle 2"/>
          <p:cNvSpPr>
            <a:spLocks noGrp="1" noChangeArrowheads="1"/>
          </p:cNvSpPr>
          <p:nvPr>
            <p:ph type="body" sz="half" idx="1"/>
          </p:nvPr>
        </p:nvSpPr>
        <p:spPr>
          <a:xfrm>
            <a:off x="900113" y="909638"/>
            <a:ext cx="7559675" cy="5399087"/>
          </a:xfrm>
        </p:spPr>
        <p:txBody>
          <a:bodyPr/>
          <a:lstStyle/>
          <a:p>
            <a:pPr algn="just">
              <a:buFont typeface="Wingdings" pitchFamily="2" charset="2"/>
              <a:buNone/>
            </a:pPr>
            <a:r>
              <a:rPr lang="es-CL" altLang="es-CL" sz="1600" b="1" u="sng"/>
              <a:t>Evaluación de la Calidad del Servicio Policial de Carabineros</a:t>
            </a:r>
          </a:p>
          <a:p>
            <a:pPr algn="just">
              <a:buFont typeface="Wingdings" pitchFamily="2" charset="2"/>
              <a:buNone/>
            </a:pPr>
            <a:endParaRPr lang="es-CL" altLang="es-CL" sz="1600" b="1" u="sng"/>
          </a:p>
          <a:p>
            <a:pPr algn="just">
              <a:buClr>
                <a:srgbClr val="333399"/>
              </a:buClr>
            </a:pPr>
            <a:r>
              <a:rPr lang="es-CL" altLang="es-CL" sz="1600"/>
              <a:t>Carabineros sigue siendo la institución mejor evaluada en materia de seguridad ciudadana. Además, mantiene su evaluación neta de 40%, igual cifra observada en el año 2003.</a:t>
            </a:r>
          </a:p>
          <a:p>
            <a:pPr algn="just">
              <a:buClr>
                <a:srgbClr val="333399"/>
              </a:buClr>
            </a:pPr>
            <a:r>
              <a:rPr lang="es-CL" altLang="es-CL" sz="1600"/>
              <a:t>Respecto de las otras instituciones, las que mejoran su evaluación son Policía de investigaciones, Gendarmería, Prensa, Ministerio del Interior, Congreso nacional y Ministerio de Justicia. Mientras que las que bajan su evaluación son SERNAM, SENAME, Paz Ciudadana y Tribunales de Justicia.</a:t>
            </a:r>
          </a:p>
          <a:p>
            <a:pPr algn="just">
              <a:buClr>
                <a:srgbClr val="333399"/>
              </a:buClr>
            </a:pPr>
            <a:r>
              <a:rPr lang="es-CL" altLang="es-CL" sz="1600"/>
              <a:t>La buena evaluación de Carabineros de Chile es general en la población, no existiendo diferencias entre aquellos que han estado en contacto con Carabineros en el último año y los que no han mantenido algún tipo de contacto.</a:t>
            </a:r>
          </a:p>
          <a:p>
            <a:pPr algn="just">
              <a:buClr>
                <a:srgbClr val="333399"/>
              </a:buClr>
            </a:pPr>
            <a:r>
              <a:rPr lang="es-CL" altLang="es-CL" sz="1600"/>
              <a:t>Considerando 29 diferentes aspectos del servicio policial es posible observar una buena evaluación general en la mayoría, destacando el accionar en accidentes de tránsito y en catástrofes naturales. </a:t>
            </a:r>
          </a:p>
          <a:p>
            <a:pPr algn="just">
              <a:buClr>
                <a:srgbClr val="333399"/>
              </a:buClr>
            </a:pPr>
            <a:r>
              <a:rPr lang="es-CL" altLang="es-CL" sz="1600"/>
              <a:t>Los dos aspectos de más baja evaluación son la realización de audiencia públicas y el trabajo con los grupos de vecinos, pero justamente estos dos aspectos tienen un mejora significativa respecto de la evaluación recibida el año 2003. Otro ítem que también mejoró su evaluación respecto del 2003 fue la detención de delincuentes.</a:t>
            </a:r>
          </a:p>
        </p:txBody>
      </p:sp>
      <p:sp>
        <p:nvSpPr>
          <p:cNvPr id="2101252" name="Rectangle 4"/>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2274" name="Rectangle 2"/>
          <p:cNvSpPr>
            <a:spLocks noGrp="1" noChangeArrowheads="1"/>
          </p:cNvSpPr>
          <p:nvPr>
            <p:ph type="body" sz="half" idx="1"/>
          </p:nvPr>
        </p:nvSpPr>
        <p:spPr>
          <a:xfrm>
            <a:off x="973138" y="766763"/>
            <a:ext cx="7559675" cy="5399087"/>
          </a:xfrm>
        </p:spPr>
        <p:txBody>
          <a:bodyPr/>
          <a:lstStyle/>
          <a:p>
            <a:pPr algn="just">
              <a:lnSpc>
                <a:spcPct val="90000"/>
              </a:lnSpc>
              <a:buFont typeface="Wingdings" pitchFamily="2" charset="2"/>
              <a:buNone/>
            </a:pPr>
            <a:endParaRPr lang="es-CL" altLang="es-CL" sz="1600" b="1" u="sng"/>
          </a:p>
          <a:p>
            <a:pPr algn="just">
              <a:lnSpc>
                <a:spcPct val="90000"/>
              </a:lnSpc>
              <a:buClr>
                <a:srgbClr val="333399"/>
              </a:buClr>
            </a:pPr>
            <a:r>
              <a:rPr lang="es-CL" altLang="es-CL" sz="1600"/>
              <a:t>En términos generales la población mantiene el mismo nivel de contacto con Carabineros que el año 2003, pero el tipo de contacto ha variado en el tiempo: hoy son más los contactos en la calle y lugares públicos que a través del Fono 133 o en Cuarteles.</a:t>
            </a:r>
          </a:p>
          <a:p>
            <a:pPr algn="just">
              <a:lnSpc>
                <a:spcPct val="90000"/>
              </a:lnSpc>
              <a:buClr>
                <a:srgbClr val="333399"/>
              </a:buClr>
            </a:pPr>
            <a:r>
              <a:rPr lang="es-CL" altLang="es-CL" sz="1600"/>
              <a:t>Además ha cambiado el motivo de los contactos: El año 2003 el principal motivo de contacto era solicitar el envío de personal de Carabineros y en segundo lugar pedir consejo e información. En el año 2005 pedir consejo e información pasa al primer lugar y aumenta significativamente. Solicitar personal baja al segundo lugar y disminuye en 11 puntos porcentuales.</a:t>
            </a:r>
          </a:p>
          <a:p>
            <a:pPr algn="just">
              <a:lnSpc>
                <a:spcPct val="90000"/>
              </a:lnSpc>
              <a:buClr>
                <a:srgbClr val="333399"/>
              </a:buClr>
            </a:pPr>
            <a:endParaRPr lang="es-CL" altLang="es-CL" sz="1600"/>
          </a:p>
          <a:p>
            <a:pPr algn="just">
              <a:lnSpc>
                <a:spcPct val="90000"/>
              </a:lnSpc>
              <a:buClr>
                <a:srgbClr val="333399"/>
              </a:buClr>
              <a:buFont typeface="Wingdings" pitchFamily="2" charset="2"/>
              <a:buNone/>
            </a:pPr>
            <a:r>
              <a:rPr lang="es-CL" altLang="es-CL" sz="1600" b="1" u="sng"/>
              <a:t>Contacto personal con Carabineros</a:t>
            </a:r>
            <a:endParaRPr lang="es-CL" altLang="es-CL" sz="1600"/>
          </a:p>
          <a:p>
            <a:pPr algn="just">
              <a:lnSpc>
                <a:spcPct val="90000"/>
              </a:lnSpc>
              <a:buClr>
                <a:srgbClr val="333399"/>
              </a:buClr>
            </a:pPr>
            <a:r>
              <a:rPr lang="es-CL" altLang="es-CL" sz="1600"/>
              <a:t>Sobre la atención de Carabineros en contactos cara a cara la evaluación baja respecto del año 2003, específicamente en las prefecturas Cordillera, Sur, San Antonio y Talcahuano. Mientras que la Prefectura Oriente mejora la evaluación general.</a:t>
            </a:r>
          </a:p>
          <a:p>
            <a:pPr algn="just">
              <a:lnSpc>
                <a:spcPct val="90000"/>
              </a:lnSpc>
              <a:buClr>
                <a:srgbClr val="333399"/>
              </a:buClr>
            </a:pPr>
            <a:r>
              <a:rPr lang="es-CL" altLang="es-CL" sz="1600"/>
              <a:t>Lo mejor evaluado respecto de Carabineros es su presentación personal, aunque la evaluación neta es menor que la obtenida el año 2003. Otros aspectos que también bajan respecto del año 2003 son el profesionalismo, conocimiento de tareas y funciones, y trato personal</a:t>
            </a:r>
          </a:p>
          <a:p>
            <a:pPr algn="just">
              <a:lnSpc>
                <a:spcPct val="90000"/>
              </a:lnSpc>
              <a:buClr>
                <a:srgbClr val="333399"/>
              </a:buClr>
            </a:pPr>
            <a:r>
              <a:rPr lang="es-CL" altLang="es-CL" sz="1600"/>
              <a:t>Pero, Carabineros de Chile respecto del año 2003 es mejor evaluado en la entrega de información.</a:t>
            </a:r>
          </a:p>
        </p:txBody>
      </p:sp>
      <p:sp>
        <p:nvSpPr>
          <p:cNvPr id="2102275"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3298" name="Rectangle 2"/>
          <p:cNvSpPr>
            <a:spLocks noGrp="1" noChangeArrowheads="1"/>
          </p:cNvSpPr>
          <p:nvPr>
            <p:ph type="body" sz="half" idx="1"/>
          </p:nvPr>
        </p:nvSpPr>
        <p:spPr>
          <a:xfrm>
            <a:off x="900113" y="1052513"/>
            <a:ext cx="7559675" cy="4537075"/>
          </a:xfrm>
        </p:spPr>
        <p:txBody>
          <a:bodyPr/>
          <a:lstStyle/>
          <a:p>
            <a:pPr algn="just">
              <a:buClr>
                <a:srgbClr val="333399"/>
              </a:buClr>
              <a:buFont typeface="Wingdings" pitchFamily="2" charset="2"/>
              <a:buNone/>
            </a:pPr>
            <a:r>
              <a:rPr lang="es-CL" altLang="es-CL" sz="1600" b="1" u="sng"/>
              <a:t>Atención en Cuarteles de Carabineros</a:t>
            </a:r>
            <a:endParaRPr lang="es-CL" altLang="es-CL" sz="1600"/>
          </a:p>
          <a:p>
            <a:pPr algn="just">
              <a:buClr>
                <a:srgbClr val="333399"/>
              </a:buClr>
            </a:pPr>
            <a:r>
              <a:rPr lang="es-CL" altLang="es-CL" sz="1600"/>
              <a:t>Los aspectos relacionados con la atención en cuarteles reciben en general una muy buena evaluación. Se destacan como los mejores la tramitación de documentos, las buenas condiciones ambientales, el trato amable y cordial y la facilidad de acceso al cuartel.</a:t>
            </a:r>
            <a:endParaRPr lang="es-CL" altLang="es-CL" sz="1600" b="1" u="sng"/>
          </a:p>
          <a:p>
            <a:pPr algn="just">
              <a:buClr>
                <a:srgbClr val="333399"/>
              </a:buClr>
            </a:pPr>
            <a:r>
              <a:rPr lang="es-CL" altLang="es-CL" sz="1600"/>
              <a:t>Si se observan los resultados por Prefectura se detecta un foco de problemas con la Prefectura RM Norte donde la atención de rapidez y sin esperas, el interés en el problema y el tiempo adecuado destinado al problema registran evaluaciones netas negativas.</a:t>
            </a:r>
          </a:p>
          <a:p>
            <a:pPr algn="just">
              <a:buClr>
                <a:srgbClr val="333399"/>
              </a:buClr>
            </a:pPr>
            <a:r>
              <a:rPr lang="es-CL" altLang="es-CL" sz="1600"/>
              <a:t>En términos de grupos poblacionales, los más críticos frente al servicio de Carabineros de Chile son las personas de 61 años y más.</a:t>
            </a:r>
          </a:p>
          <a:p>
            <a:pPr algn="just">
              <a:buClr>
                <a:srgbClr val="333399"/>
              </a:buClr>
            </a:pPr>
            <a:r>
              <a:rPr lang="es-CL" altLang="es-CL" sz="1600"/>
              <a:t>Para los consultados, tanto los que han acudido a un cuartel como los que no lo han hecho en el último año, lo más importante al estar enfrentados a esta situación es recibir una atención rápida, sin esperas. </a:t>
            </a:r>
          </a:p>
          <a:p>
            <a:pPr algn="just">
              <a:buClr>
                <a:srgbClr val="333399"/>
              </a:buClr>
            </a:pPr>
            <a:r>
              <a:rPr lang="es-CL" altLang="es-CL" sz="1600"/>
              <a:t>Un segundo lugar lo ocupan los aspectos emocionales ligados a la atención: trato amable y cordial, garantía de intimidad y confidencialidad y que se muestre interés por su problema.</a:t>
            </a:r>
          </a:p>
        </p:txBody>
      </p:sp>
      <p:sp>
        <p:nvSpPr>
          <p:cNvPr id="2103299"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4322" name="Rectangle 2"/>
          <p:cNvSpPr>
            <a:spLocks noGrp="1" noChangeArrowheads="1"/>
          </p:cNvSpPr>
          <p:nvPr>
            <p:ph type="body" sz="half" idx="1"/>
          </p:nvPr>
        </p:nvSpPr>
        <p:spPr>
          <a:xfrm>
            <a:off x="900113" y="1125538"/>
            <a:ext cx="7559675" cy="5399087"/>
          </a:xfrm>
        </p:spPr>
        <p:txBody>
          <a:bodyPr/>
          <a:lstStyle/>
          <a:p>
            <a:pPr algn="just">
              <a:lnSpc>
                <a:spcPct val="90000"/>
              </a:lnSpc>
              <a:buClr>
                <a:srgbClr val="333399"/>
              </a:buClr>
              <a:buFont typeface="Wingdings" pitchFamily="2" charset="2"/>
              <a:buNone/>
            </a:pPr>
            <a:r>
              <a:rPr lang="es-CL" altLang="es-CL" sz="1600" b="1" u="sng"/>
              <a:t>Fono 133</a:t>
            </a:r>
            <a:endParaRPr lang="es-CL" altLang="es-CL" sz="1600"/>
          </a:p>
          <a:p>
            <a:pPr algn="just">
              <a:lnSpc>
                <a:spcPct val="90000"/>
              </a:lnSpc>
              <a:buClr>
                <a:srgbClr val="333399"/>
              </a:buClr>
            </a:pPr>
            <a:r>
              <a:rPr lang="es-CL" altLang="es-CL" sz="1600"/>
              <a:t>La atención del Fono 133, en opinión de quienes han llamado en el último año, es evaluada en general como muy buena en todos los ítems consultados. Destacan como los mejores evaluados la preparación profesional del personal, la claridad del lenguaje en las explicaciones y la intimidad y confidencialidad de la llamada.</a:t>
            </a:r>
          </a:p>
          <a:p>
            <a:pPr algn="just">
              <a:lnSpc>
                <a:spcPct val="90000"/>
              </a:lnSpc>
              <a:buClr>
                <a:srgbClr val="333399"/>
              </a:buClr>
            </a:pPr>
            <a:r>
              <a:rPr lang="es-CL" altLang="es-CL" sz="1600"/>
              <a:t>Que el aspecto mejor evaluado sea la preparación profesional del persona es muy relevante en cuanto los mismos consultados declaran que los tres aspectos de mayor importancia al llamar Fono 133 son el tiempo dedicado a la llamada, la preparación profesional del personal y el asesoramiento ante una urgencia.</a:t>
            </a:r>
          </a:p>
          <a:p>
            <a:pPr algn="just">
              <a:lnSpc>
                <a:spcPct val="90000"/>
              </a:lnSpc>
              <a:buClr>
                <a:srgbClr val="333399"/>
              </a:buClr>
            </a:pPr>
            <a:r>
              <a:rPr lang="es-CL" altLang="es-CL" sz="1600"/>
              <a:t>Por otra parte, si se considera a la totalidad de los consultados – tanto los que han llamado al Fono 133 en el último año como los que no lo han hecho – se relevan como temas importantes en una posible consulta al 133 que atiendan el llamado con rapidez, que muestre interés en su problema y que el personal esté bien preparado. </a:t>
            </a:r>
          </a:p>
          <a:p>
            <a:pPr algn="just">
              <a:lnSpc>
                <a:spcPct val="90000"/>
              </a:lnSpc>
              <a:buClr>
                <a:srgbClr val="333399"/>
              </a:buClr>
            </a:pPr>
            <a:r>
              <a:rPr lang="es-CL" altLang="es-CL" sz="1600"/>
              <a:t>En otras palabras, la atención del Fono 133 en términos generales ha alcanzado un alto estándar general y en especial en uno de los temas críticos para la población: la preparación profesional del personal que atiende el llamado.</a:t>
            </a:r>
          </a:p>
          <a:p>
            <a:pPr algn="just">
              <a:lnSpc>
                <a:spcPct val="90000"/>
              </a:lnSpc>
              <a:buClr>
                <a:srgbClr val="333399"/>
              </a:buClr>
            </a:pPr>
            <a:r>
              <a:rPr lang="es-CL" altLang="es-CL" sz="1600"/>
              <a:t>El aspecto a trabajar a futuro corresponde a la correcta derivación de números telefónicos. Pero que no resulta un tema crítico en cuanto importancia.</a:t>
            </a:r>
          </a:p>
        </p:txBody>
      </p:sp>
      <p:sp>
        <p:nvSpPr>
          <p:cNvPr id="2104323"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1490" name="Rectangle 2"/>
          <p:cNvSpPr>
            <a:spLocks noGrp="1" noChangeArrowheads="1"/>
          </p:cNvSpPr>
          <p:nvPr>
            <p:ph type="body" sz="half" idx="1"/>
          </p:nvPr>
        </p:nvSpPr>
        <p:spPr>
          <a:xfrm>
            <a:off x="900113" y="1125538"/>
            <a:ext cx="7559675" cy="5399087"/>
          </a:xfrm>
        </p:spPr>
        <p:txBody>
          <a:bodyPr/>
          <a:lstStyle/>
          <a:p>
            <a:pPr algn="just">
              <a:buClr>
                <a:srgbClr val="333399"/>
              </a:buClr>
            </a:pPr>
            <a:r>
              <a:rPr lang="es-CL" altLang="es-CL" sz="1600"/>
              <a:t>Es necesario indicar que la rapidez en la atención del llamado no apareció como aspecto crítico en cuanto importancia entre los que habían llamado el Fono 133 en el último año, pero sí en la población en general. Esto indica que la rapidez, sin bien es un tema crucial – variable higiénica del servicio- se encuentra resuelto en el Fono 133, lo que es experimentado por quienes han llamado. </a:t>
            </a:r>
          </a:p>
          <a:p>
            <a:pPr algn="just">
              <a:buClr>
                <a:srgbClr val="333399"/>
              </a:buClr>
            </a:pPr>
            <a:r>
              <a:rPr lang="es-CL" altLang="es-CL" sz="1600"/>
              <a:t>En las llamadas que originaron el envío de Carabineros a un punto, las personas mayoritariamente indicaron que el tiempo de espera por el arribo se éstos fue adecuado, mejorando significativamente respecto del año 2003.</a:t>
            </a:r>
          </a:p>
          <a:p>
            <a:pPr algn="just">
              <a:buClr>
                <a:srgbClr val="333399"/>
              </a:buClr>
            </a:pPr>
            <a:r>
              <a:rPr lang="es-CL" altLang="es-CL" sz="1600"/>
              <a:t>Pero, en la Prefectura RM Norte nuevamente se observan problemas, pero esta vez la situación es más crítica que en la atención en Cuarteles: Los que han llamado al Fono 133 evalúan negativamente todos los aspectos consultados al respecto.</a:t>
            </a:r>
          </a:p>
          <a:p>
            <a:pPr algn="just">
              <a:buClr>
                <a:srgbClr val="333399"/>
              </a:buClr>
              <a:buFont typeface="Wingdings" pitchFamily="2" charset="2"/>
              <a:buNone/>
            </a:pPr>
            <a:r>
              <a:rPr lang="es-CL" altLang="es-CL" sz="1800" b="1" u="sng"/>
              <a:t>Recomendaciones de la población</a:t>
            </a:r>
            <a:endParaRPr lang="es-CL" altLang="es-CL" sz="1800"/>
          </a:p>
          <a:p>
            <a:pPr algn="just">
              <a:buClr>
                <a:srgbClr val="333399"/>
              </a:buClr>
            </a:pPr>
            <a:r>
              <a:rPr lang="es-CL" altLang="es-CL" sz="1600"/>
              <a:t>Los consultados recomiendan a la Institución que para mejorar el servicio a la comunidad se concentren en responder más rápido a los pedidos de ayuda, sugerencia que lidera las menciones en la misma magnitud que el año 2003. Y en segundo lugar se recomienda que sean más eficientes en la vigilancia policial. Pero, aquí resulta interesante que esta sugerencia el año 2003 también ocupaba el segundo lugar pero con significativamente más menciones que en el 2005.</a:t>
            </a:r>
          </a:p>
        </p:txBody>
      </p:sp>
      <p:sp>
        <p:nvSpPr>
          <p:cNvPr id="2111491" name="Rectangle 3"/>
          <p:cNvSpPr>
            <a:spLocks noChangeArrowheads="1"/>
          </p:cNvSpPr>
          <p:nvPr/>
        </p:nvSpPr>
        <p:spPr bwMode="auto">
          <a:xfrm>
            <a:off x="762000" y="258763"/>
            <a:ext cx="2606675" cy="274637"/>
          </a:xfrm>
          <a:prstGeom prst="rect">
            <a:avLst/>
          </a:prstGeom>
          <a:noFill/>
          <a:ln>
            <a:noFill/>
          </a:ln>
          <a:effectLst/>
          <a:extLst>
            <a:ext uri="{909E8E84-426E-40DD-AFC4-6F175D3DCCD1}">
              <a14:hiddenFill xmlns:a14="http://schemas.microsoft.com/office/drawing/2010/main">
                <a:solidFill>
                  <a:srgbClr val="666699">
                    <a:alpha val="42999"/>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0" lang="es-ES_tradnl" altLang="es-CL"/>
              <a:t>Calidad del Servicio Policial de Carabineros</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Presentación9">
  <a:themeElements>
    <a:clrScheme name="Presentación9 8">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0033CC"/>
      </a:hlink>
      <a:folHlink>
        <a:srgbClr val="336699"/>
      </a:folHlink>
    </a:clrScheme>
    <a:fontScheme name="Presentación9">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a:noFill/>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s-ES_tradnl" altLang="es-CL" sz="1200" b="0" i="0" u="none" strike="noStrike" cap="none" normalizeH="0" baseline="0" smtClean="0">
            <a:ln>
              <a:noFill/>
            </a:ln>
            <a:solidFill>
              <a:srgbClr val="333399"/>
            </a:solidFill>
            <a:effectLst/>
            <a:latin typeface="Arial Narrow" pitchFamily="34" charset="0"/>
          </a:defRPr>
        </a:defPPr>
      </a:lstStyle>
    </a:spDef>
    <a:lnDef>
      <a:spPr bwMode="auto">
        <a:xfrm>
          <a:off x="0" y="0"/>
          <a:ext cx="1" cy="1"/>
        </a:xfrm>
        <a:custGeom>
          <a:avLst/>
          <a:gdLst/>
          <a:ahLst/>
          <a:cxnLst/>
          <a:rect l="0" t="0" r="0" b="0"/>
          <a:pathLst/>
        </a:custGeom>
        <a:solidFill>
          <a:schemeClr val="bg1"/>
        </a:solidFill>
        <a:ln>
          <a:noFill/>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s-ES_tradnl" altLang="es-CL" sz="1200" b="0" i="0" u="none" strike="noStrike" cap="none" normalizeH="0" baseline="0" smtClean="0">
            <a:ln>
              <a:noFill/>
            </a:ln>
            <a:solidFill>
              <a:srgbClr val="333399"/>
            </a:solidFill>
            <a:effectLst/>
            <a:latin typeface="Arial Narrow" pitchFamily="34" charset="0"/>
          </a:defRPr>
        </a:defPPr>
      </a:lstStyle>
    </a:lnDef>
  </a:objectDefaults>
  <a:extraClrSchemeLst>
    <a:extraClrScheme>
      <a:clrScheme name="Presentación9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Presentación9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Presentación9 3">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Presentación9 4">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Presentación9 5">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Presentación9 6">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Presentación9 7">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0033CC"/>
        </a:hlink>
        <a:folHlink>
          <a:srgbClr val="808000"/>
        </a:folHlink>
      </a:clrScheme>
      <a:clrMap bg1="lt1" tx1="dk1" bg2="lt2" tx2="dk2" accent1="accent1" accent2="accent2" accent3="accent3" accent4="accent4" accent5="accent5" accent6="accent6" hlink="hlink" folHlink="folHlink"/>
    </a:extraClrScheme>
    <a:extraClrScheme>
      <a:clrScheme name="Presentación9 8">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0033CC"/>
        </a:hlink>
        <a:folHlink>
          <a:srgbClr val="33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C:\Datos\Estudios nuevos\+++ Organización de terreno y otros +++\Presentación.pot</Template>
  <TotalTime>21785</TotalTime>
  <Words>4696</Words>
  <Application>Microsoft Office PowerPoint</Application>
  <PresentationFormat>Presentación en pantalla (4:3)</PresentationFormat>
  <Paragraphs>549</Paragraphs>
  <Slides>80</Slides>
  <Notes>1</Notes>
  <HiddenSlides>0</HiddenSlides>
  <MMClips>0</MMClips>
  <ScaleCrop>false</ScaleCrop>
  <HeadingPairs>
    <vt:vector size="6" baseType="variant">
      <vt:variant>
        <vt:lpstr>Tema</vt:lpstr>
      </vt:variant>
      <vt:variant>
        <vt:i4>1</vt:i4>
      </vt:variant>
      <vt:variant>
        <vt:lpstr>Servidores OLE incrustados</vt:lpstr>
      </vt:variant>
      <vt:variant>
        <vt:i4>2</vt:i4>
      </vt:variant>
      <vt:variant>
        <vt:lpstr>Títulos de diapositiva</vt:lpstr>
      </vt:variant>
      <vt:variant>
        <vt:i4>80</vt:i4>
      </vt:variant>
    </vt:vector>
  </HeadingPairs>
  <TitlesOfParts>
    <vt:vector size="83" baseType="lpstr">
      <vt:lpstr>Presentación9</vt:lpstr>
      <vt:lpstr>Gráfico</vt:lpstr>
      <vt:lpstr>Hoja de cálculo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EVALUACIÓN DE DESEMPEÑO DE CARABINEROS 2003</vt:lpstr>
      <vt:lpstr>EVALUACIÓN DE DESEMPEÑO DE CARABINEROS</vt:lpstr>
      <vt:lpstr>EVALUACIÓN DE DESEMPEÑO DE CARABINEROS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Collect Investigaciones de Mercado S. 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DEL ESTUDIO</dc:title>
  <dc:creator>obpp_new</dc:creator>
  <cp:lastModifiedBy>obpp_new</cp:lastModifiedBy>
  <cp:revision>1695</cp:revision>
  <cp:lastPrinted>2002-10-21T17:15:58Z</cp:lastPrinted>
  <dcterms:created xsi:type="dcterms:W3CDTF">2002-07-01T16:19:59Z</dcterms:created>
  <dcterms:modified xsi:type="dcterms:W3CDTF">2013-11-20T15:48:27Z</dcterms:modified>
</cp:coreProperties>
</file>